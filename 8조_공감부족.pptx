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theme/theme24.xml" ContentType="application/vnd.openxmlformats-officedocument.theme+xml"/>
  <Override PartName="/ppt/slideLayouts/slideLayout25.xml" ContentType="application/vnd.openxmlformats-officedocument.presentationml.slideLayout+xml"/>
  <Override PartName="/ppt/theme/theme25.xml" ContentType="application/vnd.openxmlformats-officedocument.theme+xml"/>
  <Override PartName="/ppt/slideLayouts/slideLayout26.xml" ContentType="application/vnd.openxmlformats-officedocument.presentationml.slideLayout+xml"/>
  <Override PartName="/ppt/theme/theme26.xml" ContentType="application/vnd.openxmlformats-officedocument.theme+xml"/>
  <Override PartName="/ppt/slideLayouts/slideLayout27.xml" ContentType="application/vnd.openxmlformats-officedocument.presentationml.slideLayout+xml"/>
  <Override PartName="/ppt/theme/theme27.xml" ContentType="application/vnd.openxmlformats-officedocument.theme+xml"/>
  <Override PartName="/ppt/slideLayouts/slideLayout28.xml" ContentType="application/vnd.openxmlformats-officedocument.presentationml.slideLayout+xml"/>
  <Override PartName="/ppt/theme/theme28.xml" ContentType="application/vnd.openxmlformats-officedocument.theme+xml"/>
  <Override PartName="/ppt/slideLayouts/slideLayout29.xml" ContentType="application/vnd.openxmlformats-officedocument.presentationml.slideLayout+xml"/>
  <Override PartName="/ppt/theme/theme29.xml" ContentType="application/vnd.openxmlformats-officedocument.theme+xml"/>
  <Override PartName="/ppt/slideLayouts/slideLayout30.xml" ContentType="application/vnd.openxmlformats-officedocument.presentationml.slideLayout+xml"/>
  <Override PartName="/ppt/theme/theme30.xml" ContentType="application/vnd.openxmlformats-officedocument.theme+xml"/>
  <Override PartName="/ppt/theme/theme31.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8" r:id="rId10"/>
    <p:sldMasterId id="2147483670" r:id="rId11"/>
    <p:sldMasterId id="2147483672" r:id="rId12"/>
    <p:sldMasterId id="2147483674" r:id="rId13"/>
    <p:sldMasterId id="2147483676" r:id="rId14"/>
    <p:sldMasterId id="2147483678" r:id="rId15"/>
    <p:sldMasterId id="2147483680" r:id="rId16"/>
    <p:sldMasterId id="2147483682" r:id="rId17"/>
    <p:sldMasterId id="2147483684" r:id="rId18"/>
    <p:sldMasterId id="2147483686" r:id="rId19"/>
    <p:sldMasterId id="2147483688" r:id="rId20"/>
    <p:sldMasterId id="2147483692" r:id="rId21"/>
    <p:sldMasterId id="2147483694" r:id="rId22"/>
    <p:sldMasterId id="2147483696" r:id="rId23"/>
    <p:sldMasterId id="2147483698" r:id="rId24"/>
    <p:sldMasterId id="2147483700" r:id="rId25"/>
    <p:sldMasterId id="2147483702" r:id="rId26"/>
    <p:sldMasterId id="2147483704" r:id="rId27"/>
    <p:sldMasterId id="2147483708" r:id="rId28"/>
    <p:sldMasterId id="2147483710" r:id="rId29"/>
    <p:sldMasterId id="2147483712" r:id="rId30"/>
  </p:sldMasterIdLst>
  <p:notesMasterIdLst>
    <p:notesMasterId r:id="rId67"/>
  </p:notesMasterIdLst>
  <p:sldIdLst>
    <p:sldId id="256" r:id="rId31"/>
    <p:sldId id="258" r:id="rId32"/>
    <p:sldId id="260" r:id="rId33"/>
    <p:sldId id="261" r:id="rId34"/>
    <p:sldId id="298" r:id="rId35"/>
    <p:sldId id="299" r:id="rId36"/>
    <p:sldId id="303" r:id="rId37"/>
    <p:sldId id="302" r:id="rId38"/>
    <p:sldId id="305" r:id="rId39"/>
    <p:sldId id="306" r:id="rId40"/>
    <p:sldId id="304" r:id="rId41"/>
    <p:sldId id="307" r:id="rId42"/>
    <p:sldId id="308" r:id="rId43"/>
    <p:sldId id="309" r:id="rId44"/>
    <p:sldId id="310" r:id="rId45"/>
    <p:sldId id="312" r:id="rId46"/>
    <p:sldId id="313" r:id="rId47"/>
    <p:sldId id="263" r:id="rId48"/>
    <p:sldId id="300" r:id="rId49"/>
    <p:sldId id="321" r:id="rId50"/>
    <p:sldId id="319" r:id="rId51"/>
    <p:sldId id="322" r:id="rId52"/>
    <p:sldId id="314" r:id="rId53"/>
    <p:sldId id="311" r:id="rId54"/>
    <p:sldId id="315" r:id="rId55"/>
    <p:sldId id="316" r:id="rId56"/>
    <p:sldId id="317" r:id="rId57"/>
    <p:sldId id="318" r:id="rId58"/>
    <p:sldId id="323" r:id="rId59"/>
    <p:sldId id="324" r:id="rId60"/>
    <p:sldId id="325" r:id="rId61"/>
    <p:sldId id="327" r:id="rId62"/>
    <p:sldId id="329" r:id="rId63"/>
    <p:sldId id="330" r:id="rId64"/>
    <p:sldId id="265" r:id="rId65"/>
    <p:sldId id="301" r:id="rId66"/>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3" d="100"/>
          <a:sy n="103" d="100"/>
        </p:scale>
        <p:origin x="902" y="77"/>
      </p:cViewPr>
      <p:guideLst/>
    </p:cSldViewPr>
  </p:slideViewPr>
  <p:notesTextViewPr>
    <p:cViewPr>
      <p:scale>
        <a:sx n="1" d="1"/>
        <a:sy n="1" d="1"/>
      </p:scale>
      <p:origin x="0" y="0"/>
    </p:cViewPr>
  </p:notesTextViewPr>
  <p:notesViewPr>
    <p:cSldViewPr snapToGrid="0">
      <p:cViewPr varScale="1">
        <p:scale>
          <a:sx n="62" d="100"/>
          <a:sy n="62" d="100"/>
        </p:scale>
        <p:origin x="3226"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 Target="slides/slide12.xml"/><Relationship Id="rId47" Type="http://schemas.openxmlformats.org/officeDocument/2006/relationships/slide" Target="slides/slide17.xml"/><Relationship Id="rId63" Type="http://schemas.openxmlformats.org/officeDocument/2006/relationships/slide" Target="slides/slide33.xml"/><Relationship Id="rId68"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Master" Target="slideMasters/slideMaster29.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2.xml"/><Relationship Id="rId37" Type="http://schemas.openxmlformats.org/officeDocument/2006/relationships/slide" Target="slides/slide7.xml"/><Relationship Id="rId40" Type="http://schemas.openxmlformats.org/officeDocument/2006/relationships/slide" Target="slides/slide10.xml"/><Relationship Id="rId45" Type="http://schemas.openxmlformats.org/officeDocument/2006/relationships/slide" Target="slides/slide15.xml"/><Relationship Id="rId53" Type="http://schemas.openxmlformats.org/officeDocument/2006/relationships/slide" Target="slides/slide23.xml"/><Relationship Id="rId58" Type="http://schemas.openxmlformats.org/officeDocument/2006/relationships/slide" Target="slides/slide28.xml"/><Relationship Id="rId66" Type="http://schemas.openxmlformats.org/officeDocument/2006/relationships/slide" Target="slides/slide36.xml"/><Relationship Id="rId5" Type="http://schemas.openxmlformats.org/officeDocument/2006/relationships/slideMaster" Target="slideMasters/slideMaster5.xml"/><Relationship Id="rId61" Type="http://schemas.openxmlformats.org/officeDocument/2006/relationships/slide" Target="slides/slide31.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 Target="slides/slide5.xml"/><Relationship Id="rId43" Type="http://schemas.openxmlformats.org/officeDocument/2006/relationships/slide" Target="slides/slide13.xml"/><Relationship Id="rId48" Type="http://schemas.openxmlformats.org/officeDocument/2006/relationships/slide" Target="slides/slide18.xml"/><Relationship Id="rId56" Type="http://schemas.openxmlformats.org/officeDocument/2006/relationships/slide" Target="slides/slide26.xml"/><Relationship Id="rId64" Type="http://schemas.openxmlformats.org/officeDocument/2006/relationships/slide" Target="slides/slide34.xml"/><Relationship Id="rId69"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21.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3.xml"/><Relationship Id="rId38" Type="http://schemas.openxmlformats.org/officeDocument/2006/relationships/slide" Target="slides/slide8.xml"/><Relationship Id="rId46" Type="http://schemas.openxmlformats.org/officeDocument/2006/relationships/slide" Target="slides/slide16.xml"/><Relationship Id="rId59" Type="http://schemas.openxmlformats.org/officeDocument/2006/relationships/slide" Target="slides/slide29.xml"/><Relationship Id="rId67" Type="http://schemas.openxmlformats.org/officeDocument/2006/relationships/notesMaster" Target="notesMasters/notesMaster1.xml"/><Relationship Id="rId20" Type="http://schemas.openxmlformats.org/officeDocument/2006/relationships/slideMaster" Target="slideMasters/slideMaster20.xml"/><Relationship Id="rId41" Type="http://schemas.openxmlformats.org/officeDocument/2006/relationships/slide" Target="slides/slide11.xml"/><Relationship Id="rId54" Type="http://schemas.openxmlformats.org/officeDocument/2006/relationships/slide" Target="slides/slide24.xml"/><Relationship Id="rId62" Type="http://schemas.openxmlformats.org/officeDocument/2006/relationships/slide" Target="slides/slide32.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 Target="slides/slide6.xml"/><Relationship Id="rId49" Type="http://schemas.openxmlformats.org/officeDocument/2006/relationships/slide" Target="slides/slide19.xml"/><Relationship Id="rId57" Type="http://schemas.openxmlformats.org/officeDocument/2006/relationships/slide" Target="slides/slide27.xml"/><Relationship Id="rId10" Type="http://schemas.openxmlformats.org/officeDocument/2006/relationships/slideMaster" Target="slideMasters/slideMaster10.xml"/><Relationship Id="rId31" Type="http://schemas.openxmlformats.org/officeDocument/2006/relationships/slide" Target="slides/slide1.xml"/><Relationship Id="rId44" Type="http://schemas.openxmlformats.org/officeDocument/2006/relationships/slide" Target="slides/slide14.xml"/><Relationship Id="rId52" Type="http://schemas.openxmlformats.org/officeDocument/2006/relationships/slide" Target="slides/slide22.xml"/><Relationship Id="rId60" Type="http://schemas.openxmlformats.org/officeDocument/2006/relationships/slide" Target="slides/slide30.xml"/><Relationship Id="rId65" Type="http://schemas.openxmlformats.org/officeDocument/2006/relationships/slide" Target="slides/slide35.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9.xml"/><Relationship Id="rId34" Type="http://schemas.openxmlformats.org/officeDocument/2006/relationships/slide" Target="slides/slide4.xml"/><Relationship Id="rId50" Type="http://schemas.openxmlformats.org/officeDocument/2006/relationships/slide" Target="slides/slide20.xml"/><Relationship Id="rId55"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054152-F3C0-4ADA-B495-1EB9D9782219}" type="datetimeFigureOut">
              <a:rPr lang="ko-KR" altLang="en-US" smtClean="0"/>
              <a:t>2025-05-17</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93B25E-1843-4FAB-AD9A-ECEFB8B44542}" type="slidenum">
              <a:rPr lang="ko-KR" altLang="en-US" smtClean="0"/>
              <a:t>‹#›</a:t>
            </a:fld>
            <a:endParaRPr lang="ko-KR" altLang="en-US"/>
          </a:p>
        </p:txBody>
      </p:sp>
    </p:spTree>
    <p:extLst>
      <p:ext uri="{BB962C8B-B14F-4D97-AF65-F5344CB8AC3E}">
        <p14:creationId xmlns:p14="http://schemas.microsoft.com/office/powerpoint/2010/main" val="427702463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5"/>
          </p:nvPr>
        </p:nvSpPr>
        <p:spPr/>
        <p:txBody>
          <a:bodyPr/>
          <a:lstStyle/>
          <a:p>
            <a:fld id="{AA93B25E-1843-4FAB-AD9A-ECEFB8B44542}" type="slidenum">
              <a:rPr lang="ko-KR" altLang="en-US" smtClean="0"/>
              <a:t>36</a:t>
            </a:fld>
            <a:endParaRPr lang="ko-KR" altLang="en-US"/>
          </a:p>
        </p:txBody>
      </p:sp>
    </p:spTree>
    <p:extLst>
      <p:ext uri="{BB962C8B-B14F-4D97-AF65-F5344CB8AC3E}">
        <p14:creationId xmlns:p14="http://schemas.microsoft.com/office/powerpoint/2010/main" val="2457155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677520"/>
            <a:ext cx="509436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LE_ONLY_1">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2">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LE_ONLY_3">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ITLE_ONLY_4">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4_1">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TITLE_AND_BODY_1">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TITLE_AND_BODY_1_1">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ITLE_AND_TWO_COLUMNS_1">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ITLE_AND_TWO_COLUMNS_1_1">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6">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5">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8">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195" name="PlaceHolder 1"/>
          <p:cNvSpPr>
            <a:spLocks noGrp="1"/>
          </p:cNvSpPr>
          <p:nvPr>
            <p:ph type="title"/>
          </p:nvPr>
        </p:nvSpPr>
        <p:spPr>
          <a:xfrm>
            <a:off x="713160" y="677520"/>
            <a:ext cx="509436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9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9_1">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226" name="PlaceHolder 1"/>
          <p:cNvSpPr>
            <a:spLocks noGrp="1"/>
          </p:cNvSpPr>
          <p:nvPr>
            <p:ph type="title"/>
          </p:nvPr>
        </p:nvSpPr>
        <p:spPr>
          <a:xfrm>
            <a:off x="713160" y="677520"/>
            <a:ext cx="509436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22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228"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239" name="PlaceHolder 1"/>
          <p:cNvSpPr>
            <a:spLocks noGrp="1"/>
          </p:cNvSpPr>
          <p:nvPr>
            <p:ph type="title"/>
          </p:nvPr>
        </p:nvSpPr>
        <p:spPr>
          <a:xfrm>
            <a:off x="713160" y="677520"/>
            <a:ext cx="509436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1.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24.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25.xml"/></Relationships>
</file>

<file path=ppt/slideMasters/_rels/slideMaster26.xml.rels><?xml version="1.0" encoding="UTF-8" standalone="yes"?>
<Relationships xmlns="http://schemas.openxmlformats.org/package/2006/relationships"><Relationship Id="rId2" Type="http://schemas.openxmlformats.org/officeDocument/2006/relationships/theme" Target="../theme/theme26.xml"/><Relationship Id="rId1" Type="http://schemas.openxmlformats.org/officeDocument/2006/relationships/slideLayout" Target="../slideLayouts/slideLayout26.xml"/></Relationships>
</file>

<file path=ppt/slideMasters/_rels/slideMaster27.xml.rels><?xml version="1.0" encoding="UTF-8" standalone="yes"?>
<Relationships xmlns="http://schemas.openxmlformats.org/package/2006/relationships"><Relationship Id="rId2" Type="http://schemas.openxmlformats.org/officeDocument/2006/relationships/theme" Target="../theme/theme27.xml"/><Relationship Id="rId1" Type="http://schemas.openxmlformats.org/officeDocument/2006/relationships/slideLayout" Target="../slideLayouts/slideLayout27.xml"/></Relationships>
</file>

<file path=ppt/slideMasters/_rels/slideMaster28.xml.rels><?xml version="1.0" encoding="UTF-8" standalone="yes"?>
<Relationships xmlns="http://schemas.openxmlformats.org/package/2006/relationships"><Relationship Id="rId2" Type="http://schemas.openxmlformats.org/officeDocument/2006/relationships/theme" Target="../theme/theme28.xml"/><Relationship Id="rId1" Type="http://schemas.openxmlformats.org/officeDocument/2006/relationships/slideLayout" Target="../slideLayouts/slideLayout28.xml"/></Relationships>
</file>

<file path=ppt/slideMasters/_rels/slideMaster29.xml.rels><?xml version="1.0" encoding="UTF-8" standalone="yes"?>
<Relationships xmlns="http://schemas.openxmlformats.org/package/2006/relationships"><Relationship Id="rId2" Type="http://schemas.openxmlformats.org/officeDocument/2006/relationships/theme" Target="../theme/theme29.xml"/><Relationship Id="rId1" Type="http://schemas.openxmlformats.org/officeDocument/2006/relationships/slideLayout" Target="../slideLayouts/slideLayout29.xml"/></Relationships>
</file>

<file path=ppt/slideMasters/_rels/slideMaster30.xml.rels><?xml version="1.0" encoding="UTF-8" standalone="yes"?>
<Relationships xmlns="http://schemas.openxmlformats.org/package/2006/relationships"><Relationship Id="rId2" Type="http://schemas.openxmlformats.org/officeDocument/2006/relationships/theme" Target="../theme/theme30.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1155960"/>
            <a:ext cx="4160520" cy="2385360"/>
          </a:xfrm>
          <a:prstGeom prst="rect">
            <a:avLst/>
          </a:prstGeom>
          <a:noFill/>
          <a:ln w="0">
            <a:noFill/>
          </a:ln>
        </p:spPr>
        <p:txBody>
          <a:bodyPr lIns="91440" tIns="91440" rIns="91440" bIns="91440" anchor="b">
            <a:noAutofit/>
          </a:bodyPr>
          <a:lstStyle/>
          <a:p>
            <a:pPr indent="0">
              <a:buNone/>
            </a:pPr>
            <a:r>
              <a:rPr lang="fr-FR" sz="3600" b="0" strike="noStrike" spc="-1">
                <a:solidFill>
                  <a:schemeClr val="dk1"/>
                </a:solidFill>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13160" y="1774080"/>
            <a:ext cx="4675680" cy="1097640"/>
          </a:xfrm>
          <a:prstGeom prst="rect">
            <a:avLst/>
          </a:prstGeom>
          <a:noFill/>
          <a:ln w="0">
            <a:noFill/>
          </a:ln>
        </p:spPr>
        <p:txBody>
          <a:bodyPr lIns="91440" tIns="91440" rIns="91440" bIns="91440" anchor="b">
            <a:noAutofit/>
          </a:bodyPr>
          <a:lstStyle/>
          <a:p>
            <a:pPr indent="0">
              <a:lnSpc>
                <a:spcPct val="100000"/>
              </a:lnSpc>
              <a:buNone/>
            </a:pPr>
            <a:r>
              <a:rPr lang="fr-FR" sz="6000" b="1" strike="noStrike" spc="-1">
                <a:solidFill>
                  <a:schemeClr val="dk1"/>
                </a:solidFill>
                <a:latin typeface="Outfit"/>
                <a:ea typeface="Outfit"/>
              </a:rPr>
              <a:t>xx%</a:t>
            </a:r>
            <a:endParaRPr lang="fr-FR" sz="6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oogle Shape;69;p13"/>
          <p:cNvGrpSpPr/>
          <p:nvPr/>
        </p:nvGrpSpPr>
        <p:grpSpPr>
          <a:xfrm>
            <a:off x="-417600" y="-428760"/>
            <a:ext cx="9978840" cy="6000480"/>
            <a:chOff x="-417600" y="-428760"/>
            <a:chExt cx="9978840" cy="6000480"/>
          </a:xfrm>
        </p:grpSpPr>
        <p:sp>
          <p:nvSpPr>
            <p:cNvPr id="6" name="Google Shape;70;p13"/>
            <p:cNvSpPr/>
            <p:nvPr/>
          </p:nvSpPr>
          <p:spPr>
            <a:xfrm>
              <a:off x="42084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71;p13"/>
            <p:cNvSpPr/>
            <p:nvPr/>
          </p:nvSpPr>
          <p:spPr>
            <a:xfrm>
              <a:off x="788436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72;p13"/>
            <p:cNvSpPr/>
            <p:nvPr/>
          </p:nvSpPr>
          <p:spPr>
            <a:xfrm>
              <a:off x="8430840" y="55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73;p13"/>
            <p:cNvSpPr/>
            <p:nvPr/>
          </p:nvSpPr>
          <p:spPr>
            <a:xfrm>
              <a:off x="8430840" y="746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74;p13"/>
            <p:cNvSpPr/>
            <p:nvPr/>
          </p:nvSpPr>
          <p:spPr>
            <a:xfrm>
              <a:off x="-125640" y="55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75;p13"/>
            <p:cNvSpPr/>
            <p:nvPr/>
          </p:nvSpPr>
          <p:spPr>
            <a:xfrm>
              <a:off x="-125640" y="746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76;p13"/>
            <p:cNvSpPr/>
            <p:nvPr/>
          </p:nvSpPr>
          <p:spPr>
            <a:xfrm>
              <a:off x="-417600" y="4604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77;p13"/>
            <p:cNvSpPr/>
            <p:nvPr/>
          </p:nvSpPr>
          <p:spPr>
            <a:xfrm>
              <a:off x="8722800" y="4604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
        <p:nvSpPr>
          <p:cNvPr id="15" name="PlaceHolder 2"/>
          <p:cNvSpPr>
            <a:spLocks noGrp="1"/>
          </p:cNvSpPr>
          <p:nvPr>
            <p:ph type="title"/>
          </p:nvPr>
        </p:nvSpPr>
        <p:spPr>
          <a:xfrm>
            <a:off x="1505520" y="120708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a:endParaRPr>
          </a:p>
        </p:txBody>
      </p:sp>
      <p:sp>
        <p:nvSpPr>
          <p:cNvPr id="16" name="PlaceHolder 3"/>
          <p:cNvSpPr>
            <a:spLocks noGrp="1"/>
          </p:cNvSpPr>
          <p:nvPr>
            <p:ph type="title"/>
          </p:nvPr>
        </p:nvSpPr>
        <p:spPr>
          <a:xfrm>
            <a:off x="1505520" y="293940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a:endParaRPr>
          </a:p>
        </p:txBody>
      </p:sp>
      <p:sp>
        <p:nvSpPr>
          <p:cNvPr id="17" name="PlaceHolder 4"/>
          <p:cNvSpPr>
            <a:spLocks noGrp="1"/>
          </p:cNvSpPr>
          <p:nvPr>
            <p:ph type="title"/>
          </p:nvPr>
        </p:nvSpPr>
        <p:spPr>
          <a:xfrm>
            <a:off x="4204800" y="120708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a:endParaRPr>
          </a:p>
        </p:txBody>
      </p:sp>
      <p:sp>
        <p:nvSpPr>
          <p:cNvPr id="18" name="PlaceHolder 5"/>
          <p:cNvSpPr>
            <a:spLocks noGrp="1"/>
          </p:cNvSpPr>
          <p:nvPr>
            <p:ph type="title"/>
          </p:nvPr>
        </p:nvSpPr>
        <p:spPr>
          <a:xfrm>
            <a:off x="4204800" y="293940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a:endParaRPr>
          </a:p>
        </p:txBody>
      </p:sp>
      <p:sp>
        <p:nvSpPr>
          <p:cNvPr id="19" name="PlaceHolder 6"/>
          <p:cNvSpPr>
            <a:spLocks noGrp="1"/>
          </p:cNvSpPr>
          <p:nvPr>
            <p:ph type="title"/>
          </p:nvPr>
        </p:nvSpPr>
        <p:spPr>
          <a:xfrm>
            <a:off x="6904080" y="120708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a:endParaRPr>
          </a:p>
        </p:txBody>
      </p:sp>
      <p:sp>
        <p:nvSpPr>
          <p:cNvPr id="20" name="PlaceHolder 7"/>
          <p:cNvSpPr>
            <a:spLocks noGrp="1"/>
          </p:cNvSpPr>
          <p:nvPr>
            <p:ph type="title"/>
          </p:nvPr>
        </p:nvSpPr>
        <p:spPr>
          <a:xfrm>
            <a:off x="6904080" y="293940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21" name="Google Shape;98;p14"/>
          <p:cNvGrpSpPr/>
          <p:nvPr/>
        </p:nvGrpSpPr>
        <p:grpSpPr>
          <a:xfrm>
            <a:off x="-247320" y="-445680"/>
            <a:ext cx="9638640" cy="6029280"/>
            <a:chOff x="-247320" y="-445680"/>
            <a:chExt cx="9638640" cy="6029280"/>
          </a:xfrm>
        </p:grpSpPr>
        <p:sp>
          <p:nvSpPr>
            <p:cNvPr id="22" name="Google Shape;99;p14"/>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100;p14"/>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 name="Google Shape;101;p14"/>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 name="Google Shape;102;p14"/>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 name="Google Shape;103;p14"/>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 name="Google Shape;104;p14"/>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 name="Google Shape;105;p14"/>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 name="Google Shape;106;p14"/>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30" name="PlaceHolder 1"/>
          <p:cNvSpPr>
            <a:spLocks noGrp="1"/>
          </p:cNvSpPr>
          <p:nvPr>
            <p:ph type="title"/>
          </p:nvPr>
        </p:nvSpPr>
        <p:spPr>
          <a:xfrm>
            <a:off x="1226520" y="3229560"/>
            <a:ext cx="6690960" cy="54756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1" name="Google Shape;110;p15"/>
          <p:cNvGrpSpPr/>
          <p:nvPr/>
        </p:nvGrpSpPr>
        <p:grpSpPr>
          <a:xfrm>
            <a:off x="-534960" y="-37440"/>
            <a:ext cx="10207440" cy="5621040"/>
            <a:chOff x="-534960" y="-37440"/>
            <a:chExt cx="10207440" cy="5621040"/>
          </a:xfrm>
        </p:grpSpPr>
        <p:sp>
          <p:nvSpPr>
            <p:cNvPr id="32" name="Google Shape;111;p15"/>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 name="Google Shape;112;p15"/>
            <p:cNvSpPr/>
            <p:nvPr/>
          </p:nvSpPr>
          <p:spPr>
            <a:xfrm>
              <a:off x="-53496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 name="Google Shape;113;p15"/>
            <p:cNvSpPr/>
            <p:nvPr/>
          </p:nvSpPr>
          <p:spPr>
            <a:xfrm rot="10800000">
              <a:off x="8834040" y="-37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 name="Google Shape;114;p15"/>
            <p:cNvSpPr/>
            <p:nvPr/>
          </p:nvSpPr>
          <p:spPr>
            <a:xfrm rot="10800000">
              <a:off x="8431200" y="419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 name="Google Shape;115;p15"/>
            <p:cNvSpPr/>
            <p:nvPr/>
          </p:nvSpPr>
          <p:spPr>
            <a:xfrm flipH="1">
              <a:off x="842328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 name="Google Shape;116;p15"/>
            <p:cNvSpPr/>
            <p:nvPr/>
          </p:nvSpPr>
          <p:spPr>
            <a:xfrm flipH="1">
              <a:off x="883296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 name="Google Shape;117;p15"/>
            <p:cNvSpPr/>
            <p:nvPr/>
          </p:nvSpPr>
          <p:spPr>
            <a:xfrm rot="10800000" flipH="1">
              <a:off x="-528840" y="-3744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 name="Google Shape;118;p15"/>
            <p:cNvSpPr/>
            <p:nvPr/>
          </p:nvSpPr>
          <p:spPr>
            <a:xfrm rot="10800000" flipH="1">
              <a:off x="-126000" y="419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4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1" name="Google Shape;121;p16"/>
          <p:cNvGrpSpPr/>
          <p:nvPr/>
        </p:nvGrpSpPr>
        <p:grpSpPr>
          <a:xfrm>
            <a:off x="-247320" y="-445680"/>
            <a:ext cx="9638640" cy="6029280"/>
            <a:chOff x="-247320" y="-445680"/>
            <a:chExt cx="9638640" cy="6029280"/>
          </a:xfrm>
        </p:grpSpPr>
        <p:sp>
          <p:nvSpPr>
            <p:cNvPr id="42" name="Google Shape;122;p16"/>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 name="Google Shape;123;p16"/>
            <p:cNvSpPr/>
            <p:nvPr/>
          </p:nvSpPr>
          <p:spPr>
            <a:xfrm>
              <a:off x="-1256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4" name="Google Shape;124;p16"/>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 name="Google Shape;125;p16"/>
            <p:cNvSpPr/>
            <p:nvPr/>
          </p:nvSpPr>
          <p:spPr>
            <a:xfrm rot="10800000" flipH="1">
              <a:off x="34668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 name="Google Shape;126;p16"/>
            <p:cNvSpPr/>
            <p:nvPr/>
          </p:nvSpPr>
          <p:spPr>
            <a:xfrm rot="10800000">
              <a:off x="7958520" y="-428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 name="Google Shape;127;p16"/>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 name="Google Shape;128;p16"/>
            <p:cNvSpPr/>
            <p:nvPr/>
          </p:nvSpPr>
          <p:spPr>
            <a:xfrm>
              <a:off x="84308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 name="Google Shape;129;p16"/>
            <p:cNvSpPr/>
            <p:nvPr/>
          </p:nvSpPr>
          <p:spPr>
            <a:xfrm>
              <a:off x="84308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5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1" name="Google Shape;132;p17"/>
          <p:cNvGrpSpPr/>
          <p:nvPr/>
        </p:nvGrpSpPr>
        <p:grpSpPr>
          <a:xfrm>
            <a:off x="-549000" y="-585000"/>
            <a:ext cx="10241640" cy="6168600"/>
            <a:chOff x="-549000" y="-585000"/>
            <a:chExt cx="10241640" cy="6168600"/>
          </a:xfrm>
        </p:grpSpPr>
        <p:sp>
          <p:nvSpPr>
            <p:cNvPr id="52" name="Google Shape;133;p17"/>
            <p:cNvSpPr/>
            <p:nvPr/>
          </p:nvSpPr>
          <p:spPr>
            <a:xfrm>
              <a:off x="29376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3" name="Google Shape;134;p17"/>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 name="Google Shape;135;p17"/>
            <p:cNvSpPr/>
            <p:nvPr/>
          </p:nvSpPr>
          <p:spPr>
            <a:xfrm rot="10800000" flipH="1">
              <a:off x="-129600" y="4500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5" name="Google Shape;136;p17"/>
            <p:cNvSpPr/>
            <p:nvPr/>
          </p:nvSpPr>
          <p:spPr>
            <a:xfrm rot="10800000" flipH="1">
              <a:off x="-549360" y="4536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 name="Google Shape;137;p17"/>
            <p:cNvSpPr/>
            <p:nvPr/>
          </p:nvSpPr>
          <p:spPr>
            <a:xfrm>
              <a:off x="185040" y="-585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7" name="Google Shape;138;p17"/>
            <p:cNvSpPr/>
            <p:nvPr/>
          </p:nvSpPr>
          <p:spPr>
            <a:xfrm rot="10800000">
              <a:off x="8434800" y="450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8" name="Google Shape;139;p17"/>
            <p:cNvSpPr/>
            <p:nvPr/>
          </p:nvSpPr>
          <p:spPr>
            <a:xfrm rot="10800000">
              <a:off x="8854200" y="45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9" name="Google Shape;140;p17"/>
            <p:cNvSpPr/>
            <p:nvPr/>
          </p:nvSpPr>
          <p:spPr>
            <a:xfrm flipH="1">
              <a:off x="8119440" y="-5850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6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grpSp>
        <p:nvGrpSpPr>
          <p:cNvPr id="62" name="Google Shape;144;p18"/>
          <p:cNvGrpSpPr/>
          <p:nvPr/>
        </p:nvGrpSpPr>
        <p:grpSpPr>
          <a:xfrm>
            <a:off x="-476640" y="2900520"/>
            <a:ext cx="10096920" cy="2864880"/>
            <a:chOff x="-476640" y="2900520"/>
            <a:chExt cx="10096920" cy="2864880"/>
          </a:xfrm>
        </p:grpSpPr>
        <p:grpSp>
          <p:nvGrpSpPr>
            <p:cNvPr id="63" name="Google Shape;145;p18"/>
            <p:cNvGrpSpPr/>
            <p:nvPr/>
          </p:nvGrpSpPr>
          <p:grpSpPr>
            <a:xfrm>
              <a:off x="-476640" y="2900520"/>
              <a:ext cx="10096920" cy="2864880"/>
              <a:chOff x="-476640" y="2900520"/>
              <a:chExt cx="10096920" cy="2864880"/>
            </a:xfrm>
          </p:grpSpPr>
          <p:sp>
            <p:nvSpPr>
              <p:cNvPr id="64" name="Google Shape;146;p18"/>
              <p:cNvSpPr/>
              <p:nvPr/>
            </p:nvSpPr>
            <p:spPr>
              <a:xfrm rot="10800000" flipH="1">
                <a:off x="-267120" y="2900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 name="Google Shape;147;p18"/>
              <p:cNvSpPr/>
              <p:nvPr/>
            </p:nvSpPr>
            <p:spPr>
              <a:xfrm>
                <a:off x="-90720" y="4425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6" name="Google Shape;148;p18"/>
              <p:cNvSpPr/>
              <p:nvPr/>
            </p:nvSpPr>
            <p:spPr>
              <a:xfrm>
                <a:off x="-476640" y="35229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 name="Google Shape;149;p18"/>
              <p:cNvSpPr/>
              <p:nvPr/>
            </p:nvSpPr>
            <p:spPr>
              <a:xfrm rot="10800000">
                <a:off x="8572320" y="29005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 name="Google Shape;150;p18"/>
              <p:cNvSpPr/>
              <p:nvPr/>
            </p:nvSpPr>
            <p:spPr>
              <a:xfrm flipH="1">
                <a:off x="8395200" y="4425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 name="Google Shape;151;p18"/>
              <p:cNvSpPr/>
              <p:nvPr/>
            </p:nvSpPr>
            <p:spPr>
              <a:xfrm flipH="1">
                <a:off x="8781480" y="35229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 name="Google Shape;152;p18"/>
              <p:cNvSpPr/>
              <p:nvPr/>
            </p:nvSpPr>
            <p:spPr>
              <a:xfrm rot="10800000">
                <a:off x="8010360" y="479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71" name="Google Shape;153;p18"/>
            <p:cNvSpPr/>
            <p:nvPr/>
          </p:nvSpPr>
          <p:spPr>
            <a:xfrm rot="10800000" flipH="1">
              <a:off x="293400" y="47977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3" name="Google Shape;168;p20"/>
          <p:cNvGrpSpPr/>
          <p:nvPr/>
        </p:nvGrpSpPr>
        <p:grpSpPr>
          <a:xfrm>
            <a:off x="-247320" y="-445680"/>
            <a:ext cx="9637920" cy="6029280"/>
            <a:chOff x="-247320" y="-445680"/>
            <a:chExt cx="9637920" cy="6029280"/>
          </a:xfrm>
        </p:grpSpPr>
        <p:sp>
          <p:nvSpPr>
            <p:cNvPr id="84" name="Google Shape;169;p20"/>
            <p:cNvSpPr/>
            <p:nvPr/>
          </p:nvSpPr>
          <p:spPr>
            <a:xfrm>
              <a:off x="-125640" y="44532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5" name="Google Shape;170;p20"/>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6" name="Google Shape;171;p20"/>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7" name="Google Shape;172;p20"/>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8" name="Google Shape;173;p20"/>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9" name="Google Shape;174;p20"/>
            <p:cNvSpPr/>
            <p:nvPr/>
          </p:nvSpPr>
          <p:spPr>
            <a:xfrm rot="10800000">
              <a:off x="8431200" y="-403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0" name="Google Shape;175;p20"/>
            <p:cNvSpPr/>
            <p:nvPr/>
          </p:nvSpPr>
          <p:spPr>
            <a:xfrm>
              <a:off x="-125640" y="3996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1" name="Google Shape;176;p20"/>
            <p:cNvSpPr/>
            <p:nvPr/>
          </p:nvSpPr>
          <p:spPr>
            <a:xfrm>
              <a:off x="8430840" y="468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92" name="PlaceHolder 1"/>
          <p:cNvSpPr>
            <a:spLocks noGrp="1"/>
          </p:cNvSpPr>
          <p:nvPr>
            <p:ph type="title"/>
          </p:nvPr>
        </p:nvSpPr>
        <p:spPr>
          <a:xfrm>
            <a:off x="720000" y="1637640"/>
            <a:ext cx="3597480" cy="1062720"/>
          </a:xfrm>
          <a:prstGeom prst="rect">
            <a:avLst/>
          </a:prstGeom>
          <a:noFill/>
          <a:ln w="0">
            <a:noFill/>
          </a:ln>
        </p:spPr>
        <p:txBody>
          <a:bodyPr lIns="91440" tIns="91440" rIns="91440" bIns="91440" anchor="b">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93" name="PlaceHolder 1"/>
          <p:cNvSpPr>
            <a:spLocks noGrp="1"/>
          </p:cNvSpPr>
          <p:nvPr>
            <p:ph type="title"/>
          </p:nvPr>
        </p:nvSpPr>
        <p:spPr>
          <a:xfrm>
            <a:off x="713160" y="2384280"/>
            <a:ext cx="4344120" cy="915480"/>
          </a:xfrm>
          <a:prstGeom prst="rect">
            <a:avLst/>
          </a:prstGeom>
          <a:noFill/>
          <a:ln w="0">
            <a:noFill/>
          </a:ln>
        </p:spPr>
        <p:txBody>
          <a:bodyPr lIns="91440" tIns="91440" rIns="91440" bIns="91440" anchor="b">
            <a:noAutofit/>
          </a:bodyPr>
          <a:lstStyle/>
          <a:p>
            <a:pPr indent="0">
              <a:buNone/>
            </a:pPr>
            <a:r>
              <a:rPr lang="fr-FR" sz="5000" b="0" strike="noStrike" spc="-1">
                <a:solidFill>
                  <a:schemeClr val="dk1"/>
                </a:solidFill>
                <a:latin typeface="Arial"/>
              </a:rPr>
              <a:t>Click to edit the title text format</a:t>
            </a:r>
          </a:p>
        </p:txBody>
      </p:sp>
      <p:sp>
        <p:nvSpPr>
          <p:cNvPr id="94" name="PlaceHolder 2"/>
          <p:cNvSpPr>
            <a:spLocks noGrp="1"/>
          </p:cNvSpPr>
          <p:nvPr>
            <p:ph type="title"/>
          </p:nvPr>
        </p:nvSpPr>
        <p:spPr>
          <a:xfrm>
            <a:off x="713160" y="1468440"/>
            <a:ext cx="1263960" cy="915480"/>
          </a:xfrm>
          <a:prstGeom prst="rect">
            <a:avLst/>
          </a:prstGeom>
          <a:noFill/>
          <a:ln w="0">
            <a:noFill/>
          </a:ln>
        </p:spPr>
        <p:txBody>
          <a:bodyPr lIns="91440" tIns="91440" rIns="91440" bIns="91440" anchor="ctr">
            <a:noAutofit/>
          </a:bodyPr>
          <a:lstStyle/>
          <a:p>
            <a:pPr indent="0">
              <a:lnSpc>
                <a:spcPct val="100000"/>
              </a:lnSpc>
              <a:buNone/>
            </a:pPr>
            <a:r>
              <a:rPr lang="fr-FR" sz="6000" b="1" strike="noStrike" spc="-1">
                <a:solidFill>
                  <a:schemeClr val="dk1"/>
                </a:solidFill>
                <a:latin typeface="Outfit"/>
                <a:ea typeface="Outfit"/>
              </a:rPr>
              <a:t>xx%</a:t>
            </a:r>
            <a:endParaRPr lang="fr-FR" sz="6000" b="0" strike="noStrike" spc="-1">
              <a:solidFill>
                <a:schemeClr val="dk1"/>
              </a:solidFill>
              <a:latin typeface="Arial"/>
            </a:endParaRPr>
          </a:p>
        </p:txBody>
      </p:sp>
      <p:sp>
        <p:nvSpPr>
          <p:cNvPr id="95"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96" name="Google Shape;180;p21"/>
          <p:cNvGrpSpPr/>
          <p:nvPr/>
        </p:nvGrpSpPr>
        <p:grpSpPr>
          <a:xfrm>
            <a:off x="-247320" y="-445680"/>
            <a:ext cx="9638640" cy="6029280"/>
            <a:chOff x="-247320" y="-445680"/>
            <a:chExt cx="9638640" cy="6029280"/>
          </a:xfrm>
        </p:grpSpPr>
        <p:sp>
          <p:nvSpPr>
            <p:cNvPr id="97" name="Google Shape;181;p21"/>
            <p:cNvSpPr/>
            <p:nvPr/>
          </p:nvSpPr>
          <p:spPr>
            <a:xfrm flipH="1">
              <a:off x="8430120" y="4453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8" name="Google Shape;182;p21"/>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9" name="Google Shape;183;p21"/>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0" name="Google Shape;184;p21"/>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1" name="Google Shape;185;p21"/>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2" name="Google Shape;186;p21"/>
            <p:cNvSpPr/>
            <p:nvPr/>
          </p:nvSpPr>
          <p:spPr>
            <a:xfrm rot="10800000" flipH="1">
              <a:off x="-126000" y="-403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3" name="Google Shape;187;p21"/>
            <p:cNvSpPr/>
            <p:nvPr/>
          </p:nvSpPr>
          <p:spPr>
            <a:xfrm flipH="1">
              <a:off x="8430120" y="39967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4" name="Google Shape;188;p21"/>
            <p:cNvSpPr/>
            <p:nvPr/>
          </p:nvSpPr>
          <p:spPr>
            <a:xfrm flipH="1">
              <a:off x="-126360" y="46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05" name="PlaceHolder 1"/>
          <p:cNvSpPr>
            <a:spLocks noGrp="1"/>
          </p:cNvSpPr>
          <p:nvPr>
            <p:ph type="title"/>
          </p:nvPr>
        </p:nvSpPr>
        <p:spPr>
          <a:xfrm>
            <a:off x="4837320" y="1796400"/>
            <a:ext cx="3593160" cy="644400"/>
          </a:xfrm>
          <a:prstGeom prst="rect">
            <a:avLst/>
          </a:prstGeom>
          <a:noFill/>
          <a:ln w="0">
            <a:noFill/>
          </a:ln>
        </p:spPr>
        <p:txBody>
          <a:bodyPr lIns="91440" tIns="91440" rIns="91440" bIns="91440" anchor="b">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6" name="Google Shape;192;p22"/>
          <p:cNvGrpSpPr/>
          <p:nvPr/>
        </p:nvGrpSpPr>
        <p:grpSpPr>
          <a:xfrm>
            <a:off x="-247320" y="-445680"/>
            <a:ext cx="9638640" cy="6029280"/>
            <a:chOff x="-247320" y="-445680"/>
            <a:chExt cx="9638640" cy="6029280"/>
          </a:xfrm>
        </p:grpSpPr>
        <p:sp>
          <p:nvSpPr>
            <p:cNvPr id="107" name="Google Shape;193;p22"/>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8" name="Google Shape;194;p22"/>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9" name="Google Shape;195;p22"/>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0" name="Google Shape;196;p22"/>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1" name="Google Shape;197;p22"/>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2" name="Google Shape;198;p22"/>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3" name="Google Shape;199;p22"/>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4" name="Google Shape;200;p22"/>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1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
        <p:nvSpPr>
          <p:cNvPr id="116" name="PlaceHolder 2"/>
          <p:cNvSpPr>
            <a:spLocks noGrp="1"/>
          </p:cNvSpPr>
          <p:nvPr>
            <p:ph type="body"/>
          </p:nvPr>
        </p:nvSpPr>
        <p:spPr>
          <a:xfrm>
            <a:off x="720000" y="1215720"/>
            <a:ext cx="7703640" cy="102168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7" name="Google Shape;204;p23"/>
          <p:cNvGrpSpPr/>
          <p:nvPr/>
        </p:nvGrpSpPr>
        <p:grpSpPr>
          <a:xfrm>
            <a:off x="-534960" y="-37440"/>
            <a:ext cx="10207440" cy="5621040"/>
            <a:chOff x="-534960" y="-37440"/>
            <a:chExt cx="10207440" cy="5621040"/>
          </a:xfrm>
        </p:grpSpPr>
        <p:sp>
          <p:nvSpPr>
            <p:cNvPr id="118" name="Google Shape;205;p23"/>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9" name="Google Shape;206;p23"/>
            <p:cNvSpPr/>
            <p:nvPr/>
          </p:nvSpPr>
          <p:spPr>
            <a:xfrm>
              <a:off x="-53496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0" name="Google Shape;207;p23"/>
            <p:cNvSpPr/>
            <p:nvPr/>
          </p:nvSpPr>
          <p:spPr>
            <a:xfrm rot="10800000">
              <a:off x="8834040" y="-37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1" name="Google Shape;208;p23"/>
            <p:cNvSpPr/>
            <p:nvPr/>
          </p:nvSpPr>
          <p:spPr>
            <a:xfrm rot="10800000">
              <a:off x="8431200" y="419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2" name="Google Shape;209;p23"/>
            <p:cNvSpPr/>
            <p:nvPr/>
          </p:nvSpPr>
          <p:spPr>
            <a:xfrm flipH="1">
              <a:off x="842328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3" name="Google Shape;210;p23"/>
            <p:cNvSpPr/>
            <p:nvPr/>
          </p:nvSpPr>
          <p:spPr>
            <a:xfrm flipH="1">
              <a:off x="883296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4" name="Google Shape;211;p23"/>
            <p:cNvSpPr/>
            <p:nvPr/>
          </p:nvSpPr>
          <p:spPr>
            <a:xfrm rot="10800000" flipH="1">
              <a:off x="-528840" y="-3744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5" name="Google Shape;212;p23"/>
            <p:cNvSpPr/>
            <p:nvPr/>
          </p:nvSpPr>
          <p:spPr>
            <a:xfrm rot="10800000" flipH="1">
              <a:off x="-126000" y="419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2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
        <p:nvSpPr>
          <p:cNvPr id="127" name="PlaceHolder 2"/>
          <p:cNvSpPr>
            <a:spLocks noGrp="1"/>
          </p:cNvSpPr>
          <p:nvPr>
            <p:ph type="body"/>
          </p:nvPr>
        </p:nvSpPr>
        <p:spPr>
          <a:xfrm>
            <a:off x="720000" y="1215720"/>
            <a:ext cx="7703640" cy="31449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28" name="Google Shape;216;p24"/>
          <p:cNvGrpSpPr/>
          <p:nvPr/>
        </p:nvGrpSpPr>
        <p:grpSpPr>
          <a:xfrm>
            <a:off x="-310320" y="3500640"/>
            <a:ext cx="9764280" cy="2328120"/>
            <a:chOff x="-310320" y="3500640"/>
            <a:chExt cx="9764280" cy="2328120"/>
          </a:xfrm>
        </p:grpSpPr>
        <p:sp>
          <p:nvSpPr>
            <p:cNvPr id="129" name="Google Shape;217;p24"/>
            <p:cNvSpPr/>
            <p:nvPr/>
          </p:nvSpPr>
          <p:spPr>
            <a:xfrm rot="10800000" flipH="1">
              <a:off x="927000" y="46303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0" name="Google Shape;218;p24"/>
            <p:cNvSpPr/>
            <p:nvPr/>
          </p:nvSpPr>
          <p:spPr>
            <a:xfrm rot="10800000" flipH="1">
              <a:off x="272520" y="4861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1" name="Google Shape;219;p24"/>
            <p:cNvSpPr/>
            <p:nvPr/>
          </p:nvSpPr>
          <p:spPr>
            <a:xfrm>
              <a:off x="-310320" y="3996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2" name="Google Shape;220;p24"/>
            <p:cNvSpPr/>
            <p:nvPr/>
          </p:nvSpPr>
          <p:spPr>
            <a:xfrm>
              <a:off x="-125640" y="3500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3" name="Google Shape;221;p24"/>
            <p:cNvSpPr/>
            <p:nvPr/>
          </p:nvSpPr>
          <p:spPr>
            <a:xfrm flipH="1">
              <a:off x="8615160" y="39963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4" name="Google Shape;222;p24"/>
            <p:cNvSpPr/>
            <p:nvPr/>
          </p:nvSpPr>
          <p:spPr>
            <a:xfrm flipH="1">
              <a:off x="8423280" y="3500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5" name="Google Shape;223;p24"/>
            <p:cNvSpPr/>
            <p:nvPr/>
          </p:nvSpPr>
          <p:spPr>
            <a:xfrm rot="10800000">
              <a:off x="7378200" y="46303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6" name="Google Shape;224;p24"/>
            <p:cNvSpPr/>
            <p:nvPr/>
          </p:nvSpPr>
          <p:spPr>
            <a:xfrm rot="10800000">
              <a:off x="8032680" y="4861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3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38" name="Google Shape;231;p25"/>
          <p:cNvGrpSpPr/>
          <p:nvPr/>
        </p:nvGrpSpPr>
        <p:grpSpPr>
          <a:xfrm>
            <a:off x="-655560" y="3436920"/>
            <a:ext cx="10454760" cy="2310840"/>
            <a:chOff x="-655560" y="3436920"/>
            <a:chExt cx="10454760" cy="2310840"/>
          </a:xfrm>
        </p:grpSpPr>
        <p:sp>
          <p:nvSpPr>
            <p:cNvPr id="139" name="Google Shape;232;p25"/>
            <p:cNvSpPr/>
            <p:nvPr/>
          </p:nvSpPr>
          <p:spPr>
            <a:xfrm rot="10800000" flipH="1">
              <a:off x="-137160" y="3436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0" name="Google Shape;233;p25"/>
            <p:cNvSpPr/>
            <p:nvPr/>
          </p:nvSpPr>
          <p:spPr>
            <a:xfrm>
              <a:off x="183240" y="4541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1" name="Google Shape;234;p25"/>
            <p:cNvSpPr/>
            <p:nvPr/>
          </p:nvSpPr>
          <p:spPr>
            <a:xfrm rot="10800000" flipH="1">
              <a:off x="-655920" y="390348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2" name="Google Shape;235;p25"/>
            <p:cNvSpPr/>
            <p:nvPr/>
          </p:nvSpPr>
          <p:spPr>
            <a:xfrm rot="10800000">
              <a:off x="8442360" y="3436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3" name="Google Shape;236;p25"/>
            <p:cNvSpPr/>
            <p:nvPr/>
          </p:nvSpPr>
          <p:spPr>
            <a:xfrm flipH="1">
              <a:off x="8121240" y="4541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4" name="Google Shape;237;p25"/>
            <p:cNvSpPr/>
            <p:nvPr/>
          </p:nvSpPr>
          <p:spPr>
            <a:xfrm rot="10800000">
              <a:off x="8960760" y="39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5" name="Google Shape;238;p25"/>
            <p:cNvSpPr/>
            <p:nvPr/>
          </p:nvSpPr>
          <p:spPr>
            <a:xfrm rot="10800000">
              <a:off x="7719120" y="4780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6" name="Google Shape;239;p25"/>
            <p:cNvSpPr/>
            <p:nvPr/>
          </p:nvSpPr>
          <p:spPr>
            <a:xfrm rot="10800000">
              <a:off x="586800" y="4780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4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48" name="Google Shape;244;p26"/>
          <p:cNvGrpSpPr/>
          <p:nvPr/>
        </p:nvGrpSpPr>
        <p:grpSpPr>
          <a:xfrm>
            <a:off x="-512280" y="-358200"/>
            <a:ext cx="10169640" cy="5930280"/>
            <a:chOff x="-512280" y="-358200"/>
            <a:chExt cx="10169640" cy="5930280"/>
          </a:xfrm>
        </p:grpSpPr>
        <p:sp>
          <p:nvSpPr>
            <p:cNvPr id="149" name="Google Shape;245;p26"/>
            <p:cNvSpPr/>
            <p:nvPr/>
          </p:nvSpPr>
          <p:spPr>
            <a:xfrm flipH="1">
              <a:off x="8430120" y="4074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0" name="Google Shape;246;p26"/>
            <p:cNvSpPr/>
            <p:nvPr/>
          </p:nvSpPr>
          <p:spPr>
            <a:xfrm rot="10800000">
              <a:off x="8818920" y="1832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1" name="Google Shape;247;p26"/>
            <p:cNvSpPr/>
            <p:nvPr/>
          </p:nvSpPr>
          <p:spPr>
            <a:xfrm rot="10800000">
              <a:off x="8011800" y="4604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2" name="Google Shape;248;p26"/>
            <p:cNvSpPr/>
            <p:nvPr/>
          </p:nvSpPr>
          <p:spPr>
            <a:xfrm flipH="1">
              <a:off x="8430120" y="-358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3" name="Google Shape;249;p26"/>
            <p:cNvSpPr/>
            <p:nvPr/>
          </p:nvSpPr>
          <p:spPr>
            <a:xfrm>
              <a:off x="-124200" y="407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4" name="Google Shape;250;p26"/>
            <p:cNvSpPr/>
            <p:nvPr/>
          </p:nvSpPr>
          <p:spPr>
            <a:xfrm rot="10800000" flipH="1">
              <a:off x="-512640" y="18324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5" name="Google Shape;251;p26"/>
            <p:cNvSpPr/>
            <p:nvPr/>
          </p:nvSpPr>
          <p:spPr>
            <a:xfrm rot="10800000" flipH="1">
              <a:off x="294840" y="4604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6" name="Google Shape;252;p26"/>
            <p:cNvSpPr/>
            <p:nvPr/>
          </p:nvSpPr>
          <p:spPr>
            <a:xfrm>
              <a:off x="-124200" y="-3582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5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58" name="Google Shape;261;p27"/>
          <p:cNvGrpSpPr/>
          <p:nvPr/>
        </p:nvGrpSpPr>
        <p:grpSpPr>
          <a:xfrm>
            <a:off x="-519480" y="2675160"/>
            <a:ext cx="10224360" cy="2743920"/>
            <a:chOff x="-519480" y="2675160"/>
            <a:chExt cx="10224360" cy="2743920"/>
          </a:xfrm>
        </p:grpSpPr>
        <p:sp>
          <p:nvSpPr>
            <p:cNvPr id="159" name="Google Shape;262;p27"/>
            <p:cNvSpPr/>
            <p:nvPr/>
          </p:nvSpPr>
          <p:spPr>
            <a:xfrm rot="10800000" flipH="1">
              <a:off x="-119160" y="3085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0" name="Google Shape;263;p27"/>
            <p:cNvSpPr/>
            <p:nvPr/>
          </p:nvSpPr>
          <p:spPr>
            <a:xfrm rot="10800000" flipH="1">
              <a:off x="-519840" y="267516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1" name="Google Shape;264;p27"/>
            <p:cNvSpPr/>
            <p:nvPr/>
          </p:nvSpPr>
          <p:spPr>
            <a:xfrm>
              <a:off x="-519480" y="395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2" name="Google Shape;265;p27"/>
            <p:cNvSpPr/>
            <p:nvPr/>
          </p:nvSpPr>
          <p:spPr>
            <a:xfrm>
              <a:off x="21240" y="4451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3" name="Google Shape;266;p27"/>
            <p:cNvSpPr/>
            <p:nvPr/>
          </p:nvSpPr>
          <p:spPr>
            <a:xfrm rot="10800000">
              <a:off x="8465400" y="30852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4" name="Google Shape;267;p27"/>
            <p:cNvSpPr/>
            <p:nvPr/>
          </p:nvSpPr>
          <p:spPr>
            <a:xfrm rot="10800000">
              <a:off x="8866440" y="2675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5" name="Google Shape;268;p27"/>
            <p:cNvSpPr/>
            <p:nvPr/>
          </p:nvSpPr>
          <p:spPr>
            <a:xfrm flipH="1">
              <a:off x="8865360" y="395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6" name="Google Shape;269;p27"/>
            <p:cNvSpPr/>
            <p:nvPr/>
          </p:nvSpPr>
          <p:spPr>
            <a:xfrm flipH="1">
              <a:off x="8324640" y="4451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6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68" name="Google Shape;280;p28"/>
          <p:cNvGrpSpPr/>
          <p:nvPr/>
        </p:nvGrpSpPr>
        <p:grpSpPr>
          <a:xfrm>
            <a:off x="-266400" y="3341880"/>
            <a:ext cx="9676800" cy="2320920"/>
            <a:chOff x="-266400" y="3341880"/>
            <a:chExt cx="9676800" cy="2320920"/>
          </a:xfrm>
        </p:grpSpPr>
        <p:sp>
          <p:nvSpPr>
            <p:cNvPr id="169" name="Google Shape;281;p28"/>
            <p:cNvSpPr/>
            <p:nvPr/>
          </p:nvSpPr>
          <p:spPr>
            <a:xfrm flipH="1">
              <a:off x="7440840" y="4695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0" name="Google Shape;282;p28"/>
            <p:cNvSpPr/>
            <p:nvPr/>
          </p:nvSpPr>
          <p:spPr>
            <a:xfrm>
              <a:off x="863640" y="4695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1" name="Google Shape;283;p28"/>
            <p:cNvSpPr/>
            <p:nvPr/>
          </p:nvSpPr>
          <p:spPr>
            <a:xfrm rot="10800000" flipH="1">
              <a:off x="-266760" y="4029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2" name="Google Shape;284;p28"/>
            <p:cNvSpPr/>
            <p:nvPr/>
          </p:nvSpPr>
          <p:spPr>
            <a:xfrm>
              <a:off x="153000" y="4524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3" name="Google Shape;285;p28"/>
            <p:cNvSpPr/>
            <p:nvPr/>
          </p:nvSpPr>
          <p:spPr>
            <a:xfrm rot="10800000" flipH="1">
              <a:off x="-151560" y="33418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4" name="Google Shape;286;p28"/>
            <p:cNvSpPr/>
            <p:nvPr/>
          </p:nvSpPr>
          <p:spPr>
            <a:xfrm rot="10800000">
              <a:off x="8571960" y="4029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5" name="Google Shape;287;p28"/>
            <p:cNvSpPr/>
            <p:nvPr/>
          </p:nvSpPr>
          <p:spPr>
            <a:xfrm flipH="1">
              <a:off x="8151840" y="45244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6" name="Google Shape;288;p28"/>
            <p:cNvSpPr/>
            <p:nvPr/>
          </p:nvSpPr>
          <p:spPr>
            <a:xfrm rot="10800000">
              <a:off x="8456760" y="33418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7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78" name="PlaceHolder 1"/>
          <p:cNvSpPr>
            <a:spLocks noGrp="1"/>
          </p:cNvSpPr>
          <p:nvPr>
            <p:ph type="title"/>
          </p:nvPr>
        </p:nvSpPr>
        <p:spPr>
          <a:xfrm>
            <a:off x="4352040" y="638280"/>
            <a:ext cx="4078440" cy="768600"/>
          </a:xfrm>
          <a:prstGeom prst="rect">
            <a:avLst/>
          </a:prstGeom>
          <a:noFill/>
          <a:ln w="0">
            <a:noFill/>
          </a:ln>
        </p:spPr>
        <p:txBody>
          <a:bodyPr lIns="91440" tIns="91440" rIns="91440" bIns="91440" anchor="b">
            <a:noAutofit/>
          </a:bodyPr>
          <a:lstStyle/>
          <a:p>
            <a:pPr indent="0">
              <a:lnSpc>
                <a:spcPct val="100000"/>
              </a:lnSpc>
              <a:buNone/>
            </a:pPr>
            <a:r>
              <a:rPr lang="fr-FR" sz="4500" b="1" strike="noStrike" spc="-1">
                <a:solidFill>
                  <a:schemeClr val="dk1"/>
                </a:solidFill>
                <a:latin typeface="Outfit"/>
                <a:ea typeface="Outfit"/>
              </a:rPr>
              <a:t>xx%</a:t>
            </a:r>
            <a:endParaRPr lang="fr-FR" sz="4500" b="0" strike="noStrike" spc="-1">
              <a:solidFill>
                <a:schemeClr val="dk1"/>
              </a:solidFill>
              <a:latin typeface="Arial"/>
            </a:endParaRPr>
          </a:p>
        </p:txBody>
      </p:sp>
      <p:sp>
        <p:nvSpPr>
          <p:cNvPr id="179" name="PlaceHolder 2"/>
          <p:cNvSpPr>
            <a:spLocks noGrp="1"/>
          </p:cNvSpPr>
          <p:nvPr>
            <p:ph type="title"/>
          </p:nvPr>
        </p:nvSpPr>
        <p:spPr>
          <a:xfrm>
            <a:off x="4352040" y="1990440"/>
            <a:ext cx="4078440" cy="768600"/>
          </a:xfrm>
          <a:prstGeom prst="rect">
            <a:avLst/>
          </a:prstGeom>
          <a:noFill/>
          <a:ln w="0">
            <a:noFill/>
          </a:ln>
        </p:spPr>
        <p:txBody>
          <a:bodyPr lIns="91440" tIns="91440" rIns="91440" bIns="91440" anchor="b">
            <a:noAutofit/>
          </a:bodyPr>
          <a:lstStyle/>
          <a:p>
            <a:pPr indent="0">
              <a:lnSpc>
                <a:spcPct val="100000"/>
              </a:lnSpc>
              <a:buNone/>
            </a:pPr>
            <a:r>
              <a:rPr lang="fr-FR" sz="4500" b="1" strike="noStrike" spc="-1">
                <a:solidFill>
                  <a:schemeClr val="dk1"/>
                </a:solidFill>
                <a:latin typeface="Outfit"/>
                <a:ea typeface="Outfit"/>
              </a:rPr>
              <a:t>xx%</a:t>
            </a:r>
            <a:endParaRPr lang="fr-FR" sz="4500" b="0" strike="noStrike" spc="-1">
              <a:solidFill>
                <a:schemeClr val="dk1"/>
              </a:solidFill>
              <a:latin typeface="Arial"/>
            </a:endParaRPr>
          </a:p>
        </p:txBody>
      </p:sp>
      <p:sp>
        <p:nvSpPr>
          <p:cNvPr id="180" name="PlaceHolder 3"/>
          <p:cNvSpPr>
            <a:spLocks noGrp="1"/>
          </p:cNvSpPr>
          <p:nvPr>
            <p:ph type="title"/>
          </p:nvPr>
        </p:nvSpPr>
        <p:spPr>
          <a:xfrm>
            <a:off x="4352040" y="3342960"/>
            <a:ext cx="4078440" cy="768600"/>
          </a:xfrm>
          <a:prstGeom prst="rect">
            <a:avLst/>
          </a:prstGeom>
          <a:noFill/>
          <a:ln w="0">
            <a:noFill/>
          </a:ln>
        </p:spPr>
        <p:txBody>
          <a:bodyPr lIns="91440" tIns="91440" rIns="91440" bIns="91440" anchor="b">
            <a:noAutofit/>
          </a:bodyPr>
          <a:lstStyle/>
          <a:p>
            <a:pPr indent="0">
              <a:lnSpc>
                <a:spcPct val="100000"/>
              </a:lnSpc>
              <a:buNone/>
            </a:pPr>
            <a:r>
              <a:rPr lang="fr-FR" sz="4500" b="1" strike="noStrike" spc="-1">
                <a:solidFill>
                  <a:schemeClr val="dk1"/>
                </a:solidFill>
                <a:latin typeface="Outfit"/>
                <a:ea typeface="Outfit"/>
              </a:rPr>
              <a:t>xx%</a:t>
            </a:r>
            <a:endParaRPr lang="fr-FR" sz="45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84" name="Google Shape;16;p4"/>
          <p:cNvGrpSpPr/>
          <p:nvPr/>
        </p:nvGrpSpPr>
        <p:grpSpPr>
          <a:xfrm>
            <a:off x="-247320" y="-445680"/>
            <a:ext cx="9638640" cy="6029280"/>
            <a:chOff x="-247320" y="-445680"/>
            <a:chExt cx="9638640" cy="6029280"/>
          </a:xfrm>
        </p:grpSpPr>
        <p:sp>
          <p:nvSpPr>
            <p:cNvPr id="185" name="Google Shape;17;p4"/>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6" name="Google Shape;18;p4"/>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7" name="Google Shape;19;p4"/>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8" name="Google Shape;20;p4"/>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9" name="Google Shape;21;p4"/>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0" name="Google Shape;22;p4"/>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1" name="Google Shape;23;p4"/>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2" name="Google Shape;24;p4"/>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9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
        <p:nvSpPr>
          <p:cNvPr id="194" name="PlaceHolder 2"/>
          <p:cNvSpPr>
            <a:spLocks noGrp="1"/>
          </p:cNvSpPr>
          <p:nvPr>
            <p:ph type="body"/>
          </p:nvPr>
        </p:nvSpPr>
        <p:spPr>
          <a:xfrm>
            <a:off x="720000" y="1215720"/>
            <a:ext cx="7703640" cy="3974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97" name="Google Shape;314;p31"/>
          <p:cNvGrpSpPr/>
          <p:nvPr/>
        </p:nvGrpSpPr>
        <p:grpSpPr>
          <a:xfrm>
            <a:off x="-247320" y="-445680"/>
            <a:ext cx="9638640" cy="6029280"/>
            <a:chOff x="-247320" y="-445680"/>
            <a:chExt cx="9638640" cy="6029280"/>
          </a:xfrm>
        </p:grpSpPr>
        <p:sp>
          <p:nvSpPr>
            <p:cNvPr id="198" name="Google Shape;315;p31"/>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9" name="Google Shape;316;p31"/>
            <p:cNvSpPr/>
            <p:nvPr/>
          </p:nvSpPr>
          <p:spPr>
            <a:xfrm>
              <a:off x="-1256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0" name="Google Shape;317;p31"/>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1" name="Google Shape;318;p31"/>
            <p:cNvSpPr/>
            <p:nvPr/>
          </p:nvSpPr>
          <p:spPr>
            <a:xfrm rot="10800000" flipH="1">
              <a:off x="34668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2" name="Google Shape;319;p31"/>
            <p:cNvSpPr/>
            <p:nvPr/>
          </p:nvSpPr>
          <p:spPr>
            <a:xfrm rot="10800000">
              <a:off x="7958520" y="-428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3" name="Google Shape;320;p31"/>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4" name="Google Shape;321;p31"/>
            <p:cNvSpPr/>
            <p:nvPr/>
          </p:nvSpPr>
          <p:spPr>
            <a:xfrm>
              <a:off x="84308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 name="Google Shape;322;p31"/>
            <p:cNvSpPr/>
            <p:nvPr/>
          </p:nvSpPr>
          <p:spPr>
            <a:xfrm>
              <a:off x="84308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206" name="Google Shape;324;p32"/>
          <p:cNvGrpSpPr/>
          <p:nvPr/>
        </p:nvGrpSpPr>
        <p:grpSpPr>
          <a:xfrm>
            <a:off x="-476640" y="2900520"/>
            <a:ext cx="10096920" cy="2864880"/>
            <a:chOff x="-476640" y="2900520"/>
            <a:chExt cx="10096920" cy="2864880"/>
          </a:xfrm>
        </p:grpSpPr>
        <p:grpSp>
          <p:nvGrpSpPr>
            <p:cNvPr id="207" name="Google Shape;325;p32"/>
            <p:cNvGrpSpPr/>
            <p:nvPr/>
          </p:nvGrpSpPr>
          <p:grpSpPr>
            <a:xfrm>
              <a:off x="-476640" y="2900520"/>
              <a:ext cx="10096920" cy="2864880"/>
              <a:chOff x="-476640" y="2900520"/>
              <a:chExt cx="10096920" cy="2864880"/>
            </a:xfrm>
          </p:grpSpPr>
          <p:sp>
            <p:nvSpPr>
              <p:cNvPr id="208" name="Google Shape;326;p32"/>
              <p:cNvSpPr/>
              <p:nvPr/>
            </p:nvSpPr>
            <p:spPr>
              <a:xfrm rot="10800000" flipH="1">
                <a:off x="-267120" y="2900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9" name="Google Shape;327;p32"/>
              <p:cNvSpPr/>
              <p:nvPr/>
            </p:nvSpPr>
            <p:spPr>
              <a:xfrm>
                <a:off x="-90720" y="4425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0" name="Google Shape;328;p32"/>
              <p:cNvSpPr/>
              <p:nvPr/>
            </p:nvSpPr>
            <p:spPr>
              <a:xfrm>
                <a:off x="-476640" y="35229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1" name="Google Shape;329;p32"/>
              <p:cNvSpPr/>
              <p:nvPr/>
            </p:nvSpPr>
            <p:spPr>
              <a:xfrm rot="10800000">
                <a:off x="8572320" y="29005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2" name="Google Shape;330;p32"/>
              <p:cNvSpPr/>
              <p:nvPr/>
            </p:nvSpPr>
            <p:spPr>
              <a:xfrm flipH="1">
                <a:off x="8395200" y="4425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3" name="Google Shape;331;p32"/>
              <p:cNvSpPr/>
              <p:nvPr/>
            </p:nvSpPr>
            <p:spPr>
              <a:xfrm flipH="1">
                <a:off x="8781480" y="35229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4" name="Google Shape;332;p32"/>
              <p:cNvSpPr/>
              <p:nvPr/>
            </p:nvSpPr>
            <p:spPr>
              <a:xfrm rot="10800000">
                <a:off x="8010360" y="479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15" name="Google Shape;333;p32"/>
            <p:cNvSpPr/>
            <p:nvPr/>
          </p:nvSpPr>
          <p:spPr>
            <a:xfrm rot="10800000" flipH="1">
              <a:off x="293400" y="47977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216" name="Google Shape;28;p5"/>
          <p:cNvGrpSpPr/>
          <p:nvPr/>
        </p:nvGrpSpPr>
        <p:grpSpPr>
          <a:xfrm>
            <a:off x="-247320" y="-445680"/>
            <a:ext cx="9638640" cy="6029280"/>
            <a:chOff x="-247320" y="-445680"/>
            <a:chExt cx="9638640" cy="6029280"/>
          </a:xfrm>
        </p:grpSpPr>
        <p:sp>
          <p:nvSpPr>
            <p:cNvPr id="217" name="Google Shape;29;p5"/>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8" name="Google Shape;30;p5"/>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9" name="Google Shape;31;p5"/>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0" name="Google Shape;32;p5"/>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1" name="Google Shape;33;p5"/>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2" name="Google Shape;34;p5"/>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3" name="Google Shape;35;p5"/>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4" name="Google Shape;36;p5"/>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2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229" name="Google Shape;43;p6"/>
          <p:cNvGrpSpPr/>
          <p:nvPr/>
        </p:nvGrpSpPr>
        <p:grpSpPr>
          <a:xfrm>
            <a:off x="-247320" y="-283680"/>
            <a:ext cx="9637920" cy="5867280"/>
            <a:chOff x="-247320" y="-283680"/>
            <a:chExt cx="9637920" cy="5867280"/>
          </a:xfrm>
        </p:grpSpPr>
        <p:sp>
          <p:nvSpPr>
            <p:cNvPr id="230" name="Google Shape;44;p6"/>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1" name="Google Shape;45;p6"/>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2" name="Google Shape;46;p6"/>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3" name="Google Shape;47;p6"/>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4" name="Google Shape;48;p6"/>
            <p:cNvSpPr/>
            <p:nvPr/>
          </p:nvSpPr>
          <p:spPr>
            <a:xfrm rot="10800000" flipH="1">
              <a:off x="-126000" y="123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5" name="Google Shape;49;p6"/>
            <p:cNvSpPr/>
            <p:nvPr/>
          </p:nvSpPr>
          <p:spPr>
            <a:xfrm rot="10800000" flipH="1">
              <a:off x="-126000" y="-283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6" name="Google Shape;50;p6"/>
            <p:cNvSpPr/>
            <p:nvPr/>
          </p:nvSpPr>
          <p:spPr>
            <a:xfrm rot="10800000" flipH="1">
              <a:off x="8423640" y="123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7" name="Google Shape;51;p6"/>
            <p:cNvSpPr/>
            <p:nvPr/>
          </p:nvSpPr>
          <p:spPr>
            <a:xfrm rot="10800000" flipH="1">
              <a:off x="8423640" y="-283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3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40" name="PlaceHolder 1"/>
          <p:cNvSpPr>
            <a:spLocks noGrp="1"/>
          </p:cNvSpPr>
          <p:nvPr>
            <p:ph type="title"/>
          </p:nvPr>
        </p:nvSpPr>
        <p:spPr>
          <a:xfrm>
            <a:off x="720000" y="444960"/>
            <a:ext cx="554940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03"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41" name="PlaceHolder 1"/>
          <p:cNvSpPr>
            <a:spLocks noGrp="1"/>
          </p:cNvSpPr>
          <p:nvPr>
            <p:ph type="title"/>
          </p:nvPr>
        </p:nvSpPr>
        <p:spPr>
          <a:xfrm>
            <a:off x="4292280" y="1663920"/>
            <a:ext cx="4138200" cy="1815480"/>
          </a:xfrm>
          <a:prstGeom prst="rect">
            <a:avLst/>
          </a:prstGeom>
          <a:noFill/>
          <a:ln w="0">
            <a:noFill/>
          </a:ln>
        </p:spPr>
        <p:txBody>
          <a:bodyPr lIns="91440" tIns="91440" rIns="91440" bIns="91440" anchor="ctr">
            <a:noAutofit/>
          </a:bodyPr>
          <a:lstStyle/>
          <a:p>
            <a:pPr indent="0">
              <a:buNone/>
            </a:pPr>
            <a:r>
              <a:rPr lang="fr-FR" sz="6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05"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44" name="PlaceHolder 1"/>
          <p:cNvSpPr>
            <a:spLocks noGrp="1"/>
          </p:cNvSpPr>
          <p:nvPr>
            <p:ph type="body"/>
          </p:nvPr>
        </p:nvSpPr>
        <p:spPr>
          <a:xfrm>
            <a:off x="0" y="-13680"/>
            <a:ext cx="9143640" cy="515700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245" name="PlaceHolder 2"/>
          <p:cNvSpPr>
            <a:spLocks noGrp="1"/>
          </p:cNvSpPr>
          <p:nvPr>
            <p:ph type="title"/>
          </p:nvPr>
        </p:nvSpPr>
        <p:spPr>
          <a:xfrm>
            <a:off x="720000" y="3942720"/>
            <a:ext cx="7703640" cy="644040"/>
          </a:xfrm>
          <a:prstGeom prst="rect">
            <a:avLst/>
          </a:prstGeom>
          <a:solidFill>
            <a:schemeClr val="lt1"/>
          </a:solid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09"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11"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246" name="PlaceHolder 1"/>
          <p:cNvSpPr>
            <a:spLocks noGrp="1"/>
          </p:cNvSpPr>
          <p:nvPr>
            <p:ph type="title"/>
          </p:nvPr>
        </p:nvSpPr>
        <p:spPr>
          <a:xfrm>
            <a:off x="716760" y="511200"/>
            <a:ext cx="7710120" cy="48204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13"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11.xml"/><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png"/><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png"/><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slideLayout" Target="../slideLayouts/slideLayout11.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Layout" Target="../slideLayouts/slideLayout11.xml"/><Relationship Id="rId5" Type="http://schemas.openxmlformats.org/officeDocument/2006/relationships/image" Target="../media/image32.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3.png"/><Relationship Id="rId1" Type="http://schemas.openxmlformats.org/officeDocument/2006/relationships/slideLayout" Target="../slideLayouts/slideLayout11.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5.png"/><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7.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8.png"/><Relationship Id="rId1" Type="http://schemas.openxmlformats.org/officeDocument/2006/relationships/slideLayout" Target="../slideLayouts/slideLayout11.xml"/><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11.xml"/><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그림 12" descr="인형, 의류, 장난감, 드레스이(가) 표시된 사진&#10;&#10;AI가 생성한 콘텐츠는 부정확할 수 있습니다.">
            <a:extLst>
              <a:ext uri="{FF2B5EF4-FFF2-40B4-BE49-F238E27FC236}">
                <a16:creationId xmlns:a16="http://schemas.microsoft.com/office/drawing/2014/main" id="{F57C8884-2FB3-E67E-5C58-9C7A20BAA13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3199" y="195427"/>
            <a:ext cx="1864587" cy="4339402"/>
          </a:xfrm>
          <a:prstGeom prst="rect">
            <a:avLst/>
          </a:prstGeom>
        </p:spPr>
      </p:pic>
      <p:sp>
        <p:nvSpPr>
          <p:cNvPr id="247" name="PlaceHolder 1"/>
          <p:cNvSpPr>
            <a:spLocks noGrp="1"/>
          </p:cNvSpPr>
          <p:nvPr>
            <p:ph type="title"/>
          </p:nvPr>
        </p:nvSpPr>
        <p:spPr>
          <a:xfrm>
            <a:off x="979374" y="304800"/>
            <a:ext cx="6928067" cy="758284"/>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altLang="ko-KR" sz="3900" b="1" spc="-1" dirty="0">
                <a:solidFill>
                  <a:schemeClr val="dk1"/>
                </a:solidFill>
                <a:latin typeface="Outfit"/>
              </a:rPr>
              <a:t>L</a:t>
            </a:r>
            <a:r>
              <a:rPr lang="ko-KR" altLang="en-US" sz="3900" b="1" spc="-1" dirty="0">
                <a:solidFill>
                  <a:schemeClr val="dk1"/>
                </a:solidFill>
                <a:latin typeface="Outfit"/>
              </a:rPr>
              <a:t>사 데이터가 들려주는 이야기 </a:t>
            </a:r>
            <a:r>
              <a:rPr lang="en-US" altLang="ko-KR" sz="3900" b="1" spc="-1" dirty="0">
                <a:solidFill>
                  <a:schemeClr val="dk1"/>
                </a:solidFill>
                <a:latin typeface="Outfit"/>
              </a:rPr>
              <a:t>by</a:t>
            </a:r>
            <a:endParaRPr lang="fr-FR" sz="2500" b="0" strike="noStrike" spc="-1" dirty="0">
              <a:solidFill>
                <a:schemeClr val="dk1"/>
              </a:solidFill>
              <a:latin typeface="Arial"/>
            </a:endParaRPr>
          </a:p>
        </p:txBody>
      </p:sp>
      <p:pic>
        <p:nvPicPr>
          <p:cNvPr id="3" name="그림 2" descr="의류, 인간의 얼굴, 텍스트, 사람이(가) 표시된 사진&#10;&#10;AI가 생성한 콘텐츠는 부정확할 수 있습니다.">
            <a:extLst>
              <a:ext uri="{FF2B5EF4-FFF2-40B4-BE49-F238E27FC236}">
                <a16:creationId xmlns:a16="http://schemas.microsoft.com/office/drawing/2014/main" id="{A7B43799-6F79-E54C-B562-C717316E5599}"/>
              </a:ext>
            </a:extLst>
          </p:cNvPr>
          <p:cNvPicPr>
            <a:picLocks noChangeAspect="1"/>
          </p:cNvPicPr>
          <p:nvPr/>
        </p:nvPicPr>
        <p:blipFill>
          <a:blip r:embed="rId3"/>
          <a:stretch>
            <a:fillRect/>
          </a:stretch>
        </p:blipFill>
        <p:spPr>
          <a:xfrm>
            <a:off x="4216544" y="1063084"/>
            <a:ext cx="4808510" cy="3471745"/>
          </a:xfrm>
          <a:prstGeom prst="rect">
            <a:avLst/>
          </a:prstGeom>
        </p:spPr>
      </p:pic>
      <p:sp>
        <p:nvSpPr>
          <p:cNvPr id="9" name="PlaceHolder 1">
            <a:extLst>
              <a:ext uri="{FF2B5EF4-FFF2-40B4-BE49-F238E27FC236}">
                <a16:creationId xmlns:a16="http://schemas.microsoft.com/office/drawing/2014/main" id="{A5986817-3B61-A9D6-3DD9-8561E05B6F4D}"/>
              </a:ext>
            </a:extLst>
          </p:cNvPr>
          <p:cNvSpPr txBox="1">
            <a:spLocks/>
          </p:cNvSpPr>
          <p:nvPr/>
        </p:nvSpPr>
        <p:spPr>
          <a:xfrm>
            <a:off x="4065225" y="4534829"/>
            <a:ext cx="5309219" cy="449766"/>
          </a:xfrm>
          <a:prstGeom prst="rect">
            <a:avLst/>
          </a:prstGeom>
          <a:noFill/>
          <a:ln w="0">
            <a:noFill/>
          </a:ln>
        </p:spPr>
        <p:txBody>
          <a:bodyPr lIns="91440" tIns="91440" rIns="91440" bIns="91440" anchor="b">
            <a:normAutofit lnSpcReduction="10000"/>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팀원</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김애은</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양명민</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이성렬</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이정민</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가나다 順</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714240" y="2381400"/>
            <a:ext cx="4343040" cy="91404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ko-KR" altLang="en-US" sz="5000" b="1" strike="noStrike" spc="-1" dirty="0">
                <a:solidFill>
                  <a:schemeClr val="dk1"/>
                </a:solidFill>
                <a:latin typeface="Outfit"/>
                <a:ea typeface="Outfit"/>
              </a:rPr>
              <a:t>추진 </a:t>
            </a:r>
            <a:r>
              <a:rPr lang="zh-CN" sz="5000" b="1" strike="noStrike" spc="-1" dirty="0">
                <a:solidFill>
                  <a:schemeClr val="dk1"/>
                </a:solidFill>
                <a:latin typeface="Outfit"/>
                <a:ea typeface="Outfit"/>
              </a:rPr>
              <a:t>배경</a:t>
            </a:r>
            <a:endParaRPr lang="fr-FR" sz="5000" b="0" strike="noStrike" spc="-1" dirty="0">
              <a:solidFill>
                <a:schemeClr val="dk1"/>
              </a:solidFill>
              <a:latin typeface="Arial"/>
            </a:endParaRPr>
          </a:p>
        </p:txBody>
      </p:sp>
      <p:sp>
        <p:nvSpPr>
          <p:cNvPr id="293" name="PlaceHolder 2"/>
          <p:cNvSpPr>
            <a:spLocks noGrp="1"/>
          </p:cNvSpPr>
          <p:nvPr>
            <p:ph type="title"/>
          </p:nvPr>
        </p:nvSpPr>
        <p:spPr>
          <a:xfrm>
            <a:off x="714240" y="1467000"/>
            <a:ext cx="1266480" cy="91404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6000" b="1" strike="noStrike" spc="-1" dirty="0">
                <a:solidFill>
                  <a:schemeClr val="dk1"/>
                </a:solidFill>
                <a:latin typeface="Outfit"/>
                <a:ea typeface="Outfit"/>
              </a:rPr>
              <a:t>01</a:t>
            </a:r>
            <a:endParaRPr lang="fr-FR" sz="6000" b="0" strike="noStrike" spc="-1" dirty="0">
              <a:solidFill>
                <a:schemeClr val="dk1"/>
              </a:solidFill>
              <a:latin typeface="Arial"/>
            </a:endParaRPr>
          </a:p>
        </p:txBody>
      </p:sp>
      <p:cxnSp>
        <p:nvCxnSpPr>
          <p:cNvPr id="313" name="Google Shape;450;p40"/>
          <p:cNvCxnSpPr/>
          <p:nvPr/>
        </p:nvCxnSpPr>
        <p:spPr>
          <a:xfrm>
            <a:off x="840960" y="1385640"/>
            <a:ext cx="374040" cy="360"/>
          </a:xfrm>
          <a:prstGeom prst="straightConnector1">
            <a:avLst/>
          </a:prstGeom>
          <a:ln w="19050">
            <a:solidFill>
              <a:srgbClr val="384655"/>
            </a:solidFill>
            <a:round/>
          </a:ln>
        </p:spPr>
      </p:cxn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68A954D2-B758-433A-1900-6036E8C6FEBA}"/>
              </a:ext>
            </a:extLst>
          </p:cNvPr>
          <p:cNvPicPr>
            <a:picLocks noChangeAspect="1"/>
          </p:cNvPicPr>
          <p:nvPr/>
        </p:nvPicPr>
        <p:blipFill>
          <a:blip r:embed="rId2"/>
          <a:stretch>
            <a:fillRect/>
          </a:stretch>
        </p:blipFill>
        <p:spPr>
          <a:xfrm>
            <a:off x="7010400" y="3040104"/>
            <a:ext cx="2110831" cy="21108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441DC-39A8-9ED5-A5EE-9616C158B064}"/>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69408609-B3F7-9E7F-3207-620941308810}"/>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73FEAA83-4531-4914-3522-F2B8173BFA99}"/>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3C48AB11-4B26-66B5-945C-0FDEAC4D9A33}"/>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150AEA0C-DBDF-3767-7322-B0B5F75DCDEE}"/>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D3B65B6B-B7E8-C042-B16E-1EA3F79CC000}"/>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4094D6E6-EA0B-8AF8-23F2-3B5A8A0BBD6E}"/>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16795ABC-A645-80A0-D9F0-CE19CE6774EC}"/>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C3C94FF0-E25C-0044-7F7F-A12C7DBE1D49}"/>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A25260A8-D2EB-F999-36C2-EAF440BCF56A}"/>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A582BC9D-2051-4625-6893-16679DAB9E52}"/>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57A90359-BC51-581C-1F4E-1860687524D5}"/>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0C46E7FC-A6D6-26DF-2A81-694E0D4FAA46}"/>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383864C5-6156-D58D-25AF-89DBAC1EBC09}"/>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FEE67DBA-5821-8EC2-1670-FCEACC807442}"/>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EC6DC27E-1672-8647-123A-08527AC34183}"/>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1DD8E621-8A97-8B8A-F62D-519F1703B92F}"/>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05F5EB4F-9B08-D628-6D30-35FF27751D3B}"/>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91424F58-B249-B281-9783-2ADBB203BD1C}"/>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1690678F-1941-8D46-7FBC-C8F1BF2EC1A0}"/>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35511421-1716-E2F1-9FAF-8A0F6AB62E24}"/>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FC1832C9-196E-D45E-31CF-58A4C3B52298}"/>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92" name="PlaceHolder 1">
            <a:extLst>
              <a:ext uri="{FF2B5EF4-FFF2-40B4-BE49-F238E27FC236}">
                <a16:creationId xmlns:a16="http://schemas.microsoft.com/office/drawing/2014/main" id="{0561B6BE-BC42-963F-E1C0-2871DA866306}"/>
              </a:ext>
            </a:extLst>
          </p:cNvPr>
          <p:cNvSpPr>
            <a:spLocks noGrp="1"/>
          </p:cNvSpPr>
          <p:nvPr>
            <p:ph type="title"/>
          </p:nvPr>
        </p:nvSpPr>
        <p:spPr>
          <a:xfrm>
            <a:off x="1249680" y="586741"/>
            <a:ext cx="7746380" cy="3207462"/>
          </a:xfrm>
          <a:prstGeom prst="rect">
            <a:avLst/>
          </a:prstGeom>
          <a:noFill/>
          <a:ln w="0">
            <a:noFill/>
          </a:ln>
        </p:spPr>
        <p:txBody>
          <a:bodyPr lIns="91440" tIns="91440" rIns="91440" bIns="91440" anchor="b">
            <a:normAutofit/>
          </a:bodyPr>
          <a:lstStyle/>
          <a:p>
            <a:pPr lvl="0" latinLnBrk="1">
              <a:buSzPts val="1000"/>
              <a:tabLst>
                <a:tab pos="457200" algn="l"/>
              </a:tabLst>
            </a:pPr>
            <a: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t>L</a:t>
            </a:r>
            <a: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t>사는 수수료 기반 비즈니스 모델 운영 중이며</a:t>
            </a:r>
            <a: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t>, </a:t>
            </a:r>
            <a:b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br>
            <a: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t>최근 경쟁 심화로 전문가 이탈</a:t>
            </a:r>
            <a: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t>, </a:t>
            </a:r>
            <a: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t>고객 거래성사율 </a:t>
            </a:r>
            <a:b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br>
            <a: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t>저하</a:t>
            </a:r>
            <a:r>
              <a:rPr lang="ko-KR" altLang="en-US" sz="2500" kern="100" dirty="0">
                <a:effectLst/>
                <a:latin typeface="궁서" panose="02030600000101010101" pitchFamily="18" charset="-127"/>
                <a:ea typeface="궁서" panose="02030600000101010101" pitchFamily="18" charset="-127"/>
                <a:cs typeface="Times New Roman" panose="02020603050405020304" pitchFamily="18" charset="0"/>
              </a:rPr>
              <a:t>되어</a:t>
            </a:r>
            <a: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t> 수익구조 약화로 플랫폼 경쟁력 약화</a:t>
            </a:r>
            <a: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t> </a:t>
            </a:r>
            <a:r>
              <a:rPr lang="ko-KR" altLang="en-US" sz="2500" kern="100" dirty="0">
                <a:effectLst/>
                <a:latin typeface="궁서" panose="02030600000101010101" pitchFamily="18" charset="-127"/>
                <a:ea typeface="궁서" panose="02030600000101010101" pitchFamily="18" charset="-127"/>
                <a:cs typeface="Times New Roman" panose="02020603050405020304" pitchFamily="18" charset="0"/>
              </a:rPr>
              <a:t>상태</a:t>
            </a:r>
            <a:b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br>
            <a:b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br>
            <a: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t>거래 성사율을 높이고</a:t>
            </a:r>
            <a: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t>, </a:t>
            </a:r>
            <a: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t>수수료 정책을 최적화하여 </a:t>
            </a:r>
            <a:b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br>
            <a: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t>지속 가능한 구조 개선 필요</a:t>
            </a:r>
            <a:endParaRPr lang="fr-FR" sz="2500" b="0" strike="noStrike" spc="-1" dirty="0">
              <a:solidFill>
                <a:schemeClr val="dk1"/>
              </a:solidFill>
              <a:latin typeface="궁서" panose="02030600000101010101" pitchFamily="18" charset="-127"/>
              <a:ea typeface="궁서" panose="02030600000101010101" pitchFamily="18" charset="-127"/>
            </a:endParaRPr>
          </a:p>
        </p:txBody>
      </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D8046809-8995-2BBB-7FC4-FF2066971634}"/>
              </a:ext>
            </a:extLst>
          </p:cNvPr>
          <p:cNvPicPr>
            <a:picLocks noChangeAspect="1"/>
          </p:cNvPicPr>
          <p:nvPr/>
        </p:nvPicPr>
        <p:blipFill>
          <a:blip r:embed="rId2"/>
          <a:stretch>
            <a:fillRect/>
          </a:stretch>
        </p:blipFill>
        <p:spPr>
          <a:xfrm>
            <a:off x="7010400" y="3040104"/>
            <a:ext cx="2110831" cy="2110831"/>
          </a:xfrm>
          <a:prstGeom prst="rect">
            <a:avLst/>
          </a:prstGeom>
        </p:spPr>
      </p:pic>
      <p:sp>
        <p:nvSpPr>
          <p:cNvPr id="24" name="Google Shape;664;p50">
            <a:extLst>
              <a:ext uri="{FF2B5EF4-FFF2-40B4-BE49-F238E27FC236}">
                <a16:creationId xmlns:a16="http://schemas.microsoft.com/office/drawing/2014/main" id="{D8D59562-3C9D-9EB3-AC79-351E88270B77}"/>
              </a:ext>
            </a:extLst>
          </p:cNvPr>
          <p:cNvSpPr/>
          <p:nvPr/>
        </p:nvSpPr>
        <p:spPr>
          <a:xfrm>
            <a:off x="343337" y="1662181"/>
            <a:ext cx="531524" cy="470379"/>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26" name="Google Shape;664;p50">
            <a:extLst>
              <a:ext uri="{FF2B5EF4-FFF2-40B4-BE49-F238E27FC236}">
                <a16:creationId xmlns:a16="http://schemas.microsoft.com/office/drawing/2014/main" id="{707C2699-D9E7-B8BA-E6B5-325E3B74BE8C}"/>
              </a:ext>
            </a:extLst>
          </p:cNvPr>
          <p:cNvSpPr/>
          <p:nvPr/>
        </p:nvSpPr>
        <p:spPr>
          <a:xfrm>
            <a:off x="347057" y="3026342"/>
            <a:ext cx="531524" cy="470379"/>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Tree>
    <p:extLst>
      <p:ext uri="{BB962C8B-B14F-4D97-AF65-F5344CB8AC3E}">
        <p14:creationId xmlns:p14="http://schemas.microsoft.com/office/powerpoint/2010/main" val="1558115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89342-9BC3-7DC1-4EC7-FB3357AE693C}"/>
            </a:ext>
          </a:extLst>
        </p:cNvPr>
        <p:cNvGrpSpPr/>
        <p:nvPr/>
      </p:nvGrpSpPr>
      <p:grpSpPr>
        <a:xfrm>
          <a:off x="0" y="0"/>
          <a:ext cx="0" cy="0"/>
          <a:chOff x="0" y="0"/>
          <a:chExt cx="0" cy="0"/>
        </a:xfrm>
      </p:grpSpPr>
      <p:sp>
        <p:nvSpPr>
          <p:cNvPr id="292" name="PlaceHolder 1">
            <a:extLst>
              <a:ext uri="{FF2B5EF4-FFF2-40B4-BE49-F238E27FC236}">
                <a16:creationId xmlns:a16="http://schemas.microsoft.com/office/drawing/2014/main" id="{A2338E7F-7D5A-4224-E295-43518211D2E2}"/>
              </a:ext>
            </a:extLst>
          </p:cNvPr>
          <p:cNvSpPr>
            <a:spLocks noGrp="1"/>
          </p:cNvSpPr>
          <p:nvPr>
            <p:ph type="title"/>
          </p:nvPr>
        </p:nvSpPr>
        <p:spPr>
          <a:xfrm>
            <a:off x="714240" y="2381400"/>
            <a:ext cx="5366892" cy="91404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5000" b="1" strike="noStrike" spc="-1" dirty="0">
                <a:solidFill>
                  <a:schemeClr val="dk1"/>
                </a:solidFill>
                <a:latin typeface="Outfit"/>
              </a:rPr>
              <a:t>L</a:t>
            </a:r>
            <a:r>
              <a:rPr lang="ko-KR" altLang="en-US" sz="5000" b="1" strike="noStrike" spc="-1" dirty="0">
                <a:solidFill>
                  <a:schemeClr val="dk1"/>
                </a:solidFill>
                <a:latin typeface="Outfit"/>
              </a:rPr>
              <a:t>사 </a:t>
            </a:r>
            <a:r>
              <a:rPr lang="ko-KR" altLang="en-US" sz="5000" b="1" strike="noStrike" spc="-1" dirty="0" err="1">
                <a:solidFill>
                  <a:schemeClr val="dk1"/>
                </a:solidFill>
                <a:latin typeface="Outfit"/>
              </a:rPr>
              <a:t>고객니즈분석</a:t>
            </a:r>
            <a:endParaRPr lang="fr-FR" sz="5000" b="0" strike="noStrike" spc="-1" dirty="0">
              <a:solidFill>
                <a:schemeClr val="dk1"/>
              </a:solidFill>
              <a:latin typeface="Arial"/>
            </a:endParaRPr>
          </a:p>
        </p:txBody>
      </p:sp>
      <p:sp>
        <p:nvSpPr>
          <p:cNvPr id="293" name="PlaceHolder 2">
            <a:extLst>
              <a:ext uri="{FF2B5EF4-FFF2-40B4-BE49-F238E27FC236}">
                <a16:creationId xmlns:a16="http://schemas.microsoft.com/office/drawing/2014/main" id="{DB134B16-8BED-12C7-AF46-4476B4880F2F}"/>
              </a:ext>
            </a:extLst>
          </p:cNvPr>
          <p:cNvSpPr>
            <a:spLocks noGrp="1"/>
          </p:cNvSpPr>
          <p:nvPr>
            <p:ph type="title"/>
          </p:nvPr>
        </p:nvSpPr>
        <p:spPr>
          <a:xfrm>
            <a:off x="714240" y="1467000"/>
            <a:ext cx="1266480" cy="91404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6000" b="1" strike="noStrike" spc="-1" dirty="0">
                <a:solidFill>
                  <a:schemeClr val="dk1"/>
                </a:solidFill>
                <a:latin typeface="Outfit"/>
                <a:ea typeface="Outfit"/>
              </a:rPr>
              <a:t>02</a:t>
            </a:r>
            <a:endParaRPr lang="fr-FR" sz="6000" b="0" strike="noStrike" spc="-1" dirty="0">
              <a:solidFill>
                <a:schemeClr val="dk1"/>
              </a:solidFill>
              <a:latin typeface="Arial"/>
            </a:endParaRPr>
          </a:p>
        </p:txBody>
      </p:sp>
      <p:cxnSp>
        <p:nvCxnSpPr>
          <p:cNvPr id="313" name="Google Shape;450;p40">
            <a:extLst>
              <a:ext uri="{FF2B5EF4-FFF2-40B4-BE49-F238E27FC236}">
                <a16:creationId xmlns:a16="http://schemas.microsoft.com/office/drawing/2014/main" id="{CCEA3F96-1647-0B2E-DB41-40B6DA008DDE}"/>
              </a:ext>
            </a:extLst>
          </p:cNvPr>
          <p:cNvCxnSpPr/>
          <p:nvPr/>
        </p:nvCxnSpPr>
        <p:spPr>
          <a:xfrm>
            <a:off x="840960" y="1385640"/>
            <a:ext cx="374040" cy="360"/>
          </a:xfrm>
          <a:prstGeom prst="straightConnector1">
            <a:avLst/>
          </a:prstGeom>
          <a:ln w="19050">
            <a:solidFill>
              <a:srgbClr val="384655"/>
            </a:solidFill>
            <a:round/>
          </a:ln>
        </p:spPr>
      </p:cxn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5846B7FD-03BF-9A2A-AD54-71800EA1860B}"/>
              </a:ext>
            </a:extLst>
          </p:cNvPr>
          <p:cNvPicPr>
            <a:picLocks noChangeAspect="1"/>
          </p:cNvPicPr>
          <p:nvPr/>
        </p:nvPicPr>
        <p:blipFill>
          <a:blip r:embed="rId2"/>
          <a:stretch>
            <a:fillRect/>
          </a:stretch>
        </p:blipFill>
        <p:spPr>
          <a:xfrm>
            <a:off x="7010400" y="3040104"/>
            <a:ext cx="2110831" cy="2110831"/>
          </a:xfrm>
          <a:prstGeom prst="rect">
            <a:avLst/>
          </a:prstGeom>
        </p:spPr>
      </p:pic>
    </p:spTree>
    <p:extLst>
      <p:ext uri="{BB962C8B-B14F-4D97-AF65-F5344CB8AC3E}">
        <p14:creationId xmlns:p14="http://schemas.microsoft.com/office/powerpoint/2010/main" val="70375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59F23-E7E1-904A-E911-F9FBC542D8B0}"/>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EB71AB2E-8028-38A1-2C39-E734A7F14374}"/>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3E8C1177-B69D-F707-8275-50C4B4C70CE4}"/>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F66AF54E-DEA4-71D1-E90B-57AFCCDB3F11}"/>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7DF2C832-C4B9-DAB5-7E63-09142F44F03D}"/>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407157A4-82ED-B55B-038D-EEDE35B082C8}"/>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06A6F1EB-F913-AC9D-CFCF-57D7E8A8C199}"/>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4D5625D4-1FA5-89B6-6854-13688E7AB401}"/>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30849588-DF43-40B8-672F-6FAC8E19A60D}"/>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453E9099-2172-533A-C7D5-355B93854BC5}"/>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59330B71-33AA-308A-097B-B69CB4BBF675}"/>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5742747C-EB90-AED0-A248-7111836E8327}"/>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3ADA050E-CF55-5F31-8175-A4045CE5712A}"/>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CF268522-5E38-1308-1A62-ED61E623F388}"/>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25C42C0B-0B4A-1111-5115-A27483496A66}"/>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3564AF09-D38C-E049-D4B7-A8DFF8AB8C14}"/>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73318BE9-9CC3-6EE3-2721-10628FA01D36}"/>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3E8C792F-2BA1-9026-496D-86BDDE352249}"/>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32AB9200-267B-103B-349B-4869069146A9}"/>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3190CF26-2742-F630-5450-64A223FD3057}"/>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F4BAC24B-A637-A122-52AB-1B4BC675A956}"/>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BD599183-C96A-1760-6419-4B758FBFB866}"/>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92" name="PlaceHolder 1">
            <a:extLst>
              <a:ext uri="{FF2B5EF4-FFF2-40B4-BE49-F238E27FC236}">
                <a16:creationId xmlns:a16="http://schemas.microsoft.com/office/drawing/2014/main" id="{384E015B-9D22-11F5-D2A2-3042EE0E4CC8}"/>
              </a:ext>
            </a:extLst>
          </p:cNvPr>
          <p:cNvSpPr>
            <a:spLocks noGrp="1"/>
          </p:cNvSpPr>
          <p:nvPr>
            <p:ph type="title"/>
          </p:nvPr>
        </p:nvSpPr>
        <p:spPr>
          <a:xfrm>
            <a:off x="1249680" y="289377"/>
            <a:ext cx="7746380" cy="3207462"/>
          </a:xfrm>
          <a:prstGeom prst="rect">
            <a:avLst/>
          </a:prstGeom>
          <a:noFill/>
          <a:ln w="0">
            <a:noFill/>
          </a:ln>
        </p:spPr>
        <p:txBody>
          <a:bodyPr lIns="91440" tIns="91440" rIns="91440" bIns="91440" anchor="b">
            <a:normAutofit/>
          </a:bodyPr>
          <a:lstStyle/>
          <a:p>
            <a:pPr lvl="0" latinLnBrk="1">
              <a:buSzPts val="1000"/>
              <a:tabLst>
                <a:tab pos="457200" algn="l"/>
              </a:tabLst>
            </a:pPr>
            <a:r>
              <a:rPr lang="ko-KR" altLang="en-US"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고객은 신뢰할 수 있는 플랫폼에서 전문가 매칭과</a:t>
            </a:r>
            <a:br>
              <a:rPr lang="en-US" altLang="ko-KR"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합리적인 가격을 원함</a:t>
            </a:r>
            <a:br>
              <a:rPr lang="en-US" altLang="ko-KR"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br>
              <a:rPr lang="en-US" altLang="ko-KR"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br>
              <a:rPr lang="en-US" altLang="ko-KR"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전문가는 </a:t>
            </a:r>
            <a:r>
              <a:rPr lang="ko-KR" altLang="en-US" sz="2500" b="0" strike="noStrike" kern="100" spc="-1" dirty="0" err="1">
                <a:solidFill>
                  <a:schemeClr val="dk1"/>
                </a:solidFill>
                <a:latin typeface="궁서" panose="02030600000101010101" pitchFamily="18" charset="-127"/>
                <a:ea typeface="궁서" panose="02030600000101010101" pitchFamily="18" charset="-127"/>
                <a:cs typeface="Times New Roman" panose="02020603050405020304" pitchFamily="18" charset="0"/>
              </a:rPr>
              <a:t>적정수수료율을</a:t>
            </a:r>
            <a:r>
              <a:rPr lang="ko-KR" altLang="en-US"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 기반으로 이용자 증대 희망</a:t>
            </a:r>
            <a:endParaRPr lang="fr-FR" sz="2500" b="0" strike="noStrike" spc="-1" dirty="0">
              <a:solidFill>
                <a:schemeClr val="dk1"/>
              </a:solidFill>
              <a:latin typeface="궁서" panose="02030600000101010101" pitchFamily="18" charset="-127"/>
              <a:ea typeface="궁서" panose="02030600000101010101" pitchFamily="18" charset="-127"/>
            </a:endParaRPr>
          </a:p>
        </p:txBody>
      </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0D6CB654-4F34-9BDA-1848-D39421FE885E}"/>
              </a:ext>
            </a:extLst>
          </p:cNvPr>
          <p:cNvPicPr>
            <a:picLocks noChangeAspect="1"/>
          </p:cNvPicPr>
          <p:nvPr/>
        </p:nvPicPr>
        <p:blipFill>
          <a:blip r:embed="rId2"/>
          <a:stretch>
            <a:fillRect/>
          </a:stretch>
        </p:blipFill>
        <p:spPr>
          <a:xfrm>
            <a:off x="7010400" y="3040104"/>
            <a:ext cx="2110831" cy="2110831"/>
          </a:xfrm>
          <a:prstGeom prst="rect">
            <a:avLst/>
          </a:prstGeom>
        </p:spPr>
      </p:pic>
      <p:sp>
        <p:nvSpPr>
          <p:cNvPr id="26" name="Google Shape;664;p50">
            <a:extLst>
              <a:ext uri="{FF2B5EF4-FFF2-40B4-BE49-F238E27FC236}">
                <a16:creationId xmlns:a16="http://schemas.microsoft.com/office/drawing/2014/main" id="{024C8014-0D9A-6224-51A9-CE1C82F3292B}"/>
              </a:ext>
            </a:extLst>
          </p:cNvPr>
          <p:cNvSpPr/>
          <p:nvPr/>
        </p:nvSpPr>
        <p:spPr>
          <a:xfrm>
            <a:off x="343337" y="1662181"/>
            <a:ext cx="531524" cy="470379"/>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27" name="Google Shape;664;p50">
            <a:extLst>
              <a:ext uri="{FF2B5EF4-FFF2-40B4-BE49-F238E27FC236}">
                <a16:creationId xmlns:a16="http://schemas.microsoft.com/office/drawing/2014/main" id="{5D0B278F-64B2-FC6D-563F-84045F6227CD}"/>
              </a:ext>
            </a:extLst>
          </p:cNvPr>
          <p:cNvSpPr/>
          <p:nvPr/>
        </p:nvSpPr>
        <p:spPr>
          <a:xfrm>
            <a:off x="413962" y="2966871"/>
            <a:ext cx="531524" cy="470379"/>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Tree>
    <p:extLst>
      <p:ext uri="{BB962C8B-B14F-4D97-AF65-F5344CB8AC3E}">
        <p14:creationId xmlns:p14="http://schemas.microsoft.com/office/powerpoint/2010/main" val="4180704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FF0DD-65B7-BD16-78C1-2FB372331CBA}"/>
            </a:ext>
          </a:extLst>
        </p:cNvPr>
        <p:cNvGrpSpPr/>
        <p:nvPr/>
      </p:nvGrpSpPr>
      <p:grpSpPr>
        <a:xfrm>
          <a:off x="0" y="0"/>
          <a:ext cx="0" cy="0"/>
          <a:chOff x="0" y="0"/>
          <a:chExt cx="0" cy="0"/>
        </a:xfrm>
      </p:grpSpPr>
      <p:pic>
        <p:nvPicPr>
          <p:cNvPr id="25" name="그림 24" descr="텍스트, 스크린샷, 번호, 라인이(가) 표시된 사진&#10;&#10;AI가 생성한 콘텐츠는 부정확할 수 있습니다.">
            <a:extLst>
              <a:ext uri="{FF2B5EF4-FFF2-40B4-BE49-F238E27FC236}">
                <a16:creationId xmlns:a16="http://schemas.microsoft.com/office/drawing/2014/main" id="{F1AC84F9-1958-6BCA-AA1F-AFE5D53E88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3726" y="1963064"/>
            <a:ext cx="4250495" cy="3187871"/>
          </a:xfrm>
          <a:prstGeom prst="rect">
            <a:avLst/>
          </a:prstGeom>
        </p:spPr>
      </p:pic>
      <p:pic>
        <p:nvPicPr>
          <p:cNvPr id="26" name="그림 25">
            <a:extLst>
              <a:ext uri="{FF2B5EF4-FFF2-40B4-BE49-F238E27FC236}">
                <a16:creationId xmlns:a16="http://schemas.microsoft.com/office/drawing/2014/main" id="{9922D113-B27A-D368-3FCD-61E48B2234DE}"/>
              </a:ext>
            </a:extLst>
          </p:cNvPr>
          <p:cNvPicPr>
            <a:picLocks noChangeAspect="1"/>
          </p:cNvPicPr>
          <p:nvPr/>
        </p:nvPicPr>
        <p:blipFill>
          <a:blip r:embed="rId3"/>
          <a:stretch>
            <a:fillRect/>
          </a:stretch>
        </p:blipFill>
        <p:spPr>
          <a:xfrm>
            <a:off x="93145" y="2110789"/>
            <a:ext cx="3720571" cy="2901831"/>
          </a:xfrm>
          <a:prstGeom prst="rect">
            <a:avLst/>
          </a:prstGeom>
        </p:spPr>
      </p:pic>
      <p:grpSp>
        <p:nvGrpSpPr>
          <p:cNvPr id="2" name="Google Shape;347;p36">
            <a:extLst>
              <a:ext uri="{FF2B5EF4-FFF2-40B4-BE49-F238E27FC236}">
                <a16:creationId xmlns:a16="http://schemas.microsoft.com/office/drawing/2014/main" id="{D3C09FBC-FBB4-86DE-5D10-32BACC495C62}"/>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4F45A1AD-48A6-5E53-A8B7-E2B1D587DA66}"/>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324768B2-C7B2-8AB0-471D-735A6396AD9C}"/>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FA97D5F0-CA42-06A3-BB0A-BE784D74878F}"/>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B9167B0F-69A9-EC54-3299-3FE31791DC85}"/>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532E9091-5965-A0A8-2644-F7B25746FE79}"/>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DFA38BF8-3AF7-FBEE-67A8-D0A74DAF0DAD}"/>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98EBBAB2-10A2-B1B4-D5FE-36C097DEEA86}"/>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A542B0C4-B46E-E2D0-BD3F-078EBE7D7458}"/>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B0BC1260-01FD-A928-4033-253BC74120D2}"/>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6A69498F-45DC-ADA1-97DF-31D3477A5D0B}"/>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3C708D32-E1D3-AFF2-1FAF-CD54FE7C99F3}"/>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BAEEF44C-CFB3-CC4D-32ED-A82C555EDD7D}"/>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A3613C56-2647-E00A-2F7C-B926D6AF8F4C}"/>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FBE3CE54-1834-32A9-CCF7-B08892D891BF}"/>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86D92129-4727-1656-AAB4-AA26B5C7D9E4}"/>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EA90B9FE-BCC7-8BAB-80A0-F6AF6F680997}"/>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F1B8A501-7D1B-E953-218F-4A0C657AFEC7}"/>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ABD51A6E-2B6C-EE20-5121-952B75EB876D}"/>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F3D0D2E5-C2B7-FAB5-9A27-D9D65E862BAF}"/>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5F20B882-01F9-7A8F-A14A-097FB868FFC5}"/>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DC44F83A-8792-47CD-3B1C-4C07EA993BCF}"/>
              </a:ext>
            </a:extLst>
          </p:cNvPr>
          <p:cNvPicPr>
            <a:picLocks noChangeAspect="1"/>
          </p:cNvPicPr>
          <p:nvPr/>
        </p:nvPicPr>
        <p:blipFill>
          <a:blip r:embed="rId4"/>
          <a:stretch>
            <a:fillRect/>
          </a:stretch>
        </p:blipFill>
        <p:spPr>
          <a:xfrm>
            <a:off x="7010400" y="3040104"/>
            <a:ext cx="2110831" cy="2110831"/>
          </a:xfrm>
          <a:prstGeom prst="rect">
            <a:avLst/>
          </a:prstGeom>
        </p:spPr>
      </p:pic>
      <p:sp>
        <p:nvSpPr>
          <p:cNvPr id="24" name="TextBox 23">
            <a:extLst>
              <a:ext uri="{FF2B5EF4-FFF2-40B4-BE49-F238E27FC236}">
                <a16:creationId xmlns:a16="http://schemas.microsoft.com/office/drawing/2014/main" id="{9CBD42D5-7F56-D41A-0547-385E115F6D68}"/>
              </a:ext>
            </a:extLst>
          </p:cNvPr>
          <p:cNvSpPr txBox="1"/>
          <p:nvPr/>
        </p:nvSpPr>
        <p:spPr>
          <a:xfrm>
            <a:off x="1092820" y="685923"/>
            <a:ext cx="7899670" cy="1200329"/>
          </a:xfrm>
          <a:prstGeom prst="rect">
            <a:avLst/>
          </a:prstGeom>
          <a:noFill/>
        </p:spPr>
        <p:txBody>
          <a:bodyPr wrap="square" rtlCol="0">
            <a:spAutoFit/>
          </a:bodyPr>
          <a:lstStyle/>
          <a:p>
            <a:r>
              <a:rPr lang="ko-KR" altLang="en-US" dirty="0"/>
              <a:t>▣ </a:t>
            </a:r>
            <a:r>
              <a:rPr lang="en-US" altLang="ko-KR" dirty="0"/>
              <a:t>Customer_data.csv </a:t>
            </a:r>
            <a:r>
              <a:rPr lang="ko-KR" altLang="en-US" dirty="0"/>
              <a:t>활용하여 </a:t>
            </a:r>
            <a:r>
              <a:rPr lang="ko-KR" altLang="en-US" dirty="0" err="1"/>
              <a:t>회원상태값을</a:t>
            </a:r>
            <a:r>
              <a:rPr lang="ko-KR" altLang="en-US" dirty="0"/>
              <a:t> 기준으로 </a:t>
            </a:r>
            <a:r>
              <a:rPr lang="ko-KR" altLang="en-US" dirty="0" err="1"/>
              <a:t>타겟값을</a:t>
            </a:r>
            <a:r>
              <a:rPr lang="ko-KR" altLang="en-US" dirty="0"/>
              <a:t> 설정</a:t>
            </a:r>
            <a:endParaRPr lang="en-US" altLang="ko-KR" dirty="0"/>
          </a:p>
          <a:p>
            <a:r>
              <a:rPr lang="ko-KR" altLang="en-US" dirty="0"/>
              <a:t>▣ </a:t>
            </a:r>
            <a:r>
              <a:rPr lang="ko-KR" altLang="en-US" dirty="0" err="1"/>
              <a:t>정규식</a:t>
            </a:r>
            <a:r>
              <a:rPr lang="ko-KR" altLang="en-US" dirty="0"/>
              <a:t> 사용하여 </a:t>
            </a:r>
            <a:r>
              <a:rPr lang="ko-KR" altLang="en-US" dirty="0" err="1"/>
              <a:t>사용기기컬럼</a:t>
            </a:r>
            <a:r>
              <a:rPr lang="ko-KR" altLang="en-US" dirty="0"/>
              <a:t> </a:t>
            </a:r>
            <a:r>
              <a:rPr lang="ko-KR" altLang="en-US" dirty="0" err="1"/>
              <a:t>전처리</a:t>
            </a:r>
            <a:endParaRPr lang="en-US" altLang="ko-KR" dirty="0"/>
          </a:p>
          <a:p>
            <a:r>
              <a:rPr lang="ko-KR" altLang="en-US" dirty="0"/>
              <a:t>▣</a:t>
            </a:r>
            <a:r>
              <a:rPr lang="en-US" altLang="ko-KR" dirty="0"/>
              <a:t> </a:t>
            </a:r>
            <a:r>
              <a:rPr lang="en-US" altLang="ko-KR" dirty="0" err="1"/>
              <a:t>xgboost</a:t>
            </a:r>
            <a:r>
              <a:rPr lang="ko-KR" altLang="en-US" dirty="0"/>
              <a:t>활용하여 정확도 </a:t>
            </a:r>
            <a:r>
              <a:rPr lang="en-US" altLang="ko-KR" dirty="0"/>
              <a:t>0.96 </a:t>
            </a:r>
            <a:r>
              <a:rPr lang="ko-KR" altLang="en-US" dirty="0"/>
              <a:t>구현</a:t>
            </a:r>
            <a:endParaRPr lang="en-US" altLang="ko-KR" dirty="0"/>
          </a:p>
          <a:p>
            <a:r>
              <a:rPr lang="ko-KR" altLang="en-US" dirty="0"/>
              <a:t>▣ 트리 및 피처중요도를 통해 분석결과 확인</a:t>
            </a:r>
            <a:endParaRPr lang="en-US" altLang="ko-KR" dirty="0"/>
          </a:p>
        </p:txBody>
      </p:sp>
    </p:spTree>
    <p:extLst>
      <p:ext uri="{BB962C8B-B14F-4D97-AF65-F5344CB8AC3E}">
        <p14:creationId xmlns:p14="http://schemas.microsoft.com/office/powerpoint/2010/main" val="541784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EF75C-3460-1136-AA60-D227959737A5}"/>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BBDCC5E7-2927-6024-0789-38739C5FA0E4}"/>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8478FB2A-3945-C1A9-FEE9-36CAA36C69FC}"/>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4A3DA704-2654-9B69-0216-CDC7B81A6D44}"/>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E69D6D1E-6EF3-8072-4B90-A787AFEBB26D}"/>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B84A1FD9-1F33-66D8-417F-93420E162261}"/>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8EAAC36A-A488-1A14-013D-686E89941960}"/>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4B236798-1B14-9457-DA00-496542C62CDC}"/>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615347D9-2598-94B4-94DA-1CF1817FBEAB}"/>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AA0EB515-0866-6197-3D68-4EF6080A9959}"/>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72B0B7C3-0CFA-68EF-E184-9093139EB20D}"/>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6250BE67-CE6F-43F0-4BCF-CA12F5BAC134}"/>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6FEE0C19-2188-0996-8BDB-68838AF63486}"/>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B17C48EC-7440-2C80-EA74-FB23E935717B}"/>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FF9AA276-6656-6550-9B97-7BFE2A1EDE3F}"/>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11DFC466-055C-391B-8EB6-275AC5109337}"/>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C0EC303B-4F38-BE8E-E56F-9B8BD6F201DE}"/>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524F96E4-61F3-EB01-F0B7-8EC33023E96B}"/>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C601F18F-0CC8-BA4C-A019-77E43B12FBEF}"/>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79672190-1E88-FD04-D224-7E33242FC5BE}"/>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87DE4A51-8FA4-2B53-7DC4-CA37BBC3292B}"/>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0D027955-34F7-0106-2414-DDD21B7E6634}"/>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1A9209B2-029C-6DFE-2676-6E7F1407D324}"/>
              </a:ext>
            </a:extLst>
          </p:cNvPr>
          <p:cNvPicPr>
            <a:picLocks noChangeAspect="1"/>
          </p:cNvPicPr>
          <p:nvPr/>
        </p:nvPicPr>
        <p:blipFill>
          <a:blip r:embed="rId2"/>
          <a:stretch>
            <a:fillRect/>
          </a:stretch>
        </p:blipFill>
        <p:spPr>
          <a:xfrm>
            <a:off x="7010400" y="3040104"/>
            <a:ext cx="2110831" cy="2110831"/>
          </a:xfrm>
          <a:prstGeom prst="rect">
            <a:avLst/>
          </a:prstGeom>
        </p:spPr>
      </p:pic>
      <p:pic>
        <p:nvPicPr>
          <p:cNvPr id="25" name="그림 24">
            <a:extLst>
              <a:ext uri="{FF2B5EF4-FFF2-40B4-BE49-F238E27FC236}">
                <a16:creationId xmlns:a16="http://schemas.microsoft.com/office/drawing/2014/main" id="{79A52C9B-A378-92CF-A522-617F4F3551A8}"/>
              </a:ext>
            </a:extLst>
          </p:cNvPr>
          <p:cNvPicPr>
            <a:picLocks noChangeAspect="1"/>
          </p:cNvPicPr>
          <p:nvPr/>
        </p:nvPicPr>
        <p:blipFill>
          <a:blip r:embed="rId3"/>
          <a:stretch>
            <a:fillRect/>
          </a:stretch>
        </p:blipFill>
        <p:spPr>
          <a:xfrm>
            <a:off x="1156257" y="2249631"/>
            <a:ext cx="5319728" cy="2893869"/>
          </a:xfrm>
          <a:prstGeom prst="rect">
            <a:avLst/>
          </a:prstGeom>
        </p:spPr>
      </p:pic>
      <p:sp>
        <p:nvSpPr>
          <p:cNvPr id="26" name="TextBox 25">
            <a:extLst>
              <a:ext uri="{FF2B5EF4-FFF2-40B4-BE49-F238E27FC236}">
                <a16:creationId xmlns:a16="http://schemas.microsoft.com/office/drawing/2014/main" id="{F12AB83D-3390-19F9-4EE9-F6467E0E0B0C}"/>
              </a:ext>
            </a:extLst>
          </p:cNvPr>
          <p:cNvSpPr txBox="1"/>
          <p:nvPr/>
        </p:nvSpPr>
        <p:spPr>
          <a:xfrm>
            <a:off x="1092820" y="187832"/>
            <a:ext cx="7899670" cy="2031325"/>
          </a:xfrm>
          <a:prstGeom prst="rect">
            <a:avLst/>
          </a:prstGeom>
          <a:noFill/>
        </p:spPr>
        <p:txBody>
          <a:bodyPr wrap="square" rtlCol="0">
            <a:spAutoFit/>
          </a:bodyPr>
          <a:lstStyle/>
          <a:p>
            <a:r>
              <a:rPr lang="ko-KR" altLang="en-US" dirty="0"/>
              <a:t>▣ 총구매금액 및 추가결제금액이 높을수록 탈퇴가능성 낮음</a:t>
            </a:r>
            <a:r>
              <a:rPr lang="en-US" altLang="ko-KR" dirty="0"/>
              <a:t>(</a:t>
            </a:r>
            <a:r>
              <a:rPr lang="ko-KR" altLang="en-US" dirty="0"/>
              <a:t>당연한 결과</a:t>
            </a:r>
            <a:r>
              <a:rPr lang="en-US" altLang="ko-KR" dirty="0"/>
              <a:t>). </a:t>
            </a:r>
            <a:r>
              <a:rPr lang="ko-KR" altLang="en-US" dirty="0"/>
              <a:t>총구매금액과 추가결제금액을 통해 고객 충성도 지표로 사용 가능</a:t>
            </a:r>
            <a:endParaRPr lang="en-US" altLang="ko-KR" dirty="0"/>
          </a:p>
          <a:p>
            <a:r>
              <a:rPr lang="ko-KR" altLang="en-US" dirty="0"/>
              <a:t>▣ 빨간색은 해당변수의 값이 높고</a:t>
            </a:r>
            <a:r>
              <a:rPr lang="en-US" altLang="ko-KR" dirty="0"/>
              <a:t>,</a:t>
            </a:r>
            <a:r>
              <a:rPr lang="ko-KR" altLang="en-US" dirty="0"/>
              <a:t>파란색은 값이 낮은 경우이며</a:t>
            </a:r>
            <a:r>
              <a:rPr lang="en-US" altLang="ko-KR" dirty="0"/>
              <a:t>, </a:t>
            </a:r>
            <a:r>
              <a:rPr lang="ko-KR" altLang="en-US" dirty="0"/>
              <a:t>회색은 범주형 변수를 의미</a:t>
            </a:r>
            <a:r>
              <a:rPr lang="en-US" altLang="ko-KR" dirty="0"/>
              <a:t>. </a:t>
            </a:r>
            <a:r>
              <a:rPr lang="ko-KR" altLang="en-US" dirty="0"/>
              <a:t>정상회원</a:t>
            </a:r>
            <a:r>
              <a:rPr lang="en-US" altLang="ko-KR" dirty="0"/>
              <a:t>:0, </a:t>
            </a:r>
            <a:r>
              <a:rPr lang="ko-KR" altLang="en-US" dirty="0"/>
              <a:t>탈퇴</a:t>
            </a:r>
            <a:r>
              <a:rPr lang="en-US" altLang="ko-KR" dirty="0"/>
              <a:t>:1</a:t>
            </a:r>
            <a:r>
              <a:rPr lang="ko-KR" altLang="en-US" dirty="0"/>
              <a:t>로서 분류하고자 하는 타겟을 </a:t>
            </a:r>
            <a:r>
              <a:rPr lang="en-US" altLang="ko-KR" dirty="0"/>
              <a:t>1</a:t>
            </a:r>
            <a:r>
              <a:rPr lang="ko-KR" altLang="en-US" dirty="0"/>
              <a:t>로 지정</a:t>
            </a:r>
            <a:endParaRPr lang="en-US" altLang="ko-KR" dirty="0"/>
          </a:p>
          <a:p>
            <a:r>
              <a:rPr lang="ko-KR" altLang="en-US" dirty="0"/>
              <a:t>▣</a:t>
            </a:r>
            <a:r>
              <a:rPr lang="en-US" altLang="ko-KR" dirty="0"/>
              <a:t> </a:t>
            </a:r>
            <a:r>
              <a:rPr lang="ko-KR" altLang="en-US" dirty="0"/>
              <a:t>나이의 경우 구매금액이 낮은 고객들은 파란색으로 표시되며 오른쪽에 위치하여 탈퇴회원으로 예측</a:t>
            </a:r>
            <a:endParaRPr lang="en-US" altLang="ko-KR" dirty="0"/>
          </a:p>
          <a:p>
            <a:r>
              <a:rPr lang="ko-KR" altLang="en-US" dirty="0"/>
              <a:t>▣</a:t>
            </a:r>
            <a:r>
              <a:rPr lang="en-US" altLang="ko-KR" dirty="0"/>
              <a:t> </a:t>
            </a:r>
            <a:r>
              <a:rPr lang="ko-KR" altLang="en-US" dirty="0"/>
              <a:t>사용</a:t>
            </a:r>
            <a:r>
              <a:rPr lang="en-US" altLang="ko-KR" dirty="0"/>
              <a:t>OS</a:t>
            </a:r>
            <a:r>
              <a:rPr lang="ko-KR" altLang="en-US" dirty="0"/>
              <a:t>와 유입경로는 범주형 변수로서 별도 분석 </a:t>
            </a:r>
            <a:endParaRPr lang="en-US" altLang="ko-KR" dirty="0"/>
          </a:p>
        </p:txBody>
      </p:sp>
    </p:spTree>
    <p:extLst>
      <p:ext uri="{BB962C8B-B14F-4D97-AF65-F5344CB8AC3E}">
        <p14:creationId xmlns:p14="http://schemas.microsoft.com/office/powerpoint/2010/main" val="2981949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6841F-59CD-0D77-E95B-9684CF0582CA}"/>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A8B4A57B-D96B-0C8B-E946-456F90BC40C2}"/>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345C94F6-9077-5D56-B805-D64DF5309A86}"/>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D2107848-F0B4-9B9B-2F29-6AA877BE029E}"/>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1F45C3D3-1667-BFF0-F649-C526DF00DC00}"/>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E9E377C9-AB44-6764-212D-FA893A96E445}"/>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BBB3979E-2EF2-3123-65E8-C9058ED18D7D}"/>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B8C6F702-D473-A4CB-8E9C-4E286D213271}"/>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ED16D95F-5323-3AAF-FDB9-33736BBA2388}"/>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B704E7A9-CB0E-1588-B613-32B7F75A9131}"/>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6419F6F8-1B4E-D8D4-05C8-98D0DDA93F77}"/>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149BC621-FEE2-FDC7-32C3-EEB82A4A36D8}"/>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36EAAE97-2C20-7F74-1AE6-0639801EFAA1}"/>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6FF8306C-3C4D-EBAB-5BFA-770E5DEE59FC}"/>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42714727-C7D7-DFDE-C76A-DD4DF4C2C40A}"/>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3FDC1E21-48CA-C20C-D3EB-13AA64EAB998}"/>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CD7F416E-EBBB-E85F-9338-D37B5A74797D}"/>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2D5AC2A9-0507-6844-C82C-4E1B861A6C8D}"/>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7379A663-C427-6999-913B-83BAD1B1520F}"/>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54E9A9BB-8513-8992-9014-D3714778FA19}"/>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51748277-1A66-E789-2BC2-63AB4619B27B}"/>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100E5D03-D5E2-4A19-7811-6A57F673B992}"/>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92FE7786-BABF-97FC-327E-F77AB9F7CF41}"/>
              </a:ext>
            </a:extLst>
          </p:cNvPr>
          <p:cNvPicPr>
            <a:picLocks noChangeAspect="1"/>
          </p:cNvPicPr>
          <p:nvPr/>
        </p:nvPicPr>
        <p:blipFill>
          <a:blip r:embed="rId2"/>
          <a:stretch>
            <a:fillRect/>
          </a:stretch>
        </p:blipFill>
        <p:spPr>
          <a:xfrm>
            <a:off x="7010400" y="3040104"/>
            <a:ext cx="2110831" cy="2110831"/>
          </a:xfrm>
          <a:prstGeom prst="rect">
            <a:avLst/>
          </a:prstGeom>
        </p:spPr>
      </p:pic>
      <p:pic>
        <p:nvPicPr>
          <p:cNvPr id="25" name="그림 24">
            <a:extLst>
              <a:ext uri="{FF2B5EF4-FFF2-40B4-BE49-F238E27FC236}">
                <a16:creationId xmlns:a16="http://schemas.microsoft.com/office/drawing/2014/main" id="{EFB45F45-0213-EBBF-1999-6A728408D5D4}"/>
              </a:ext>
            </a:extLst>
          </p:cNvPr>
          <p:cNvPicPr>
            <a:picLocks noChangeAspect="1"/>
          </p:cNvPicPr>
          <p:nvPr/>
        </p:nvPicPr>
        <p:blipFill>
          <a:blip r:embed="rId3"/>
          <a:stretch>
            <a:fillRect/>
          </a:stretch>
        </p:blipFill>
        <p:spPr>
          <a:xfrm>
            <a:off x="1178559" y="2257066"/>
            <a:ext cx="5319728" cy="2893869"/>
          </a:xfrm>
          <a:prstGeom prst="rect">
            <a:avLst/>
          </a:prstGeom>
        </p:spPr>
      </p:pic>
      <p:sp>
        <p:nvSpPr>
          <p:cNvPr id="26" name="TextBox 25">
            <a:extLst>
              <a:ext uri="{FF2B5EF4-FFF2-40B4-BE49-F238E27FC236}">
                <a16:creationId xmlns:a16="http://schemas.microsoft.com/office/drawing/2014/main" id="{8372E877-9FAE-AA65-6F1B-B0F7ADD9E771}"/>
              </a:ext>
            </a:extLst>
          </p:cNvPr>
          <p:cNvSpPr txBox="1"/>
          <p:nvPr/>
        </p:nvSpPr>
        <p:spPr>
          <a:xfrm>
            <a:off x="1092820" y="39152"/>
            <a:ext cx="7899670" cy="2308324"/>
          </a:xfrm>
          <a:prstGeom prst="rect">
            <a:avLst/>
          </a:prstGeom>
          <a:noFill/>
        </p:spPr>
        <p:txBody>
          <a:bodyPr wrap="square" rtlCol="0">
            <a:spAutoFit/>
          </a:bodyPr>
          <a:lstStyle/>
          <a:p>
            <a:r>
              <a:rPr lang="ko-KR" altLang="en-US" dirty="0"/>
              <a:t>▣ 거주지</a:t>
            </a:r>
            <a:r>
              <a:rPr lang="en-US" altLang="ko-KR" dirty="0"/>
              <a:t>, </a:t>
            </a:r>
            <a:r>
              <a:rPr lang="ko-KR" altLang="en-US" dirty="0"/>
              <a:t>사용기기</a:t>
            </a:r>
            <a:r>
              <a:rPr lang="en-US" altLang="ko-KR" dirty="0"/>
              <a:t>, </a:t>
            </a:r>
            <a:r>
              <a:rPr lang="ko-KR" altLang="en-US" dirty="0"/>
              <a:t>성별은 유의미한 결론을 내기 부적합</a:t>
            </a:r>
            <a:endParaRPr lang="en-US" altLang="ko-KR" dirty="0"/>
          </a:p>
          <a:p>
            <a:r>
              <a:rPr lang="ko-KR" altLang="en-US" dirty="0"/>
              <a:t>▣ </a:t>
            </a:r>
            <a:r>
              <a:rPr lang="ko-KR" altLang="en-US" dirty="0" err="1"/>
              <a:t>총수정요청수는</a:t>
            </a:r>
            <a:r>
              <a:rPr lang="ko-KR" altLang="en-US" dirty="0"/>
              <a:t> 수정 요청이 많을수록 오른쪽으로 치우쳐서 </a:t>
            </a:r>
            <a:endParaRPr lang="en-US" altLang="ko-KR" dirty="0"/>
          </a:p>
          <a:p>
            <a:r>
              <a:rPr lang="en-US" altLang="ko-KR" dirty="0"/>
              <a:t>    </a:t>
            </a:r>
            <a:r>
              <a:rPr lang="ko-KR" altLang="en-US" dirty="0"/>
              <a:t>탈퇴가능성 높음</a:t>
            </a:r>
            <a:endParaRPr lang="en-US" altLang="ko-KR" dirty="0"/>
          </a:p>
          <a:p>
            <a:r>
              <a:rPr lang="ko-KR" altLang="en-US" dirty="0"/>
              <a:t>▣</a:t>
            </a:r>
            <a:r>
              <a:rPr lang="en-US" altLang="ko-KR" dirty="0"/>
              <a:t> </a:t>
            </a:r>
            <a:r>
              <a:rPr lang="ko-KR" altLang="en-US" dirty="0"/>
              <a:t>사용</a:t>
            </a:r>
            <a:r>
              <a:rPr lang="en-US" altLang="ko-KR" dirty="0"/>
              <a:t>OS</a:t>
            </a:r>
            <a:r>
              <a:rPr lang="ko-KR" altLang="en-US" dirty="0"/>
              <a:t>와 유입경로는 범주형 변수로서 별도 분석 </a:t>
            </a:r>
            <a:endParaRPr lang="en-US" altLang="ko-KR" dirty="0"/>
          </a:p>
          <a:p>
            <a:r>
              <a:rPr lang="ko-KR" altLang="en-US" dirty="0"/>
              <a:t>▶수치형 변수에 대한 결론</a:t>
            </a:r>
            <a:r>
              <a:rPr lang="en-US" altLang="ko-KR" dirty="0"/>
              <a:t>: </a:t>
            </a:r>
            <a:r>
              <a:rPr lang="ko-KR" altLang="en-US" dirty="0"/>
              <a:t>분석 전에도 구매금액</a:t>
            </a:r>
            <a:r>
              <a:rPr lang="en-US" altLang="ko-KR" dirty="0"/>
              <a:t>, </a:t>
            </a:r>
            <a:r>
              <a:rPr lang="ko-KR" altLang="en-US" dirty="0"/>
              <a:t>추가결제금액</a:t>
            </a:r>
            <a:r>
              <a:rPr lang="en-US" altLang="ko-KR" dirty="0"/>
              <a:t>, </a:t>
            </a:r>
            <a:r>
              <a:rPr lang="ko-KR" altLang="en-US" dirty="0" err="1"/>
              <a:t>서비스총구매수는</a:t>
            </a:r>
            <a:r>
              <a:rPr lang="ko-KR" altLang="en-US" dirty="0"/>
              <a:t> 높을수록 정상회원으로 분류될 것으로 예상되므로 유의미한 분석결과를 제공하지 않으나</a:t>
            </a:r>
            <a:r>
              <a:rPr lang="en-US" altLang="ko-KR" dirty="0"/>
              <a:t>, </a:t>
            </a:r>
            <a:r>
              <a:rPr lang="ko-KR" altLang="en-US" dirty="0" err="1"/>
              <a:t>저연령고객과</a:t>
            </a:r>
            <a:r>
              <a:rPr lang="ko-KR" altLang="en-US" dirty="0"/>
              <a:t> 수정요청이 빈번한 고객의 경우는 탈퇴를 막기위한 별도의 방안이 필요함</a:t>
            </a:r>
            <a:endParaRPr lang="en-US" altLang="ko-KR" dirty="0"/>
          </a:p>
        </p:txBody>
      </p:sp>
    </p:spTree>
    <p:extLst>
      <p:ext uri="{BB962C8B-B14F-4D97-AF65-F5344CB8AC3E}">
        <p14:creationId xmlns:p14="http://schemas.microsoft.com/office/powerpoint/2010/main" val="143328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0B94F-2D88-BA12-3373-C813DF119FAE}"/>
            </a:ext>
          </a:extLst>
        </p:cNvPr>
        <p:cNvGrpSpPr/>
        <p:nvPr/>
      </p:nvGrpSpPr>
      <p:grpSpPr>
        <a:xfrm>
          <a:off x="0" y="0"/>
          <a:ext cx="0" cy="0"/>
          <a:chOff x="0" y="0"/>
          <a:chExt cx="0" cy="0"/>
        </a:xfrm>
      </p:grpSpPr>
      <p:pic>
        <p:nvPicPr>
          <p:cNvPr id="31" name="그림 30">
            <a:extLst>
              <a:ext uri="{FF2B5EF4-FFF2-40B4-BE49-F238E27FC236}">
                <a16:creationId xmlns:a16="http://schemas.microsoft.com/office/drawing/2014/main" id="{79EB4D5D-436C-0CC3-0B4C-A7326C123478}"/>
              </a:ext>
            </a:extLst>
          </p:cNvPr>
          <p:cNvPicPr>
            <a:picLocks noChangeAspect="1"/>
          </p:cNvPicPr>
          <p:nvPr/>
        </p:nvPicPr>
        <p:blipFill>
          <a:blip r:embed="rId2"/>
          <a:stretch>
            <a:fillRect/>
          </a:stretch>
        </p:blipFill>
        <p:spPr>
          <a:xfrm>
            <a:off x="3641560" y="2454110"/>
            <a:ext cx="3435746" cy="2696825"/>
          </a:xfrm>
          <a:prstGeom prst="rect">
            <a:avLst/>
          </a:prstGeom>
        </p:spPr>
      </p:pic>
      <p:pic>
        <p:nvPicPr>
          <p:cNvPr id="27" name="그림 26">
            <a:extLst>
              <a:ext uri="{FF2B5EF4-FFF2-40B4-BE49-F238E27FC236}">
                <a16:creationId xmlns:a16="http://schemas.microsoft.com/office/drawing/2014/main" id="{1D26602B-AE9D-D72D-03D6-DCB7DAAEB711}"/>
              </a:ext>
            </a:extLst>
          </p:cNvPr>
          <p:cNvPicPr>
            <a:picLocks noChangeAspect="1"/>
          </p:cNvPicPr>
          <p:nvPr/>
        </p:nvPicPr>
        <p:blipFill>
          <a:blip r:embed="rId3"/>
          <a:stretch>
            <a:fillRect/>
          </a:stretch>
        </p:blipFill>
        <p:spPr>
          <a:xfrm>
            <a:off x="254075" y="2416052"/>
            <a:ext cx="3383334" cy="2637696"/>
          </a:xfrm>
          <a:prstGeom prst="rect">
            <a:avLst/>
          </a:prstGeom>
        </p:spPr>
      </p:pic>
      <p:grpSp>
        <p:nvGrpSpPr>
          <p:cNvPr id="2" name="Google Shape;347;p36">
            <a:extLst>
              <a:ext uri="{FF2B5EF4-FFF2-40B4-BE49-F238E27FC236}">
                <a16:creationId xmlns:a16="http://schemas.microsoft.com/office/drawing/2014/main" id="{44B5FB35-AFA8-EFAF-5FEE-1CA28BC4E75D}"/>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830F902F-C67E-99D0-117D-9E280E5DB90C}"/>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81600C02-B98A-9223-B201-F7002C665FC3}"/>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23BFFBF1-A281-F7E0-ACDD-C196D28CC6E6}"/>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6B8D58E2-FF1D-6C11-192C-8E9463B44395}"/>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0BB83E16-7138-143D-79C0-61989AED589C}"/>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8E37B9DD-6E0E-E9F7-3286-F8E939E6405F}"/>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8109B5D3-B161-EA90-8C42-19C74F2B1223}"/>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87059C90-039D-8517-694B-F08757D4D9CD}"/>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6ED9EB8E-B9DB-3A62-9D58-D95FCC08737B}"/>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E5010FAA-3E7B-3081-D6F2-BFC5417261B3}"/>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2F626B15-80B0-43A0-AB45-8A86D050D0F4}"/>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CB4452EB-21E5-0C68-EB6E-80776ECF9C41}"/>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41938729-776F-8721-D640-24FBC734E816}"/>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0E9D125E-6AE3-36AF-0F2E-91E36B45FEE4}"/>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989CF26F-AF25-89AE-AE83-BC650EA063A5}"/>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AC507250-51D4-AA47-EC39-2FC363DE868A}"/>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0748F0D8-D88A-34A2-1003-52358F99B0EF}"/>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4E0E08F0-1451-55CC-04BC-BE13BBB47BE2}"/>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FAF7DB1F-7BBA-9269-0FAF-359D6FEBA908}"/>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DE69CE57-DB27-DD00-D001-C4A3B12EC238}"/>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A492A8B3-4358-F9BE-7292-B8827704FF80}"/>
              </a:ext>
            </a:extLst>
          </p:cNvPr>
          <p:cNvPicPr>
            <a:picLocks noChangeAspect="1"/>
          </p:cNvPicPr>
          <p:nvPr/>
        </p:nvPicPr>
        <p:blipFill>
          <a:blip r:embed="rId4"/>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C7164FE0-293F-13DD-2012-293FBFAC6693}"/>
              </a:ext>
            </a:extLst>
          </p:cNvPr>
          <p:cNvSpPr txBox="1"/>
          <p:nvPr/>
        </p:nvSpPr>
        <p:spPr>
          <a:xfrm>
            <a:off x="1092820" y="135794"/>
            <a:ext cx="7899670" cy="2031325"/>
          </a:xfrm>
          <a:prstGeom prst="rect">
            <a:avLst/>
          </a:prstGeom>
          <a:noFill/>
        </p:spPr>
        <p:txBody>
          <a:bodyPr wrap="square" rtlCol="0">
            <a:spAutoFit/>
          </a:bodyPr>
          <a:lstStyle/>
          <a:p>
            <a:r>
              <a:rPr lang="ko-KR" altLang="en-US" dirty="0"/>
              <a:t>▣ </a:t>
            </a:r>
            <a:r>
              <a:rPr lang="en-US" altLang="ko-KR" dirty="0"/>
              <a:t>20~30</a:t>
            </a:r>
            <a:r>
              <a:rPr lang="ko-KR" altLang="en-US" dirty="0"/>
              <a:t>대가 주요 고객이며</a:t>
            </a:r>
            <a:r>
              <a:rPr lang="en-US" altLang="ko-KR" dirty="0"/>
              <a:t>, </a:t>
            </a:r>
            <a:r>
              <a:rPr lang="ko-KR" altLang="en-US" dirty="0"/>
              <a:t>핵심 </a:t>
            </a:r>
            <a:r>
              <a:rPr lang="ko-KR" altLang="en-US" dirty="0" err="1"/>
              <a:t>타겟대상이나</a:t>
            </a:r>
            <a:r>
              <a:rPr lang="en-US" altLang="ko-KR" dirty="0"/>
              <a:t>, </a:t>
            </a:r>
            <a:r>
              <a:rPr lang="ko-KR" altLang="en-US" dirty="0"/>
              <a:t>연령이 낮을 수록 탈퇴율이 높다는 것은 당연한 결과는 아니다</a:t>
            </a:r>
            <a:r>
              <a:rPr lang="en-US" altLang="ko-KR" dirty="0"/>
              <a:t>. </a:t>
            </a:r>
            <a:r>
              <a:rPr lang="ko-KR" altLang="en-US" dirty="0"/>
              <a:t>일부 서비스에 불만이 있을 수 있으나 탈퇴는 다시 방문하지 않겠다는 강력한 의사표시로서 향후 트렌드의 변화에 따라 재방문 가능성이 높은 아웃소싱의 특성상 연령이 낮은 고객의 탈퇴는 명백한 불만의사표시</a:t>
            </a:r>
            <a:endParaRPr lang="en-US" altLang="ko-KR" dirty="0"/>
          </a:p>
          <a:p>
            <a:r>
              <a:rPr lang="ko-KR" altLang="en-US" dirty="0"/>
              <a:t>▣</a:t>
            </a:r>
            <a:r>
              <a:rPr lang="en-US" altLang="ko-KR" dirty="0"/>
              <a:t> </a:t>
            </a:r>
            <a:r>
              <a:rPr lang="ko-KR" altLang="en-US" dirty="0" err="1"/>
              <a:t>수정요청수는</a:t>
            </a:r>
            <a:r>
              <a:rPr lang="ko-KR" altLang="en-US" dirty="0"/>
              <a:t> </a:t>
            </a:r>
            <a:r>
              <a:rPr lang="en-US" altLang="ko-KR" dirty="0"/>
              <a:t>0</a:t>
            </a:r>
            <a:r>
              <a:rPr lang="ko-KR" altLang="en-US" dirty="0"/>
              <a:t>과 </a:t>
            </a:r>
            <a:r>
              <a:rPr lang="en-US" altLang="ko-KR" dirty="0"/>
              <a:t>1</a:t>
            </a:r>
            <a:r>
              <a:rPr lang="ko-KR" altLang="en-US" dirty="0"/>
              <a:t>이 압도적으로 높아 대다수의 고객이 수정을 요청하지 않거나</a:t>
            </a:r>
            <a:r>
              <a:rPr lang="en-US" altLang="ko-KR" dirty="0"/>
              <a:t>, 1</a:t>
            </a:r>
            <a:r>
              <a:rPr lang="ko-KR" altLang="en-US" dirty="0"/>
              <a:t>회에 한하여 요청하는 것으로 판단됨</a:t>
            </a:r>
            <a:endParaRPr lang="en-US" altLang="ko-KR" dirty="0"/>
          </a:p>
        </p:txBody>
      </p:sp>
    </p:spTree>
    <p:extLst>
      <p:ext uri="{BB962C8B-B14F-4D97-AF65-F5344CB8AC3E}">
        <p14:creationId xmlns:p14="http://schemas.microsoft.com/office/powerpoint/2010/main" val="4066948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CDD5-436D-D2A2-DFC4-C8D7129CC590}"/>
            </a:ext>
          </a:extLst>
        </p:cNvPr>
        <p:cNvGrpSpPr/>
        <p:nvPr/>
      </p:nvGrpSpPr>
      <p:grpSpPr>
        <a:xfrm>
          <a:off x="0" y="0"/>
          <a:ext cx="0" cy="0"/>
          <a:chOff x="0" y="0"/>
          <a:chExt cx="0" cy="0"/>
        </a:xfrm>
      </p:grpSpPr>
      <p:pic>
        <p:nvPicPr>
          <p:cNvPr id="25" name="그림 24">
            <a:extLst>
              <a:ext uri="{FF2B5EF4-FFF2-40B4-BE49-F238E27FC236}">
                <a16:creationId xmlns:a16="http://schemas.microsoft.com/office/drawing/2014/main" id="{8CDF375E-F929-6141-9D54-EB3F019819DC}"/>
              </a:ext>
            </a:extLst>
          </p:cNvPr>
          <p:cNvPicPr>
            <a:picLocks noChangeAspect="1"/>
          </p:cNvPicPr>
          <p:nvPr/>
        </p:nvPicPr>
        <p:blipFill>
          <a:blip r:embed="rId2"/>
          <a:stretch>
            <a:fillRect/>
          </a:stretch>
        </p:blipFill>
        <p:spPr>
          <a:xfrm>
            <a:off x="361794" y="575762"/>
            <a:ext cx="2864624" cy="4061783"/>
          </a:xfrm>
          <a:prstGeom prst="rect">
            <a:avLst/>
          </a:prstGeom>
        </p:spPr>
      </p:pic>
      <p:grpSp>
        <p:nvGrpSpPr>
          <p:cNvPr id="2" name="Google Shape;347;p36">
            <a:extLst>
              <a:ext uri="{FF2B5EF4-FFF2-40B4-BE49-F238E27FC236}">
                <a16:creationId xmlns:a16="http://schemas.microsoft.com/office/drawing/2014/main" id="{3083DC62-8EAC-8A82-366B-37B5E631B7F1}"/>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2C38CA94-E6A7-8384-7BE3-B5D433BC8C70}"/>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89FA5064-D49A-695B-FFB8-A59844AB26B7}"/>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5BDD83DF-E1C4-9289-2E3D-781B1A5D9185}"/>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0B924320-95AC-16AB-BE1E-9E2C69836926}"/>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8CC9D9C4-2EBB-96D0-5478-D5AFC3F667C0}"/>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06CB2241-DAF1-E2AA-B7F4-95898175F642}"/>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69B5D17C-82BA-EA5E-2B74-4E50695448DB}"/>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637CD7E7-2935-F5B8-4488-F977A1F72AA3}"/>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B342FE1A-0A5C-2811-446B-B97043803906}"/>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D3E531C6-A9D1-AFFF-F94D-BED14FCD8006}"/>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C68F97D2-C832-BAD0-E8B5-1F25857383E2}"/>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6252CDC0-AFC1-D0F1-4D32-93D84A306C71}"/>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64E8D868-1D26-C2C8-E774-87142B7727F7}"/>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BA215034-03FA-E0F7-24AB-9BC361EB0611}"/>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53F216B3-FCC2-8AA0-08BF-8ECCFFD34DA2}"/>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B44310C8-0033-9E33-1013-E6EF1BF80376}"/>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F94209E8-2124-8BF4-6278-13E105993ECE}"/>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D6954A9B-D6CF-7DAA-B2D9-08DD2D20EDAC}"/>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3ABB465A-AADE-E2FE-A8B3-A309E3EAFA62}"/>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2C14B5B3-41A9-548F-463D-7D495334DC89}"/>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E03802EF-A034-0E13-5B7D-7E3F2B8DEE73}"/>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22BF2D4F-5B12-FC80-7754-B0E6138E2FBD}"/>
              </a:ext>
            </a:extLst>
          </p:cNvPr>
          <p:cNvSpPr txBox="1"/>
          <p:nvPr/>
        </p:nvSpPr>
        <p:spPr>
          <a:xfrm>
            <a:off x="3298662" y="16850"/>
            <a:ext cx="5693828" cy="4247317"/>
          </a:xfrm>
          <a:prstGeom prst="rect">
            <a:avLst/>
          </a:prstGeom>
          <a:noFill/>
        </p:spPr>
        <p:txBody>
          <a:bodyPr wrap="square" rtlCol="0">
            <a:spAutoFit/>
          </a:bodyPr>
          <a:lstStyle/>
          <a:p>
            <a:r>
              <a:rPr lang="ko-KR" altLang="en-US" dirty="0"/>
              <a:t>▣</a:t>
            </a:r>
            <a:r>
              <a:rPr lang="en-US" altLang="ko-KR" dirty="0"/>
              <a:t> 20</a:t>
            </a:r>
            <a:r>
              <a:rPr lang="ko-KR" altLang="en-US" dirty="0"/>
              <a:t>대 초반과 </a:t>
            </a:r>
            <a:r>
              <a:rPr lang="en-US" altLang="ko-KR" dirty="0"/>
              <a:t>30</a:t>
            </a:r>
            <a:r>
              <a:rPr lang="ko-KR" altLang="en-US" dirty="0"/>
              <a:t>대 초반 고객의 경우 수정요청이 </a:t>
            </a:r>
            <a:r>
              <a:rPr lang="en-US" altLang="ko-KR" dirty="0"/>
              <a:t>5</a:t>
            </a:r>
            <a:r>
              <a:rPr lang="ko-KR" altLang="en-US" dirty="0"/>
              <a:t>회 </a:t>
            </a:r>
            <a:r>
              <a:rPr lang="ko-KR" altLang="en-US" dirty="0" err="1"/>
              <a:t>이상되는</a:t>
            </a:r>
            <a:r>
              <a:rPr lang="ko-KR" altLang="en-US" dirty="0"/>
              <a:t> 시점에서 탈퇴가능성이 높아지므로</a:t>
            </a:r>
            <a:r>
              <a:rPr lang="en-US" altLang="ko-KR" dirty="0"/>
              <a:t> </a:t>
            </a:r>
            <a:r>
              <a:rPr lang="ko-KR" altLang="en-US" dirty="0"/>
              <a:t>수정요청이 </a:t>
            </a:r>
            <a:r>
              <a:rPr lang="en-US" altLang="ko-KR" dirty="0"/>
              <a:t>5</a:t>
            </a:r>
            <a:r>
              <a:rPr lang="ko-KR" altLang="en-US" dirty="0"/>
              <a:t>회 다다를 경우 거래에 문제는 없는 지 살필 필요가 있으며</a:t>
            </a:r>
            <a:r>
              <a:rPr lang="en-US" altLang="ko-KR" dirty="0"/>
              <a:t>, </a:t>
            </a:r>
            <a:r>
              <a:rPr lang="ko-KR" altLang="en-US" dirty="0"/>
              <a:t>문제가 있을 경우 적극적으로 개입하여 </a:t>
            </a:r>
            <a:r>
              <a:rPr lang="ko-KR" altLang="en-US" dirty="0" err="1"/>
              <a:t>중재시</a:t>
            </a:r>
            <a:r>
              <a:rPr lang="ko-KR" altLang="en-US" dirty="0"/>
              <a:t> 탈퇴를 방지 할 수 있을 것으로 보인다</a:t>
            </a:r>
            <a:r>
              <a:rPr lang="en-US" altLang="ko-KR" dirty="0"/>
              <a:t>.</a:t>
            </a:r>
          </a:p>
          <a:p>
            <a:r>
              <a:rPr lang="ko-KR" altLang="en-US" dirty="0"/>
              <a:t>▣ </a:t>
            </a:r>
            <a:r>
              <a:rPr lang="ko-KR" altLang="en-US" dirty="0" err="1"/>
              <a:t>수정요청수</a:t>
            </a:r>
            <a:r>
              <a:rPr lang="ko-KR" altLang="en-US" dirty="0"/>
              <a:t> </a:t>
            </a:r>
            <a:r>
              <a:rPr lang="en-US" altLang="ko-KR" dirty="0"/>
              <a:t>3-4</a:t>
            </a:r>
            <a:r>
              <a:rPr lang="ko-KR" altLang="en-US" dirty="0"/>
              <a:t>회</a:t>
            </a:r>
            <a:r>
              <a:rPr lang="en-US" altLang="ko-KR" dirty="0"/>
              <a:t> </a:t>
            </a:r>
            <a:r>
              <a:rPr lang="ko-KR" altLang="en-US" dirty="0"/>
              <a:t>및</a:t>
            </a:r>
            <a:r>
              <a:rPr lang="en-US" altLang="ko-KR" dirty="0"/>
              <a:t> 7</a:t>
            </a:r>
            <a:r>
              <a:rPr lang="ko-KR" altLang="en-US" dirty="0"/>
              <a:t>회 </a:t>
            </a:r>
            <a:r>
              <a:rPr lang="ko-KR" altLang="en-US" dirty="0" err="1"/>
              <a:t>이상시</a:t>
            </a:r>
            <a:r>
              <a:rPr lang="ko-KR" altLang="en-US" dirty="0"/>
              <a:t> 정상회원 가능성이 높아지는 것은 </a:t>
            </a:r>
            <a:r>
              <a:rPr lang="en-US" altLang="ko-KR" dirty="0"/>
              <a:t>4</a:t>
            </a:r>
            <a:r>
              <a:rPr lang="ko-KR" altLang="en-US" dirty="0"/>
              <a:t>회 이하의 수정요청에 따라 문제가 해결되었거나</a:t>
            </a:r>
            <a:r>
              <a:rPr lang="en-US" altLang="ko-KR" dirty="0"/>
              <a:t>,</a:t>
            </a:r>
            <a:r>
              <a:rPr lang="ko-KR" altLang="en-US" dirty="0"/>
              <a:t> </a:t>
            </a:r>
            <a:r>
              <a:rPr lang="en-US" altLang="ko-KR" dirty="0"/>
              <a:t>7</a:t>
            </a:r>
            <a:r>
              <a:rPr lang="ko-KR" altLang="en-US" dirty="0"/>
              <a:t>회 이상의 번번한 수정요청 후 문제가 해결되었고 빈번한 요청에도 불구하고 문제가 해결되어 고객만족도가 상승한 것으로 추정된다</a:t>
            </a:r>
            <a:r>
              <a:rPr lang="en-US" altLang="ko-KR" dirty="0"/>
              <a:t>.</a:t>
            </a:r>
          </a:p>
          <a:p>
            <a:r>
              <a:rPr lang="ko-KR" altLang="en-US" dirty="0"/>
              <a:t>▣ 전반적으로 </a:t>
            </a:r>
            <a:r>
              <a:rPr lang="ko-KR" altLang="en-US" dirty="0" err="1"/>
              <a:t>수정요청수와</a:t>
            </a:r>
            <a:r>
              <a:rPr lang="ko-KR" altLang="en-US" dirty="0"/>
              <a:t> 정상회원의 기여도를 보면 수정요청 받은 후 적극적인 문제해결 과정이 탈퇴를 방지하는 것으로도 해석된다</a:t>
            </a:r>
            <a:r>
              <a:rPr lang="en-US" altLang="ko-KR" dirty="0"/>
              <a:t>. </a:t>
            </a:r>
            <a:r>
              <a:rPr lang="ko-KR" altLang="en-US" dirty="0"/>
              <a:t>따라서 판매자들이 구매자들과 보다 밀접하게</a:t>
            </a:r>
            <a:r>
              <a:rPr lang="en-US" altLang="ko-KR" dirty="0"/>
              <a:t>, </a:t>
            </a:r>
            <a:r>
              <a:rPr lang="ko-KR" altLang="en-US" dirty="0"/>
              <a:t>용이하게 접촉할 수 있는 인프라 구성이 바람직하다</a:t>
            </a:r>
            <a:r>
              <a:rPr lang="en-US" altLang="ko-KR" dirty="0"/>
              <a:t>.</a:t>
            </a:r>
          </a:p>
        </p:txBody>
      </p:sp>
    </p:spTree>
    <p:extLst>
      <p:ext uri="{BB962C8B-B14F-4D97-AF65-F5344CB8AC3E}">
        <p14:creationId xmlns:p14="http://schemas.microsoft.com/office/powerpoint/2010/main" val="1007535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09CD8-048D-FEE9-977D-1E7A4EDD45A4}"/>
            </a:ext>
          </a:extLst>
        </p:cNvPr>
        <p:cNvGrpSpPr/>
        <p:nvPr/>
      </p:nvGrpSpPr>
      <p:grpSpPr>
        <a:xfrm>
          <a:off x="0" y="0"/>
          <a:ext cx="0" cy="0"/>
          <a:chOff x="0" y="0"/>
          <a:chExt cx="0" cy="0"/>
        </a:xfrm>
      </p:grpSpPr>
      <p:pic>
        <p:nvPicPr>
          <p:cNvPr id="27" name="그림 26">
            <a:extLst>
              <a:ext uri="{FF2B5EF4-FFF2-40B4-BE49-F238E27FC236}">
                <a16:creationId xmlns:a16="http://schemas.microsoft.com/office/drawing/2014/main" id="{BF9DFF72-6A30-0F97-E0BE-715E453D6925}"/>
              </a:ext>
            </a:extLst>
          </p:cNvPr>
          <p:cNvPicPr>
            <a:picLocks noChangeAspect="1"/>
          </p:cNvPicPr>
          <p:nvPr/>
        </p:nvPicPr>
        <p:blipFill>
          <a:blip r:embed="rId2"/>
          <a:stretch>
            <a:fillRect/>
          </a:stretch>
        </p:blipFill>
        <p:spPr>
          <a:xfrm>
            <a:off x="830257" y="2571750"/>
            <a:ext cx="6083959" cy="2468804"/>
          </a:xfrm>
          <a:prstGeom prst="rect">
            <a:avLst/>
          </a:prstGeom>
        </p:spPr>
      </p:pic>
      <p:grpSp>
        <p:nvGrpSpPr>
          <p:cNvPr id="2" name="Google Shape;347;p36">
            <a:extLst>
              <a:ext uri="{FF2B5EF4-FFF2-40B4-BE49-F238E27FC236}">
                <a16:creationId xmlns:a16="http://schemas.microsoft.com/office/drawing/2014/main" id="{3442C8A1-B401-B3AC-55F0-9B457141E906}"/>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164DAFF9-3945-07F4-690D-B81D3E4F4F93}"/>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90586F91-D3D1-9874-0175-25DCE99B3122}"/>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FF9264D5-EC16-F4C5-4281-20C5993B3A17}"/>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5E512533-5F59-2F9B-9B9D-B0A51C889788}"/>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7E9ACDEC-5A3D-A1CE-6B1C-B86E3C16884C}"/>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FCCA1A66-600F-5994-81A7-43357A1F5533}"/>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7AFEEC39-A0F3-FE7B-B4E9-935C0E494F40}"/>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53E76A38-5817-9FEE-14AC-78341AF3620D}"/>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FB79071A-1538-4E6F-7BDC-73CCAE95AE10}"/>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3240D8C5-9BE7-0F21-1951-DAD680BB8557}"/>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E1637CD4-7C3D-43F6-C987-9FB503244179}"/>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22174DAD-5FCA-4F9D-8459-F492617D044E}"/>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71D8D544-C0BF-816E-7AC7-15D027C20BC2}"/>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099FE240-4C61-0471-E5FB-90EA9E7D8097}"/>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5649B744-0D72-B734-F1F9-75DA50F64081}"/>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D4FCEC18-3F00-B35D-4D64-5F3D1514966F}"/>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05EECEB8-27D5-6E76-F367-019123631AF4}"/>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1103A2B8-0FAF-6298-AF3D-6DDBA242F684}"/>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5E81BCD6-20CB-EFE3-9DB0-8DB22314FA1B}"/>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004D3943-CD7A-A224-8D39-D7C72E75E36C}"/>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8B567C7D-44EF-3AE0-5251-C20E8C5EC8D9}"/>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93A44165-8B83-A23F-DD06-693A6AC57C3F}"/>
              </a:ext>
            </a:extLst>
          </p:cNvPr>
          <p:cNvSpPr txBox="1"/>
          <p:nvPr/>
        </p:nvSpPr>
        <p:spPr>
          <a:xfrm>
            <a:off x="1092820" y="39152"/>
            <a:ext cx="7899670" cy="2308324"/>
          </a:xfrm>
          <a:prstGeom prst="rect">
            <a:avLst/>
          </a:prstGeom>
          <a:noFill/>
        </p:spPr>
        <p:txBody>
          <a:bodyPr wrap="square" rtlCol="0">
            <a:spAutoFit/>
          </a:bodyPr>
          <a:lstStyle/>
          <a:p>
            <a:r>
              <a:rPr lang="ko-KR" altLang="en-US" dirty="0"/>
              <a:t>▣ 범주형 변수인 사용</a:t>
            </a:r>
            <a:r>
              <a:rPr lang="en-US" altLang="ko-KR" dirty="0"/>
              <a:t>OS, </a:t>
            </a:r>
            <a:r>
              <a:rPr lang="ko-KR" altLang="en-US" dirty="0"/>
              <a:t>사용기기</a:t>
            </a:r>
            <a:r>
              <a:rPr lang="en-US" altLang="ko-KR" dirty="0"/>
              <a:t>, </a:t>
            </a:r>
            <a:r>
              <a:rPr lang="ko-KR" altLang="en-US" dirty="0"/>
              <a:t>유입경로에 대해 별도 분석을 실시하였으나 유의미한 결과 발견하지 못함</a:t>
            </a:r>
            <a:endParaRPr lang="en-US" altLang="ko-KR" dirty="0"/>
          </a:p>
          <a:p>
            <a:r>
              <a:rPr lang="ko-KR" altLang="en-US" dirty="0"/>
              <a:t>▣ 다만</a:t>
            </a:r>
            <a:r>
              <a:rPr lang="en-US" altLang="ko-KR" dirty="0"/>
              <a:t> </a:t>
            </a:r>
            <a:r>
              <a:rPr lang="ko-KR" altLang="en-US" dirty="0"/>
              <a:t>마케팅 강화 차원에서 유입경로는 추가적인 분석을 실시</a:t>
            </a:r>
            <a:endParaRPr lang="en-US" altLang="ko-KR" dirty="0"/>
          </a:p>
          <a:p>
            <a:r>
              <a:rPr lang="ko-KR" altLang="en-US" dirty="0"/>
              <a:t>▣ 변수 단독으로는 탈퇴예측에 기여하지 않지만</a:t>
            </a:r>
            <a:r>
              <a:rPr lang="en-US" altLang="ko-KR" dirty="0"/>
              <a:t> </a:t>
            </a:r>
            <a:r>
              <a:rPr lang="ko-KR" altLang="en-US" dirty="0"/>
              <a:t>다른 변수와 상호작용을 통해 탈퇴예측에 기여하는 경우를 정량적으로 찾고 시각화 시도</a:t>
            </a:r>
            <a:endParaRPr lang="en-US" altLang="ko-KR" dirty="0"/>
          </a:p>
          <a:p>
            <a:r>
              <a:rPr lang="ko-KR" altLang="en-US" dirty="0"/>
              <a:t>▣ 이미 기여도가 높은 총구매금액 및 총추가결제금액과 상호작용도가 높으며</a:t>
            </a:r>
            <a:r>
              <a:rPr lang="en-US" altLang="ko-KR" dirty="0"/>
              <a:t>, </a:t>
            </a:r>
            <a:r>
              <a:rPr lang="ko-KR" altLang="en-US" dirty="0"/>
              <a:t>사용</a:t>
            </a:r>
            <a:r>
              <a:rPr lang="en-US" altLang="ko-KR" dirty="0"/>
              <a:t>OS</a:t>
            </a:r>
            <a:r>
              <a:rPr lang="ko-KR" altLang="en-US" dirty="0"/>
              <a:t>에 따라 유입경로가 다른 경우가 많다는 점을 </a:t>
            </a:r>
            <a:r>
              <a:rPr lang="ko-KR" altLang="en-US" dirty="0" err="1"/>
              <a:t>감안시</a:t>
            </a:r>
            <a:r>
              <a:rPr lang="ko-KR" altLang="en-US" dirty="0"/>
              <a:t> 유의미한 결과 찾지 못함</a:t>
            </a:r>
            <a:endParaRPr lang="en-US" altLang="ko-KR" dirty="0"/>
          </a:p>
        </p:txBody>
      </p:sp>
    </p:spTree>
    <p:extLst>
      <p:ext uri="{BB962C8B-B14F-4D97-AF65-F5344CB8AC3E}">
        <p14:creationId xmlns:p14="http://schemas.microsoft.com/office/powerpoint/2010/main" val="914061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747DC-12B4-58BB-E796-B13EE0B589BF}"/>
            </a:ext>
          </a:extLst>
        </p:cNvPr>
        <p:cNvGrpSpPr/>
        <p:nvPr/>
      </p:nvGrpSpPr>
      <p:grpSpPr>
        <a:xfrm>
          <a:off x="0" y="0"/>
          <a:ext cx="0" cy="0"/>
          <a:chOff x="0" y="0"/>
          <a:chExt cx="0" cy="0"/>
        </a:xfrm>
      </p:grpSpPr>
      <p:pic>
        <p:nvPicPr>
          <p:cNvPr id="29" name="그림 28">
            <a:extLst>
              <a:ext uri="{FF2B5EF4-FFF2-40B4-BE49-F238E27FC236}">
                <a16:creationId xmlns:a16="http://schemas.microsoft.com/office/drawing/2014/main" id="{37A488F7-D317-1407-678D-180B77ACABEA}"/>
              </a:ext>
            </a:extLst>
          </p:cNvPr>
          <p:cNvPicPr>
            <a:picLocks noChangeAspect="1"/>
          </p:cNvPicPr>
          <p:nvPr/>
        </p:nvPicPr>
        <p:blipFill>
          <a:blip r:embed="rId2"/>
          <a:stretch>
            <a:fillRect/>
          </a:stretch>
        </p:blipFill>
        <p:spPr>
          <a:xfrm>
            <a:off x="3509041" y="2019665"/>
            <a:ext cx="3624557" cy="2891142"/>
          </a:xfrm>
          <a:prstGeom prst="rect">
            <a:avLst/>
          </a:prstGeom>
        </p:spPr>
      </p:pic>
      <p:grpSp>
        <p:nvGrpSpPr>
          <p:cNvPr id="2" name="Google Shape;347;p36">
            <a:extLst>
              <a:ext uri="{FF2B5EF4-FFF2-40B4-BE49-F238E27FC236}">
                <a16:creationId xmlns:a16="http://schemas.microsoft.com/office/drawing/2014/main" id="{6F97FAA5-5FA9-9BED-6FD1-4732AF9C43ED}"/>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C928B9CC-0ED9-84CB-ADB3-0D490AA22E62}"/>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8A5B6C50-DD29-E647-ED98-C3B8F6C40EBE}"/>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30E7DC2A-95FB-EA0A-02DF-DC8A2EA4D694}"/>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F32F8E81-E9D0-1824-9669-614A52D623B3}"/>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8A5AB945-244A-A226-CD02-BC67A57E19D8}"/>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71772418-BB27-E154-ADD9-36C1836C76C1}"/>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79B209F4-3173-821F-88D8-7E331ABEA2CC}"/>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99F40773-B2ED-3691-7B43-4A43504D86C8}"/>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EC584B0D-DFC9-DE19-0736-605927A9BE53}"/>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8CFC1BCF-9D18-54FC-6EB5-0DACB8D6426A}"/>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91A0B1C7-2780-4903-281E-6871E050CF45}"/>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A7DFD998-59AE-E1C0-F43B-5CBF89204AC9}"/>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B641CBE0-90A6-A54D-4261-F9FF6A9D9FED}"/>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EDFD101B-3DA1-2636-1359-6FF2EA565090}"/>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A76A6FE7-274E-A273-5A9A-2E7570BEAB56}"/>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EF7D7B2E-BAC2-9776-87D9-FA13F8C0A5B4}"/>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EF6881C9-FC0C-A6A3-C878-D72033AE2AFD}"/>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1EECB7E8-8B15-8AFF-1611-68607348210F}"/>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70099127-777E-6D8D-FE7A-3E0516A259CB}"/>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2D9E19F5-A410-6866-5920-F8128EE28BB7}"/>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246FF517-EF74-0E1F-97B7-BC0105735DF2}"/>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B2508CCE-FCBC-CC29-93E4-94A77B714D1E}"/>
              </a:ext>
            </a:extLst>
          </p:cNvPr>
          <p:cNvSpPr txBox="1"/>
          <p:nvPr/>
        </p:nvSpPr>
        <p:spPr>
          <a:xfrm>
            <a:off x="487184" y="885269"/>
            <a:ext cx="7899670" cy="923330"/>
          </a:xfrm>
          <a:prstGeom prst="rect">
            <a:avLst/>
          </a:prstGeom>
          <a:noFill/>
        </p:spPr>
        <p:txBody>
          <a:bodyPr wrap="square" rtlCol="0">
            <a:spAutoFit/>
          </a:bodyPr>
          <a:lstStyle/>
          <a:p>
            <a:r>
              <a:rPr lang="ko-KR" altLang="en-US" dirty="0"/>
              <a:t>▣ </a:t>
            </a:r>
            <a:r>
              <a:rPr lang="en-US" altLang="ko-KR" dirty="0"/>
              <a:t>Service_data.csv</a:t>
            </a:r>
            <a:r>
              <a:rPr lang="ko-KR" altLang="en-US" dirty="0"/>
              <a:t>와 </a:t>
            </a:r>
            <a:r>
              <a:rPr lang="en-US" altLang="ko-KR" dirty="0"/>
              <a:t>Expert_data.csv </a:t>
            </a:r>
            <a:r>
              <a:rPr lang="ko-KR" altLang="en-US" dirty="0"/>
              <a:t>병합하여 판매자 분석 실시</a:t>
            </a:r>
            <a:endParaRPr lang="en-US" altLang="ko-KR" dirty="0"/>
          </a:p>
          <a:p>
            <a:r>
              <a:rPr lang="ko-KR" altLang="en-US" dirty="0"/>
              <a:t>▣ 클러스터링을 위해 최적의 </a:t>
            </a:r>
            <a:r>
              <a:rPr lang="en-US" altLang="ko-KR" dirty="0"/>
              <a:t>k</a:t>
            </a:r>
            <a:r>
              <a:rPr lang="ko-KR" altLang="en-US" dirty="0"/>
              <a:t>값 확인 후</a:t>
            </a:r>
            <a:r>
              <a:rPr lang="en-US" altLang="ko-KR" dirty="0"/>
              <a:t> PCA </a:t>
            </a:r>
            <a:r>
              <a:rPr lang="ko-KR" altLang="en-US" dirty="0"/>
              <a:t>분석 실시</a:t>
            </a:r>
            <a:endParaRPr lang="en-US" altLang="ko-KR" dirty="0"/>
          </a:p>
          <a:p>
            <a:r>
              <a:rPr lang="ko-KR" altLang="en-US" dirty="0"/>
              <a:t>▣ 최적의 클러스터 수는 </a:t>
            </a:r>
            <a:r>
              <a:rPr lang="en-US" altLang="ko-KR" dirty="0"/>
              <a:t>4</a:t>
            </a:r>
            <a:r>
              <a:rPr lang="ko-KR" altLang="en-US" dirty="0"/>
              <a:t>개로 판명되어 </a:t>
            </a:r>
            <a:r>
              <a:rPr lang="en-US" altLang="ko-KR" dirty="0"/>
              <a:t>4</a:t>
            </a:r>
            <a:r>
              <a:rPr lang="ko-KR" altLang="en-US" dirty="0"/>
              <a:t>개의 클러스터로 분류</a:t>
            </a:r>
            <a:endParaRPr lang="en-US" altLang="ko-KR" dirty="0"/>
          </a:p>
        </p:txBody>
      </p:sp>
      <p:pic>
        <p:nvPicPr>
          <p:cNvPr id="25" name="그림 24">
            <a:extLst>
              <a:ext uri="{FF2B5EF4-FFF2-40B4-BE49-F238E27FC236}">
                <a16:creationId xmlns:a16="http://schemas.microsoft.com/office/drawing/2014/main" id="{90F3F290-E5AA-56F2-BED1-57F3B329F5D9}"/>
              </a:ext>
            </a:extLst>
          </p:cNvPr>
          <p:cNvPicPr>
            <a:picLocks noChangeAspect="1"/>
          </p:cNvPicPr>
          <p:nvPr/>
        </p:nvPicPr>
        <p:blipFill>
          <a:blip r:embed="rId4"/>
          <a:stretch>
            <a:fillRect/>
          </a:stretch>
        </p:blipFill>
        <p:spPr>
          <a:xfrm>
            <a:off x="119779" y="2020105"/>
            <a:ext cx="3512459" cy="2891142"/>
          </a:xfrm>
          <a:prstGeom prst="rect">
            <a:avLst/>
          </a:prstGeom>
        </p:spPr>
      </p:pic>
    </p:spTree>
    <p:extLst>
      <p:ext uri="{BB962C8B-B14F-4D97-AF65-F5344CB8AC3E}">
        <p14:creationId xmlns:p14="http://schemas.microsoft.com/office/powerpoint/2010/main" val="3306741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089D4-1330-4764-511F-07427AE10A0B}"/>
            </a:ext>
          </a:extLst>
        </p:cNvPr>
        <p:cNvGrpSpPr/>
        <p:nvPr/>
      </p:nvGrpSpPr>
      <p:grpSpPr>
        <a:xfrm>
          <a:off x="0" y="0"/>
          <a:ext cx="0" cy="0"/>
          <a:chOff x="0" y="0"/>
          <a:chExt cx="0" cy="0"/>
        </a:xfrm>
      </p:grpSpPr>
      <p:pic>
        <p:nvPicPr>
          <p:cNvPr id="27" name="그림 26">
            <a:extLst>
              <a:ext uri="{FF2B5EF4-FFF2-40B4-BE49-F238E27FC236}">
                <a16:creationId xmlns:a16="http://schemas.microsoft.com/office/drawing/2014/main" id="{C1364224-7B9C-EB9D-64D2-1F412CF0F6EF}"/>
              </a:ext>
            </a:extLst>
          </p:cNvPr>
          <p:cNvPicPr>
            <a:picLocks noChangeAspect="1"/>
          </p:cNvPicPr>
          <p:nvPr/>
        </p:nvPicPr>
        <p:blipFill>
          <a:blip r:embed="rId2"/>
          <a:stretch>
            <a:fillRect/>
          </a:stretch>
        </p:blipFill>
        <p:spPr>
          <a:xfrm>
            <a:off x="166781" y="2142337"/>
            <a:ext cx="7780321" cy="2971741"/>
          </a:xfrm>
          <a:prstGeom prst="rect">
            <a:avLst/>
          </a:prstGeom>
        </p:spPr>
      </p:pic>
      <p:grpSp>
        <p:nvGrpSpPr>
          <p:cNvPr id="2" name="Google Shape;347;p36">
            <a:extLst>
              <a:ext uri="{FF2B5EF4-FFF2-40B4-BE49-F238E27FC236}">
                <a16:creationId xmlns:a16="http://schemas.microsoft.com/office/drawing/2014/main" id="{5E758F68-D91A-1C20-0C8D-56C43C546E02}"/>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557E9D9F-619C-9123-40BE-4900C0C2C29E}"/>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B27CFAE5-FE22-0BB2-FF3B-5C0FFADE2101}"/>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696099C6-18FF-565C-4152-49BDCB84BAD0}"/>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2D2EC16D-5A06-EEC4-6689-5862CDE63449}"/>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CE7620E7-FD90-2DEC-C50F-FC822145B0FA}"/>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17A8C3A9-F2E2-CC44-A662-F4F5F4FC4392}"/>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7DC55F73-64C4-CB1B-C4BD-9D27D5F67546}"/>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EB127125-1C5D-AD91-FD03-5D6E70801063}"/>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A9C3D0AD-5866-B58A-D384-5049D7D5B719}"/>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7E224DB3-0AC8-4048-2B48-44D1A8D47284}"/>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0DB10F9A-09B0-5113-561E-96335A3B692B}"/>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D49AB032-36C2-62C5-B1B9-646D427E6DF4}"/>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32F5342B-3445-B591-6A43-3066FD25AB9E}"/>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29202730-9199-45CA-9E76-D02DFC73CEAA}"/>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7E4DABDE-DDD0-1DFC-1269-04EDE2B5BBC3}"/>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D3E303AD-C731-168F-2883-5A8945DEB231}"/>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F1427578-89BD-A8A9-D3FF-2F3A6EB8E134}"/>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BACC3F38-1567-B6FA-45C2-78CC23F7E3A5}"/>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97E9C5F8-982C-FE4B-547E-5F90886026F4}"/>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3D4B20D3-3CED-8F3C-2971-8F42C37A65E5}"/>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8471E839-189F-E3A5-CA6B-5D08678B8384}"/>
              </a:ext>
            </a:extLst>
          </p:cNvPr>
          <p:cNvPicPr>
            <a:picLocks noChangeAspect="1"/>
          </p:cNvPicPr>
          <p:nvPr/>
        </p:nvPicPr>
        <p:blipFill>
          <a:blip r:embed="rId3"/>
          <a:stretch>
            <a:fillRect/>
          </a:stretch>
        </p:blipFill>
        <p:spPr>
          <a:xfrm>
            <a:off x="7010400" y="3040104"/>
            <a:ext cx="2110831" cy="2110831"/>
          </a:xfrm>
          <a:prstGeom prst="rect">
            <a:avLst/>
          </a:prstGeom>
        </p:spPr>
      </p:pic>
      <p:pic>
        <p:nvPicPr>
          <p:cNvPr id="30" name="그림 29">
            <a:extLst>
              <a:ext uri="{FF2B5EF4-FFF2-40B4-BE49-F238E27FC236}">
                <a16:creationId xmlns:a16="http://schemas.microsoft.com/office/drawing/2014/main" id="{C2A16A97-B46C-9A5B-0AFA-B39598C5238D}"/>
              </a:ext>
            </a:extLst>
          </p:cNvPr>
          <p:cNvPicPr>
            <a:picLocks noChangeAspect="1"/>
          </p:cNvPicPr>
          <p:nvPr/>
        </p:nvPicPr>
        <p:blipFill>
          <a:blip r:embed="rId4"/>
          <a:stretch>
            <a:fillRect/>
          </a:stretch>
        </p:blipFill>
        <p:spPr>
          <a:xfrm>
            <a:off x="1440601" y="430187"/>
            <a:ext cx="5296359" cy="1562235"/>
          </a:xfrm>
          <a:prstGeom prst="rect">
            <a:avLst/>
          </a:prstGeom>
        </p:spPr>
      </p:pic>
    </p:spTree>
    <p:extLst>
      <p:ext uri="{BB962C8B-B14F-4D97-AF65-F5344CB8AC3E}">
        <p14:creationId xmlns:p14="http://schemas.microsoft.com/office/powerpoint/2010/main" val="2337382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B7CD6-6AD2-C1A1-6614-A8034CA1E029}"/>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369B5FE5-CB70-944E-E3D5-1C94815098A1}"/>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53C0B304-7768-4A7C-478C-CD3EB3F5C4B3}"/>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5DBD2AF9-940D-C776-D055-745D24E0BD54}"/>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6DE2A25A-22F4-6FAC-77FA-C38D63EE3E12}"/>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EF5E94F6-8E4A-9C1C-E6AD-6FCFC6C67968}"/>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3B875551-BC04-E75A-B386-A8F1156B3E16}"/>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7584791F-FC67-2B27-8210-CC9B06FBB0DB}"/>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4C501A4D-393E-F98A-43C4-8AFD7FDC48A9}"/>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AC282B59-98A5-2BDF-BCA0-4FA420DC04CA}"/>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A50DDE9B-91E2-EF01-B14E-8A05657184F3}"/>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2FA15468-8DE4-AA03-ADA2-30179649864A}"/>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C163D275-F435-F001-12B1-884E06C87912}"/>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8637FC5C-99AC-07FC-7991-A27596A66560}"/>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09E675C0-C961-F9BF-88D1-360DC0988EF7}"/>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D3781E49-32DE-C294-C7CD-0BF489FF38C6}"/>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D9DB5305-96C2-22C0-0A30-B10AAA0EEF94}"/>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AD72AE99-56C7-1A47-A530-6148E30780E8}"/>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F2A3BFA0-87BA-D677-BC5B-5CB47F675EC1}"/>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3DCE2D8B-0A41-EE87-A62E-9A391958F827}"/>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58B95558-B53E-85CB-ECF2-DD7EEA13A488}"/>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6EB52B9B-9110-E70C-DE5E-AE224F9B513C}"/>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596C5A3E-6B51-376A-BF81-69DB54B77CB8}"/>
              </a:ext>
            </a:extLst>
          </p:cNvPr>
          <p:cNvPicPr>
            <a:picLocks noChangeAspect="1"/>
          </p:cNvPicPr>
          <p:nvPr/>
        </p:nvPicPr>
        <p:blipFill>
          <a:blip r:embed="rId2"/>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2128FC07-717C-A05C-313E-24C35E26CCEC}"/>
              </a:ext>
            </a:extLst>
          </p:cNvPr>
          <p:cNvSpPr txBox="1"/>
          <p:nvPr/>
        </p:nvSpPr>
        <p:spPr>
          <a:xfrm>
            <a:off x="298780" y="202700"/>
            <a:ext cx="8693710" cy="4247317"/>
          </a:xfrm>
          <a:prstGeom prst="rect">
            <a:avLst/>
          </a:prstGeom>
          <a:noFill/>
        </p:spPr>
        <p:txBody>
          <a:bodyPr wrap="square" rtlCol="0">
            <a:spAutoFit/>
          </a:bodyPr>
          <a:lstStyle/>
          <a:p>
            <a:r>
              <a:rPr lang="ko-KR" altLang="en-US" dirty="0"/>
              <a:t>▶ </a:t>
            </a:r>
            <a:r>
              <a:rPr lang="ko-KR" altLang="en-US" dirty="0" err="1"/>
              <a:t>고가고수익형은</a:t>
            </a:r>
            <a:r>
              <a:rPr lang="ko-KR" altLang="en-US" dirty="0"/>
              <a:t> 이미 서비스가격이 높으므로 이탈방지위해  프리미엄 서비스 미가입자 활성화할 필요가 있으며</a:t>
            </a:r>
            <a:r>
              <a:rPr lang="en-US" altLang="ko-KR" dirty="0"/>
              <a:t>, </a:t>
            </a:r>
            <a:r>
              <a:rPr lang="ko-KR" altLang="en-US" dirty="0" err="1"/>
              <a:t>신속알람서비스</a:t>
            </a:r>
            <a:r>
              <a:rPr lang="ko-KR" altLang="en-US" dirty="0"/>
              <a:t> 사용권장 필요</a:t>
            </a:r>
            <a:r>
              <a:rPr lang="en-US" altLang="ko-KR" dirty="0"/>
              <a:t>. </a:t>
            </a:r>
            <a:r>
              <a:rPr lang="ko-KR" altLang="en-US" dirty="0"/>
              <a:t>다면 평점이 없는 경우가 많아 양질의 서비스를 제공하고 있다고 보기 힘든 상황으로 이용자 만족도를 높일 수 있는 컨설팅 자료 제공 필요함</a:t>
            </a:r>
            <a:endParaRPr lang="en-US" altLang="ko-KR" dirty="0"/>
          </a:p>
          <a:p>
            <a:r>
              <a:rPr lang="ko-KR" altLang="en-US" dirty="0"/>
              <a:t>▶ 서비스충성도 형은 평점이 좋고 </a:t>
            </a:r>
            <a:r>
              <a:rPr lang="ko-KR" altLang="en-US" dirty="0" err="1"/>
              <a:t>알람서비스</a:t>
            </a:r>
            <a:r>
              <a:rPr lang="ko-KR" altLang="en-US" dirty="0"/>
              <a:t> 사용비율이 높아 이미 적극적으로 </a:t>
            </a:r>
            <a:r>
              <a:rPr lang="en-US" altLang="ko-KR" dirty="0"/>
              <a:t>L</a:t>
            </a:r>
            <a:r>
              <a:rPr lang="ko-KR" altLang="en-US" dirty="0"/>
              <a:t>사를 활용하는 전문가로서</a:t>
            </a:r>
            <a:r>
              <a:rPr lang="en-US" altLang="ko-KR" dirty="0"/>
              <a:t>,</a:t>
            </a:r>
            <a:r>
              <a:rPr lang="ko-KR" altLang="en-US" dirty="0"/>
              <a:t> 이들을 대상으로 </a:t>
            </a:r>
            <a:r>
              <a:rPr lang="en-US" altLang="ko-KR" dirty="0"/>
              <a:t>L</a:t>
            </a:r>
            <a:r>
              <a:rPr lang="ko-KR" altLang="en-US" dirty="0"/>
              <a:t>사 서비스 개선에 대한 요구사항을 접수하여 적극적으로 적용할 필요가 있으며</a:t>
            </a:r>
            <a:r>
              <a:rPr lang="en-US" altLang="ko-KR" dirty="0"/>
              <a:t>, </a:t>
            </a:r>
            <a:r>
              <a:rPr lang="ko-KR" altLang="en-US" dirty="0"/>
              <a:t>이들은 평점에 비해 낮은 서비스가격을 제시하고 있는 전문가들로서 적정 서비스가격을 제안하면 매출증대 가능성 있음</a:t>
            </a:r>
            <a:r>
              <a:rPr lang="en-US" altLang="ko-KR" dirty="0"/>
              <a:t>.</a:t>
            </a:r>
          </a:p>
          <a:p>
            <a:r>
              <a:rPr lang="ko-KR" altLang="en-US" dirty="0"/>
              <a:t>▶ 일반형은 다른 </a:t>
            </a:r>
            <a:r>
              <a:rPr lang="ko-KR" altLang="en-US" dirty="0" err="1"/>
              <a:t>클러스트에</a:t>
            </a:r>
            <a:r>
              <a:rPr lang="ko-KR" altLang="en-US" dirty="0"/>
              <a:t> 비해 특별한 점은 발견되지 않아서</a:t>
            </a:r>
            <a:r>
              <a:rPr lang="en-US" altLang="ko-KR" dirty="0"/>
              <a:t> </a:t>
            </a:r>
            <a:r>
              <a:rPr lang="ko-KR" altLang="en-US" dirty="0"/>
              <a:t>일반형 내에서 세부적으로 분류 및 검토하여 시장대비 과도한 가격을 제시하거나</a:t>
            </a:r>
            <a:r>
              <a:rPr lang="en-US" altLang="ko-KR" dirty="0"/>
              <a:t>, </a:t>
            </a:r>
            <a:r>
              <a:rPr lang="ko-KR" altLang="en-US" dirty="0"/>
              <a:t>저조한 평점이나 판매수를 기록하는 경우 판매자별 맞춤형 권고 필요 </a:t>
            </a:r>
            <a:endParaRPr lang="en-US" altLang="ko-KR" dirty="0"/>
          </a:p>
          <a:p>
            <a:r>
              <a:rPr lang="ko-KR" altLang="en-US" dirty="0"/>
              <a:t>▶ 저가형</a:t>
            </a:r>
            <a:r>
              <a:rPr lang="en-US" altLang="ko-KR" dirty="0"/>
              <a:t>/</a:t>
            </a:r>
            <a:r>
              <a:rPr lang="ko-KR" altLang="en-US" dirty="0"/>
              <a:t>신규형 판매자는 향후 시장의 기대에 비해 높은 서비스 가격을 제시하였으나</a:t>
            </a:r>
            <a:r>
              <a:rPr lang="en-US" altLang="ko-KR" dirty="0"/>
              <a:t>, </a:t>
            </a:r>
            <a:r>
              <a:rPr lang="ko-KR" altLang="en-US" dirty="0"/>
              <a:t>평점이 낮은 서비스를 제공하고 있는 전문가들로서 신규형 판매자에게는 구글 트렌드와 같이 </a:t>
            </a:r>
            <a:r>
              <a:rPr lang="en-US" altLang="ko-KR" dirty="0"/>
              <a:t>IT</a:t>
            </a:r>
            <a:r>
              <a:rPr lang="ko-KR" altLang="en-US" dirty="0"/>
              <a:t>서비스관련 트렌드를 제공하여 미래 </a:t>
            </a:r>
            <a:r>
              <a:rPr lang="en-US" altLang="ko-KR" dirty="0"/>
              <a:t>L</a:t>
            </a:r>
            <a:r>
              <a:rPr lang="ko-KR" altLang="en-US" dirty="0"/>
              <a:t>사의 </a:t>
            </a:r>
            <a:endParaRPr lang="en-US" altLang="ko-KR" dirty="0"/>
          </a:p>
          <a:p>
            <a:r>
              <a:rPr lang="ko-KR" altLang="en-US" dirty="0"/>
              <a:t>서비스충성도 높은 판매자로서 이동하도록 도울 필요가 있음</a:t>
            </a:r>
            <a:r>
              <a:rPr lang="en-US" altLang="ko-KR" dirty="0"/>
              <a:t>. </a:t>
            </a:r>
          </a:p>
        </p:txBody>
      </p:sp>
    </p:spTree>
    <p:extLst>
      <p:ext uri="{BB962C8B-B14F-4D97-AF65-F5344CB8AC3E}">
        <p14:creationId xmlns:p14="http://schemas.microsoft.com/office/powerpoint/2010/main" val="3632459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A040A-26E2-A307-15D0-4C1EC74543FD}"/>
            </a:ext>
          </a:extLst>
        </p:cNvPr>
        <p:cNvGrpSpPr/>
        <p:nvPr/>
      </p:nvGrpSpPr>
      <p:grpSpPr>
        <a:xfrm>
          <a:off x="0" y="0"/>
          <a:ext cx="0" cy="0"/>
          <a:chOff x="0" y="0"/>
          <a:chExt cx="0" cy="0"/>
        </a:xfrm>
      </p:grpSpPr>
      <p:pic>
        <p:nvPicPr>
          <p:cNvPr id="25" name="그림 24">
            <a:extLst>
              <a:ext uri="{FF2B5EF4-FFF2-40B4-BE49-F238E27FC236}">
                <a16:creationId xmlns:a16="http://schemas.microsoft.com/office/drawing/2014/main" id="{5691225E-5985-5BE3-617F-5DB0BC3B57B9}"/>
              </a:ext>
            </a:extLst>
          </p:cNvPr>
          <p:cNvPicPr>
            <a:picLocks noChangeAspect="1"/>
          </p:cNvPicPr>
          <p:nvPr/>
        </p:nvPicPr>
        <p:blipFill>
          <a:blip r:embed="rId2"/>
          <a:stretch>
            <a:fillRect/>
          </a:stretch>
        </p:blipFill>
        <p:spPr>
          <a:xfrm>
            <a:off x="312956" y="3418146"/>
            <a:ext cx="6927180" cy="1607959"/>
          </a:xfrm>
          <a:prstGeom prst="rect">
            <a:avLst/>
          </a:prstGeom>
        </p:spPr>
      </p:pic>
      <p:grpSp>
        <p:nvGrpSpPr>
          <p:cNvPr id="2" name="Google Shape;347;p36">
            <a:extLst>
              <a:ext uri="{FF2B5EF4-FFF2-40B4-BE49-F238E27FC236}">
                <a16:creationId xmlns:a16="http://schemas.microsoft.com/office/drawing/2014/main" id="{45218F50-0E13-0083-EC1D-AD083524AFD5}"/>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C883977E-D290-9720-5AD8-40BE6FDCE56F}"/>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E858CEA9-C79A-8FF6-1842-4D8BEDE7E320}"/>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40A33806-DC57-4E27-4D54-4977C285B5EE}"/>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96887AA5-D910-65F4-FF3C-DC673D915F6C}"/>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3D4454AE-05DC-DC07-F663-3C388D75A5CE}"/>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4C23407C-A10F-9D4E-82E7-2F3B829C8816}"/>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5177C697-22C2-EF46-E416-5882578137F9}"/>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E68A2820-4CAA-8814-CB5E-2EE6D49FF925}"/>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97B391A0-A9A7-92DB-09AA-EE7020E45900}"/>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0B5640FF-6192-A968-F64A-8EEE08DBA7CC}"/>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ABA19BB3-12A8-1D30-D0C2-299FABD783DB}"/>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31E0C8DD-7D90-BE84-2823-3AAA778D5AE4}"/>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F60C0EA0-A8C2-5F98-32B2-359C2C7A713D}"/>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CCAB4D09-F625-456F-CE17-C0FBDF1C9D6D}"/>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28A61454-4C23-EAC0-2601-464C2A68E650}"/>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7AF8FC98-573F-5C31-0BBC-A1CE371E616D}"/>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EE9D2EA3-1872-B070-3E48-C05EBDF80F2C}"/>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CE8E522E-3DEB-7A39-4423-7DD668D2D1C9}"/>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6B8BE465-A483-8F7B-8DF7-E54166791C7A}"/>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06EF75CE-4AF6-3010-9558-D2E3842CDF64}"/>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CD90A779-4E98-2763-44C7-067BC3A8B6FD}"/>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27CF6D69-D133-04BD-3B61-4A9ED7812F92}"/>
              </a:ext>
            </a:extLst>
          </p:cNvPr>
          <p:cNvSpPr txBox="1"/>
          <p:nvPr/>
        </p:nvSpPr>
        <p:spPr>
          <a:xfrm>
            <a:off x="943760" y="195265"/>
            <a:ext cx="8048729" cy="3139321"/>
          </a:xfrm>
          <a:prstGeom prst="rect">
            <a:avLst/>
          </a:prstGeom>
          <a:noFill/>
        </p:spPr>
        <p:txBody>
          <a:bodyPr wrap="square" rtlCol="0">
            <a:spAutoFit/>
          </a:bodyPr>
          <a:lstStyle/>
          <a:p>
            <a:r>
              <a:rPr lang="ko-KR" altLang="en-US" dirty="0"/>
              <a:t>▣ </a:t>
            </a:r>
            <a:r>
              <a:rPr lang="en-US" altLang="ko-KR" dirty="0"/>
              <a:t>Log_Data02.csv </a:t>
            </a:r>
            <a:r>
              <a:rPr lang="ko-KR" altLang="en-US" dirty="0"/>
              <a:t>활용하여 다음 내용 위주로 검토</a:t>
            </a:r>
            <a:endParaRPr lang="en-US" altLang="ko-KR" dirty="0"/>
          </a:p>
          <a:p>
            <a:r>
              <a:rPr lang="ko-KR" altLang="en-US" dirty="0"/>
              <a:t>▣ 서비스가격</a:t>
            </a:r>
            <a:r>
              <a:rPr lang="en-US" altLang="ko-KR" dirty="0"/>
              <a:t>, </a:t>
            </a:r>
            <a:r>
              <a:rPr lang="ko-KR" altLang="en-US" dirty="0"/>
              <a:t>판매금액</a:t>
            </a:r>
            <a:r>
              <a:rPr lang="en-US" altLang="ko-KR" dirty="0"/>
              <a:t>, </a:t>
            </a:r>
            <a:r>
              <a:rPr lang="ko-KR" altLang="en-US" dirty="0"/>
              <a:t>추가결제금액 관련 거래금액 규모에 따라 수수료율 차등 가능성</a:t>
            </a:r>
            <a:endParaRPr lang="en-US" altLang="ko-KR" dirty="0"/>
          </a:p>
          <a:p>
            <a:r>
              <a:rPr lang="ko-KR" altLang="en-US" dirty="0"/>
              <a:t>▣ 프로그램 수정횟수 관련 고객지원 비용 </a:t>
            </a:r>
            <a:r>
              <a:rPr lang="ko-KR" altLang="en-US" dirty="0" err="1"/>
              <a:t>증가시</a:t>
            </a:r>
            <a:r>
              <a:rPr lang="ko-KR" altLang="en-US" dirty="0"/>
              <a:t> 수수료율 인상 검토</a:t>
            </a:r>
            <a:endParaRPr lang="en-US" altLang="ko-KR" dirty="0"/>
          </a:p>
          <a:p>
            <a:r>
              <a:rPr lang="ko-KR" altLang="en-US" dirty="0"/>
              <a:t>▣ 평점</a:t>
            </a:r>
            <a:r>
              <a:rPr lang="en-US" altLang="ko-KR" dirty="0"/>
              <a:t>, </a:t>
            </a:r>
            <a:r>
              <a:rPr lang="ko-KR" altLang="en-US" dirty="0"/>
              <a:t>이용자수 관련 품질 신뢰도 높은 판매자는 수수료율 인하 검토</a:t>
            </a:r>
            <a:endParaRPr lang="en-US" altLang="ko-KR" dirty="0"/>
          </a:p>
          <a:p>
            <a:r>
              <a:rPr lang="ko-KR" altLang="en-US" dirty="0"/>
              <a:t>▣ 거래취소여부 관련 리스크가 높으면 수수료율 올라가는지 여부 검토</a:t>
            </a:r>
            <a:endParaRPr lang="en-US" altLang="ko-KR" dirty="0"/>
          </a:p>
          <a:p>
            <a:r>
              <a:rPr lang="ko-KR" altLang="en-US" dirty="0"/>
              <a:t>▣ 대분류</a:t>
            </a:r>
            <a:r>
              <a:rPr lang="en-US" altLang="ko-KR" dirty="0"/>
              <a:t>, </a:t>
            </a:r>
            <a:r>
              <a:rPr lang="ko-KR" altLang="en-US" dirty="0"/>
              <a:t>서비스명</a:t>
            </a:r>
            <a:r>
              <a:rPr lang="en-US" altLang="ko-KR" dirty="0"/>
              <a:t>, </a:t>
            </a:r>
            <a:r>
              <a:rPr lang="ko-KR" altLang="en-US" dirty="0"/>
              <a:t>판매자 관련 업종</a:t>
            </a:r>
            <a:r>
              <a:rPr lang="en-US" altLang="ko-KR" dirty="0"/>
              <a:t>, </a:t>
            </a:r>
            <a:r>
              <a:rPr lang="ko-KR" altLang="en-US" dirty="0"/>
              <a:t>판매자에 따른 수수료 정책 구현</a:t>
            </a:r>
            <a:endParaRPr lang="en-US" altLang="ko-KR" dirty="0"/>
          </a:p>
          <a:p>
            <a:r>
              <a:rPr lang="ko-KR" altLang="en-US" dirty="0"/>
              <a:t>▣ 같은 조건인데 수수료율이 현저히 낮거나 높은 경우 협상 대상</a:t>
            </a:r>
            <a:r>
              <a:rPr lang="en-US" altLang="ko-KR" dirty="0"/>
              <a:t>. </a:t>
            </a:r>
          </a:p>
          <a:p>
            <a:r>
              <a:rPr lang="en-US" altLang="ko-KR" dirty="0"/>
              <a:t>    IQR, Z-score </a:t>
            </a:r>
            <a:r>
              <a:rPr lang="ko-KR" altLang="en-US" dirty="0"/>
              <a:t>등으로 탐지</a:t>
            </a:r>
            <a:endParaRPr lang="en-US" altLang="ko-KR" dirty="0"/>
          </a:p>
          <a:p>
            <a:r>
              <a:rPr lang="ko-KR" altLang="en-US" dirty="0"/>
              <a:t>▣ 수수료율 </a:t>
            </a:r>
            <a:r>
              <a:rPr lang="ko-KR" altLang="en-US" dirty="0" err="1"/>
              <a:t>조정시</a:t>
            </a:r>
            <a:r>
              <a:rPr lang="ko-KR" altLang="en-US" dirty="0"/>
              <a:t> </a:t>
            </a:r>
            <a:r>
              <a:rPr lang="ko-KR" altLang="en-US" dirty="0" err="1"/>
              <a:t>총수익</a:t>
            </a:r>
            <a:r>
              <a:rPr lang="en-US" altLang="ko-KR" dirty="0"/>
              <a:t>(</a:t>
            </a:r>
            <a:r>
              <a:rPr lang="ko-KR" altLang="en-US" dirty="0"/>
              <a:t>판매금액 * 수수료율</a:t>
            </a:r>
            <a:r>
              <a:rPr lang="en-US" altLang="ko-KR" dirty="0"/>
              <a:t>)</a:t>
            </a:r>
            <a:r>
              <a:rPr lang="ko-KR" altLang="en-US" dirty="0"/>
              <a:t>이 최적화되는 지점 찾기</a:t>
            </a:r>
            <a:endParaRPr lang="en-US" altLang="ko-KR" dirty="0"/>
          </a:p>
          <a:p>
            <a:r>
              <a:rPr lang="ko-KR" altLang="en-US" dirty="0"/>
              <a:t>▣</a:t>
            </a:r>
            <a:r>
              <a:rPr lang="en-US" altLang="ko-KR" dirty="0"/>
              <a:t> </a:t>
            </a:r>
            <a:r>
              <a:rPr lang="ko-KR" altLang="en-US" dirty="0"/>
              <a:t>본 데이터셋은 범주형 자료가 많아 </a:t>
            </a:r>
            <a:r>
              <a:rPr lang="en-US" altLang="ko-KR" dirty="0" err="1"/>
              <a:t>Catboost</a:t>
            </a:r>
            <a:r>
              <a:rPr lang="ko-KR" altLang="en-US" dirty="0"/>
              <a:t>로 진행</a:t>
            </a:r>
            <a:endParaRPr lang="en-US" altLang="ko-KR" dirty="0"/>
          </a:p>
        </p:txBody>
      </p:sp>
    </p:spTree>
    <p:extLst>
      <p:ext uri="{BB962C8B-B14F-4D97-AF65-F5344CB8AC3E}">
        <p14:creationId xmlns:p14="http://schemas.microsoft.com/office/powerpoint/2010/main" val="3201565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5439E-9707-6792-91E0-29348C2B7C2E}"/>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5B291BD5-BB01-E84B-92D5-B810836B27AD}"/>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A85DC8B6-1A7C-8E05-C53F-307D965F0A47}"/>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F78D6353-C0C6-D178-FDF8-FA66247D56E5}"/>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AF6B1D18-1048-5D86-12D8-B6FDCA303034}"/>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26330BF5-1491-032A-C752-624F67F4411C}"/>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9775F7F5-43EA-F60E-9BBA-FA96C09C3D22}"/>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A7A962BE-A62F-6871-FBD2-B69F6857D050}"/>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BF4AA8EB-1D82-09AB-E797-DFCD128FE2CC}"/>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F2F9C8F2-6818-EC3E-0303-9E49D8B587CF}"/>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51CF68F1-BF3D-9C9A-C26A-0C4883350A55}"/>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F0544BE2-1E63-E4A5-4F61-84480326E7F8}"/>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3B4A3B25-18BD-BC84-79F7-4AC35FCFD4BC}"/>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63ECB1C7-D96E-5ECB-F75A-A46234B92795}"/>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60F73A21-0BAE-4545-E81D-E9EBC28DC8AB}"/>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8B017B7A-9AE8-A1C0-9BB5-B43025003AF6}"/>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E929A99E-083A-B617-2D6D-B7D25E390A60}"/>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A476C69F-1C6E-8CC1-877C-16C3D39DC4CE}"/>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6CC28CBF-F048-5BA7-5A0D-C9FA9E2F5535}"/>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7F4E1789-5A4B-9D41-B24E-23701588ACD8}"/>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A08A1B4D-5A63-CBF9-2595-B3EFB973089C}"/>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9D575BA9-9ED9-28BD-D676-684F85F91C2D}"/>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25" name="그림 24">
            <a:extLst>
              <a:ext uri="{FF2B5EF4-FFF2-40B4-BE49-F238E27FC236}">
                <a16:creationId xmlns:a16="http://schemas.microsoft.com/office/drawing/2014/main" id="{266B026F-2CEB-235C-4A51-4C3EF7BBC2BA}"/>
              </a:ext>
            </a:extLst>
          </p:cNvPr>
          <p:cNvPicPr>
            <a:picLocks noChangeAspect="1"/>
          </p:cNvPicPr>
          <p:nvPr/>
        </p:nvPicPr>
        <p:blipFill>
          <a:blip r:embed="rId2"/>
          <a:stretch>
            <a:fillRect/>
          </a:stretch>
        </p:blipFill>
        <p:spPr>
          <a:xfrm>
            <a:off x="0" y="50908"/>
            <a:ext cx="5822185" cy="5098222"/>
          </a:xfrm>
          <a:prstGeom prst="rect">
            <a:avLst/>
          </a:prstGeom>
        </p:spPr>
      </p:pic>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8F9194B8-D51F-BB89-4AD2-DCF7687FEFD9}"/>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F58B901C-F040-00D4-A424-8AF883F0F081}"/>
              </a:ext>
            </a:extLst>
          </p:cNvPr>
          <p:cNvSpPr txBox="1"/>
          <p:nvPr/>
        </p:nvSpPr>
        <p:spPr>
          <a:xfrm>
            <a:off x="6124199" y="626068"/>
            <a:ext cx="2940503" cy="2031325"/>
          </a:xfrm>
          <a:prstGeom prst="rect">
            <a:avLst/>
          </a:prstGeom>
          <a:noFill/>
        </p:spPr>
        <p:txBody>
          <a:bodyPr wrap="square" rtlCol="0">
            <a:spAutoFit/>
          </a:bodyPr>
          <a:lstStyle/>
          <a:p>
            <a:r>
              <a:rPr lang="ko-KR" altLang="en-US" dirty="0"/>
              <a:t>▣ 일반적으로 예상가능한 서비스가격과 총금액과의 높은 상관관계를 제외하고</a:t>
            </a:r>
            <a:r>
              <a:rPr lang="en-US" altLang="ko-KR" dirty="0"/>
              <a:t>, </a:t>
            </a:r>
            <a:r>
              <a:rPr lang="ko-KR" altLang="en-US" dirty="0"/>
              <a:t>수치형 변수간 상관관계를 가진 변수쌍은 없음</a:t>
            </a:r>
            <a:endParaRPr lang="en-US" altLang="ko-KR" dirty="0"/>
          </a:p>
          <a:p>
            <a:r>
              <a:rPr lang="ko-KR" altLang="en-US" dirty="0"/>
              <a:t>▣ 높은 상관관계를 지닌 </a:t>
            </a:r>
            <a:endParaRPr lang="en-US" altLang="ko-KR" dirty="0"/>
          </a:p>
          <a:p>
            <a:r>
              <a:rPr lang="ko-KR" altLang="en-US" dirty="0"/>
              <a:t>서비스가격 컬럼은 삭제</a:t>
            </a:r>
            <a:endParaRPr lang="en-US" altLang="ko-KR" dirty="0"/>
          </a:p>
        </p:txBody>
      </p:sp>
    </p:spTree>
    <p:extLst>
      <p:ext uri="{BB962C8B-B14F-4D97-AF65-F5344CB8AC3E}">
        <p14:creationId xmlns:p14="http://schemas.microsoft.com/office/powerpoint/2010/main" val="2755463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7DBB5-7851-6E73-600A-DDD3483D620F}"/>
            </a:ext>
          </a:extLst>
        </p:cNvPr>
        <p:cNvGrpSpPr/>
        <p:nvPr/>
      </p:nvGrpSpPr>
      <p:grpSpPr>
        <a:xfrm>
          <a:off x="0" y="0"/>
          <a:ext cx="0" cy="0"/>
          <a:chOff x="0" y="0"/>
          <a:chExt cx="0" cy="0"/>
        </a:xfrm>
      </p:grpSpPr>
      <p:pic>
        <p:nvPicPr>
          <p:cNvPr id="30" name="그림 29">
            <a:extLst>
              <a:ext uri="{FF2B5EF4-FFF2-40B4-BE49-F238E27FC236}">
                <a16:creationId xmlns:a16="http://schemas.microsoft.com/office/drawing/2014/main" id="{DD127F96-3963-06F3-85CE-FF2DBD0041FB}"/>
              </a:ext>
            </a:extLst>
          </p:cNvPr>
          <p:cNvPicPr>
            <a:picLocks noChangeAspect="1"/>
          </p:cNvPicPr>
          <p:nvPr/>
        </p:nvPicPr>
        <p:blipFill>
          <a:blip r:embed="rId2"/>
          <a:stretch>
            <a:fillRect/>
          </a:stretch>
        </p:blipFill>
        <p:spPr>
          <a:xfrm>
            <a:off x="4995149" y="1547333"/>
            <a:ext cx="3707100" cy="2847694"/>
          </a:xfrm>
          <a:prstGeom prst="rect">
            <a:avLst/>
          </a:prstGeom>
        </p:spPr>
      </p:pic>
      <p:grpSp>
        <p:nvGrpSpPr>
          <p:cNvPr id="2" name="Google Shape;347;p36">
            <a:extLst>
              <a:ext uri="{FF2B5EF4-FFF2-40B4-BE49-F238E27FC236}">
                <a16:creationId xmlns:a16="http://schemas.microsoft.com/office/drawing/2014/main" id="{5DE09F04-359D-818B-368A-B7ADF70EFC12}"/>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BF36CBA4-9256-DD0C-8E4E-C7F2A7A5AA5C}"/>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B2CC110D-7477-94C4-1E94-3D882AB57BCF}"/>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F6073FA9-79B8-C6C9-F938-B975D5D5EE97}"/>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70FDECE6-65CD-CBF6-428D-C99FA715850E}"/>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B8B40607-260B-E5E9-1F63-508C68CCB795}"/>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50909CB0-0516-E41C-5117-B0C3CB134242}"/>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89314E9D-6E0D-586E-5DDB-D428696FB29E}"/>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2F2E1A1B-3E42-CAD1-8852-A6E7BD5B8F78}"/>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0C2E0CEF-7376-ABDE-767B-92437895CBD9}"/>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E3BE1E4F-C010-201A-60C5-7D24491BEADA}"/>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2FE4D1D9-D1D7-06BC-6428-65EDF12A473B}"/>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1CFD5A6F-3CF0-A4AD-3DE7-A8E1BFFA63E0}"/>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183622DE-16DA-7688-5B79-197F1F41E4E6}"/>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93096FEE-84D4-267A-ADB4-20EE89AB4F82}"/>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11F1F102-6DA4-6026-6405-99CC8C172FEB}"/>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4AD48C40-07F2-A929-4ACD-5A6E4585FFB5}"/>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CE3A739A-A09E-6492-5B8E-F64B509A38F3}"/>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E1D6397F-C6B6-2E59-D62B-B7D2C0789EA2}"/>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744678DA-3AC8-3B03-1259-6CD8CAF917CE}"/>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CB91ED81-12CE-CA41-655B-015B1DA28813}"/>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C31145EB-9D8F-5B87-5BC7-FBDF8B82EE86}"/>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6D94BB08-D3A3-1154-EC9A-D3159C934BD0}"/>
              </a:ext>
            </a:extLst>
          </p:cNvPr>
          <p:cNvSpPr txBox="1"/>
          <p:nvPr/>
        </p:nvSpPr>
        <p:spPr>
          <a:xfrm>
            <a:off x="1002073" y="341128"/>
            <a:ext cx="7700176" cy="1200329"/>
          </a:xfrm>
          <a:prstGeom prst="rect">
            <a:avLst/>
          </a:prstGeom>
          <a:noFill/>
        </p:spPr>
        <p:txBody>
          <a:bodyPr wrap="square" rtlCol="0">
            <a:spAutoFit/>
          </a:bodyPr>
          <a:lstStyle/>
          <a:p>
            <a:r>
              <a:rPr lang="ko-KR" altLang="en-US" dirty="0"/>
              <a:t>▣ 평점은 양 극단으로 나누어져 분포되어 있음</a:t>
            </a:r>
            <a:endParaRPr lang="en-US" altLang="ko-KR" dirty="0"/>
          </a:p>
          <a:p>
            <a:r>
              <a:rPr lang="ko-KR" altLang="en-US" dirty="0"/>
              <a:t>▣ </a:t>
            </a:r>
            <a:r>
              <a:rPr lang="en-US" altLang="ko-KR" dirty="0"/>
              <a:t>0</a:t>
            </a:r>
            <a:r>
              <a:rPr lang="ko-KR" altLang="en-US" dirty="0"/>
              <a:t>점인 데이터의 대부분 이용자수가 없는 경우에 해당</a:t>
            </a:r>
            <a:endParaRPr lang="en-US" altLang="ko-KR" dirty="0"/>
          </a:p>
          <a:p>
            <a:r>
              <a:rPr lang="ko-KR" altLang="en-US" dirty="0"/>
              <a:t>▣ 장기간 이용자수가 없는 서비스는 정리할 필요 있음</a:t>
            </a:r>
            <a:endParaRPr lang="en-US" altLang="ko-KR" dirty="0"/>
          </a:p>
          <a:p>
            <a:r>
              <a:rPr lang="ko-KR" altLang="en-US" dirty="0"/>
              <a:t>▣</a:t>
            </a:r>
            <a:r>
              <a:rPr lang="en-US" altLang="ko-KR" dirty="0"/>
              <a:t> </a:t>
            </a:r>
            <a:r>
              <a:rPr lang="ko-KR" altLang="en-US" dirty="0"/>
              <a:t>대다수의 이용고객은 </a:t>
            </a:r>
            <a:r>
              <a:rPr lang="en-US" altLang="ko-KR" dirty="0"/>
              <a:t>3.5</a:t>
            </a:r>
            <a:r>
              <a:rPr lang="ko-KR" altLang="en-US" dirty="0"/>
              <a:t>에서 </a:t>
            </a:r>
            <a:r>
              <a:rPr lang="en-US" altLang="ko-KR" dirty="0"/>
              <a:t>5</a:t>
            </a:r>
            <a:r>
              <a:rPr lang="ko-KR" altLang="en-US" dirty="0"/>
              <a:t>사이에서 평점 부여</a:t>
            </a:r>
            <a:endParaRPr lang="en-US" altLang="ko-KR" dirty="0"/>
          </a:p>
        </p:txBody>
      </p:sp>
      <p:pic>
        <p:nvPicPr>
          <p:cNvPr id="25" name="그림 24">
            <a:extLst>
              <a:ext uri="{FF2B5EF4-FFF2-40B4-BE49-F238E27FC236}">
                <a16:creationId xmlns:a16="http://schemas.microsoft.com/office/drawing/2014/main" id="{49888F77-DC2D-6AD7-F7F4-E15604C58329}"/>
              </a:ext>
            </a:extLst>
          </p:cNvPr>
          <p:cNvPicPr>
            <a:picLocks noChangeAspect="1"/>
          </p:cNvPicPr>
          <p:nvPr/>
        </p:nvPicPr>
        <p:blipFill>
          <a:blip r:embed="rId4"/>
          <a:stretch>
            <a:fillRect/>
          </a:stretch>
        </p:blipFill>
        <p:spPr>
          <a:xfrm>
            <a:off x="-37076" y="1610085"/>
            <a:ext cx="3299859" cy="2575339"/>
          </a:xfrm>
          <a:prstGeom prst="rect">
            <a:avLst/>
          </a:prstGeom>
        </p:spPr>
      </p:pic>
      <p:pic>
        <p:nvPicPr>
          <p:cNvPr id="28" name="그림 27">
            <a:extLst>
              <a:ext uri="{FF2B5EF4-FFF2-40B4-BE49-F238E27FC236}">
                <a16:creationId xmlns:a16="http://schemas.microsoft.com/office/drawing/2014/main" id="{C6662860-E965-D0C6-1659-80FE08B3E801}"/>
              </a:ext>
            </a:extLst>
          </p:cNvPr>
          <p:cNvPicPr>
            <a:picLocks noChangeAspect="1"/>
          </p:cNvPicPr>
          <p:nvPr/>
        </p:nvPicPr>
        <p:blipFill>
          <a:blip r:embed="rId5"/>
          <a:stretch>
            <a:fillRect/>
          </a:stretch>
        </p:blipFill>
        <p:spPr>
          <a:xfrm>
            <a:off x="3165275" y="1723486"/>
            <a:ext cx="1867062" cy="1966130"/>
          </a:xfrm>
          <a:prstGeom prst="rect">
            <a:avLst/>
          </a:prstGeom>
        </p:spPr>
      </p:pic>
    </p:spTree>
    <p:extLst>
      <p:ext uri="{BB962C8B-B14F-4D97-AF65-F5344CB8AC3E}">
        <p14:creationId xmlns:p14="http://schemas.microsoft.com/office/powerpoint/2010/main" val="2664624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7191-B3F5-38BC-C06E-33F22D52903C}"/>
            </a:ext>
          </a:extLst>
        </p:cNvPr>
        <p:cNvGrpSpPr/>
        <p:nvPr/>
      </p:nvGrpSpPr>
      <p:grpSpPr>
        <a:xfrm>
          <a:off x="0" y="0"/>
          <a:ext cx="0" cy="0"/>
          <a:chOff x="0" y="0"/>
          <a:chExt cx="0" cy="0"/>
        </a:xfrm>
      </p:grpSpPr>
      <p:sp>
        <p:nvSpPr>
          <p:cNvPr id="292" name="PlaceHolder 1">
            <a:extLst>
              <a:ext uri="{FF2B5EF4-FFF2-40B4-BE49-F238E27FC236}">
                <a16:creationId xmlns:a16="http://schemas.microsoft.com/office/drawing/2014/main" id="{D2FE411F-BE47-7EB2-5E93-5FF89AC07848}"/>
              </a:ext>
            </a:extLst>
          </p:cNvPr>
          <p:cNvSpPr>
            <a:spLocks noGrp="1"/>
          </p:cNvSpPr>
          <p:nvPr>
            <p:ph type="title"/>
          </p:nvPr>
        </p:nvSpPr>
        <p:spPr>
          <a:xfrm>
            <a:off x="714240" y="2381400"/>
            <a:ext cx="7701214" cy="91404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ko-KR" altLang="en-US" sz="5000" b="1" spc="-1" dirty="0">
                <a:solidFill>
                  <a:schemeClr val="dk1"/>
                </a:solidFill>
                <a:latin typeface="Outfit"/>
              </a:rPr>
              <a:t>아웃소싱 외부환경 리서치</a:t>
            </a:r>
            <a:endParaRPr lang="fr-FR" sz="5000" b="0" strike="noStrike" spc="-1" dirty="0">
              <a:solidFill>
                <a:schemeClr val="dk1"/>
              </a:solidFill>
              <a:latin typeface="Arial"/>
            </a:endParaRPr>
          </a:p>
        </p:txBody>
      </p:sp>
      <p:sp>
        <p:nvSpPr>
          <p:cNvPr id="293" name="PlaceHolder 2">
            <a:extLst>
              <a:ext uri="{FF2B5EF4-FFF2-40B4-BE49-F238E27FC236}">
                <a16:creationId xmlns:a16="http://schemas.microsoft.com/office/drawing/2014/main" id="{BE03344F-6579-F6DB-0BE7-7829E79BDA80}"/>
              </a:ext>
            </a:extLst>
          </p:cNvPr>
          <p:cNvSpPr>
            <a:spLocks noGrp="1"/>
          </p:cNvSpPr>
          <p:nvPr>
            <p:ph type="title"/>
          </p:nvPr>
        </p:nvSpPr>
        <p:spPr>
          <a:xfrm>
            <a:off x="714240" y="1467000"/>
            <a:ext cx="1266480" cy="91404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6000" b="1" strike="noStrike" spc="-1" dirty="0">
                <a:solidFill>
                  <a:schemeClr val="dk1"/>
                </a:solidFill>
                <a:latin typeface="Outfit"/>
                <a:ea typeface="Outfit"/>
              </a:rPr>
              <a:t>03</a:t>
            </a:r>
            <a:endParaRPr lang="fr-FR" sz="6000" b="0" strike="noStrike" spc="-1" dirty="0">
              <a:solidFill>
                <a:schemeClr val="dk1"/>
              </a:solidFill>
              <a:latin typeface="Arial"/>
            </a:endParaRPr>
          </a:p>
        </p:txBody>
      </p:sp>
      <p:cxnSp>
        <p:nvCxnSpPr>
          <p:cNvPr id="313" name="Google Shape;450;p40">
            <a:extLst>
              <a:ext uri="{FF2B5EF4-FFF2-40B4-BE49-F238E27FC236}">
                <a16:creationId xmlns:a16="http://schemas.microsoft.com/office/drawing/2014/main" id="{977CB5EB-561C-0162-8D89-7D4B934E7CEB}"/>
              </a:ext>
            </a:extLst>
          </p:cNvPr>
          <p:cNvCxnSpPr/>
          <p:nvPr/>
        </p:nvCxnSpPr>
        <p:spPr>
          <a:xfrm>
            <a:off x="840960" y="1385640"/>
            <a:ext cx="374040" cy="360"/>
          </a:xfrm>
          <a:prstGeom prst="straightConnector1">
            <a:avLst/>
          </a:prstGeom>
          <a:ln w="19050">
            <a:solidFill>
              <a:srgbClr val="384655"/>
            </a:solidFill>
            <a:round/>
          </a:ln>
        </p:spPr>
      </p:cxn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F7E3BAB9-4C5C-2451-4010-0200D50619E7}"/>
              </a:ext>
            </a:extLst>
          </p:cNvPr>
          <p:cNvPicPr>
            <a:picLocks noChangeAspect="1"/>
          </p:cNvPicPr>
          <p:nvPr/>
        </p:nvPicPr>
        <p:blipFill>
          <a:blip r:embed="rId2"/>
          <a:stretch>
            <a:fillRect/>
          </a:stretch>
        </p:blipFill>
        <p:spPr>
          <a:xfrm>
            <a:off x="7010400" y="3040104"/>
            <a:ext cx="2110831" cy="2110831"/>
          </a:xfrm>
          <a:prstGeom prst="rect">
            <a:avLst/>
          </a:prstGeom>
        </p:spPr>
      </p:pic>
    </p:spTree>
    <p:extLst>
      <p:ext uri="{BB962C8B-B14F-4D97-AF65-F5344CB8AC3E}">
        <p14:creationId xmlns:p14="http://schemas.microsoft.com/office/powerpoint/2010/main" val="1158319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56AC-ABE9-D740-5960-374C9D299A3C}"/>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574CD22F-E846-AC96-CCBF-FB0707881117}"/>
              </a:ext>
            </a:extLst>
          </p:cNvPr>
          <p:cNvGrpSpPr/>
          <p:nvPr/>
        </p:nvGrpSpPr>
        <p:grpSpPr>
          <a:xfrm>
            <a:off x="79361" y="76014"/>
            <a:ext cx="750896" cy="937260"/>
            <a:chOff x="5115240" y="-428760"/>
            <a:chExt cx="4275000" cy="6450480"/>
          </a:xfrm>
        </p:grpSpPr>
        <p:sp>
          <p:nvSpPr>
            <p:cNvPr id="3" name="Google Shape;348;p36">
              <a:extLst>
                <a:ext uri="{FF2B5EF4-FFF2-40B4-BE49-F238E27FC236}">
                  <a16:creationId xmlns:a16="http://schemas.microsoft.com/office/drawing/2014/main" id="{3D050BC3-0CA9-B23C-FB1A-9B41CD4E0270}"/>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17A4A6D2-0C53-19AF-0D5A-2712432B1E05}"/>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F81B5B19-CE41-3621-E65D-08B2F9D237F1}"/>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F834AC59-A27D-A516-5DB5-E89B830BF1FA}"/>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32463BD3-F6B0-04BB-2E10-32A2FA2CD73D}"/>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EBB99AF6-134A-B5F7-7DC9-ECB2FF68395E}"/>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C7172158-2440-D2D3-CA4F-FAB1FD54A3D6}"/>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E4855E36-CD76-7B3A-3A42-9572AEF49A51}"/>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C0F6E94E-6541-26D0-D95E-4456A03EA2B8}"/>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47080FD2-272F-2851-5313-45EC6DFAC1F2}"/>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131372B2-906A-1DCA-0374-93749708DDB9}"/>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73869092-34D1-4E43-73D9-C8B8099179C5}"/>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D2488A16-48DD-084A-681F-32A0061E4DE5}"/>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8EC2E707-D82B-80F9-14D5-32ADE42FC9DC}"/>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990F5D2C-0CC2-4AE3-6C12-B8B6D1DD5278}"/>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87D2F340-AC14-4C52-7EAD-D31425E465CE}"/>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3AE0F4DA-6AD0-0141-F4B0-E720AC21B9CA}"/>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74DC5439-02A8-4F72-2A5E-9D5A72DC938A}"/>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502E3B1C-B9A6-DF49-F94A-1423BEE1B38C}"/>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99A8FB2A-A8BD-9C22-12E5-7F8FBD3FE314}"/>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9E19E446-76C4-F19B-1906-C8619AE10497}"/>
              </a:ext>
            </a:extLst>
          </p:cNvPr>
          <p:cNvPicPr>
            <a:picLocks noChangeAspect="1"/>
          </p:cNvPicPr>
          <p:nvPr/>
        </p:nvPicPr>
        <p:blipFill>
          <a:blip r:embed="rId2"/>
          <a:stretch>
            <a:fillRect/>
          </a:stretch>
        </p:blipFill>
        <p:spPr>
          <a:xfrm>
            <a:off x="7010400" y="3040104"/>
            <a:ext cx="2110831" cy="2110831"/>
          </a:xfrm>
          <a:prstGeom prst="rect">
            <a:avLst/>
          </a:prstGeom>
        </p:spPr>
      </p:pic>
      <p:sp>
        <p:nvSpPr>
          <p:cNvPr id="24" name="PlaceHolder 1">
            <a:extLst>
              <a:ext uri="{FF2B5EF4-FFF2-40B4-BE49-F238E27FC236}">
                <a16:creationId xmlns:a16="http://schemas.microsoft.com/office/drawing/2014/main" id="{3F582B26-D094-1F77-42F0-51199EB03E5D}"/>
              </a:ext>
            </a:extLst>
          </p:cNvPr>
          <p:cNvSpPr txBox="1">
            <a:spLocks/>
          </p:cNvSpPr>
          <p:nvPr/>
        </p:nvSpPr>
        <p:spPr>
          <a:xfrm>
            <a:off x="1576783" y="613454"/>
            <a:ext cx="7567217" cy="966994"/>
          </a:xfrm>
          <a:prstGeom prst="rect">
            <a:avLst/>
          </a:prstGeom>
          <a:noFill/>
          <a:ln w="0">
            <a:noFill/>
          </a:ln>
        </p:spPr>
        <p:txBody>
          <a:bodyPr lIns="91440" tIns="91440" rIns="91440" bIns="91440" anchor="b">
            <a:no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buSzPts val="1000"/>
              <a:tabLst>
                <a:tab pos="457200" algn="l"/>
              </a:tabLst>
            </a:pPr>
            <a:b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산업통계 분석시스템상 </a:t>
            </a:r>
            <a:endPar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endParaRPr>
          </a:p>
          <a:p>
            <a:pPr>
              <a:buSzPts val="1000"/>
              <a:tabLst>
                <a:tab pos="457200" algn="l"/>
              </a:tabLst>
            </a:pP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전문과학기술분야 생산자서비스 매출액영업이익률</a:t>
            </a:r>
            <a:endParaRPr lang="fr-FR" sz="2500" spc="-1" dirty="0">
              <a:solidFill>
                <a:schemeClr val="dk1"/>
              </a:solidFill>
              <a:latin typeface="궁서" panose="02030600000101010101" pitchFamily="18" charset="-127"/>
              <a:ea typeface="궁서" panose="02030600000101010101" pitchFamily="18" charset="-127"/>
            </a:endParaRPr>
          </a:p>
        </p:txBody>
      </p:sp>
      <p:sp>
        <p:nvSpPr>
          <p:cNvPr id="25" name="Google Shape;664;p50">
            <a:extLst>
              <a:ext uri="{FF2B5EF4-FFF2-40B4-BE49-F238E27FC236}">
                <a16:creationId xmlns:a16="http://schemas.microsoft.com/office/drawing/2014/main" id="{8522A1D6-EAAD-7185-7789-1CCE4B2C48BB}"/>
              </a:ext>
            </a:extLst>
          </p:cNvPr>
          <p:cNvSpPr/>
          <p:nvPr/>
        </p:nvSpPr>
        <p:spPr>
          <a:xfrm>
            <a:off x="1001638" y="786961"/>
            <a:ext cx="531524" cy="470379"/>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26" name="PlaceHolder 1">
            <a:extLst>
              <a:ext uri="{FF2B5EF4-FFF2-40B4-BE49-F238E27FC236}">
                <a16:creationId xmlns:a16="http://schemas.microsoft.com/office/drawing/2014/main" id="{25F599E8-D7AA-2B13-D1EF-64B035B09BA6}"/>
              </a:ext>
            </a:extLst>
          </p:cNvPr>
          <p:cNvSpPr txBox="1">
            <a:spLocks/>
          </p:cNvSpPr>
          <p:nvPr/>
        </p:nvSpPr>
        <p:spPr>
          <a:xfrm>
            <a:off x="1632541" y="1772488"/>
            <a:ext cx="7746380" cy="583292"/>
          </a:xfrm>
          <a:prstGeom prst="rect">
            <a:avLst/>
          </a:prstGeom>
          <a:noFill/>
          <a:ln w="0">
            <a:noFill/>
          </a:ln>
        </p:spPr>
        <p:txBody>
          <a:bodyPr lIns="91440" tIns="91440" rIns="91440" bIns="91440" anchor="b">
            <a:no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buSzPts val="1000"/>
              <a:tabLst>
                <a:tab pos="457200" algn="l"/>
              </a:tabLst>
            </a:pPr>
            <a:b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나라장터 사이트의 맞춤형서비스 수수료율</a:t>
            </a:r>
            <a:endParaRPr lang="fr-FR" sz="2500" spc="-1" dirty="0">
              <a:solidFill>
                <a:schemeClr val="dk1"/>
              </a:solidFill>
              <a:latin typeface="궁서" panose="02030600000101010101" pitchFamily="18" charset="-127"/>
              <a:ea typeface="궁서" panose="02030600000101010101" pitchFamily="18" charset="-127"/>
            </a:endParaRPr>
          </a:p>
        </p:txBody>
      </p:sp>
      <p:sp>
        <p:nvSpPr>
          <p:cNvPr id="30" name="Google Shape;664;p50">
            <a:extLst>
              <a:ext uri="{FF2B5EF4-FFF2-40B4-BE49-F238E27FC236}">
                <a16:creationId xmlns:a16="http://schemas.microsoft.com/office/drawing/2014/main" id="{71EF560E-2E6D-531F-515F-C6986B7FE200}"/>
              </a:ext>
            </a:extLst>
          </p:cNvPr>
          <p:cNvSpPr/>
          <p:nvPr/>
        </p:nvSpPr>
        <p:spPr>
          <a:xfrm>
            <a:off x="990489" y="1868630"/>
            <a:ext cx="531524" cy="470379"/>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31" name="PlaceHolder 1">
            <a:extLst>
              <a:ext uri="{FF2B5EF4-FFF2-40B4-BE49-F238E27FC236}">
                <a16:creationId xmlns:a16="http://schemas.microsoft.com/office/drawing/2014/main" id="{A13491C0-C491-8F5A-2E56-424C8140B847}"/>
              </a:ext>
            </a:extLst>
          </p:cNvPr>
          <p:cNvSpPr txBox="1">
            <a:spLocks/>
          </p:cNvSpPr>
          <p:nvPr/>
        </p:nvSpPr>
        <p:spPr>
          <a:xfrm>
            <a:off x="1558200" y="2572343"/>
            <a:ext cx="7567217" cy="966994"/>
          </a:xfrm>
          <a:prstGeom prst="rect">
            <a:avLst/>
          </a:prstGeom>
          <a:noFill/>
          <a:ln w="0">
            <a:noFill/>
          </a:ln>
        </p:spPr>
        <p:txBody>
          <a:bodyPr lIns="91440" tIns="91440" rIns="91440" bIns="91440" anchor="b">
            <a:no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buSzPts val="1000"/>
              <a:tabLst>
                <a:tab pos="457200" algn="l"/>
              </a:tabLst>
            </a:pPr>
            <a:b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en-US" altLang="ko-KR" sz="2500" kern="100" spc="-1" dirty="0" err="1">
                <a:solidFill>
                  <a:schemeClr val="dk1"/>
                </a:solidFill>
                <a:latin typeface="궁서" panose="02030600000101010101" pitchFamily="18" charset="-127"/>
                <a:ea typeface="궁서" panose="02030600000101010101" pitchFamily="18" charset="-127"/>
                <a:cs typeface="Times New Roman" panose="02020603050405020304" pitchFamily="18" charset="0"/>
              </a:rPr>
              <a:t>kmong</a:t>
            </a:r>
            <a: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 </a:t>
            </a: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사이트에 대한</a:t>
            </a:r>
            <a: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 </a:t>
            </a:r>
            <a:r>
              <a:rPr lang="ko-KR" altLang="en-US" sz="2500" kern="100" spc="-1" dirty="0" err="1">
                <a:solidFill>
                  <a:schemeClr val="dk1"/>
                </a:solidFill>
                <a:latin typeface="궁서" panose="02030600000101010101" pitchFamily="18" charset="-127"/>
                <a:ea typeface="궁서" panose="02030600000101010101" pitchFamily="18" charset="-127"/>
                <a:cs typeface="Times New Roman" panose="02020603050405020304" pitchFamily="18" charset="0"/>
              </a:rPr>
              <a:t>웹크롤링기반으로</a:t>
            </a: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 </a:t>
            </a:r>
            <a: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IT</a:t>
            </a: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아웃소싱 동향조사 및 구매자 시장 흐름 파악</a:t>
            </a:r>
            <a:endParaRPr lang="fr-FR" sz="2500" spc="-1" dirty="0">
              <a:solidFill>
                <a:schemeClr val="dk1"/>
              </a:solidFill>
              <a:latin typeface="궁서" panose="02030600000101010101" pitchFamily="18" charset="-127"/>
              <a:ea typeface="궁서" panose="02030600000101010101" pitchFamily="18" charset="-127"/>
            </a:endParaRPr>
          </a:p>
        </p:txBody>
      </p:sp>
      <p:sp>
        <p:nvSpPr>
          <p:cNvPr id="32" name="Google Shape;664;p50">
            <a:extLst>
              <a:ext uri="{FF2B5EF4-FFF2-40B4-BE49-F238E27FC236}">
                <a16:creationId xmlns:a16="http://schemas.microsoft.com/office/drawing/2014/main" id="{F27F5CFB-535B-8700-7A12-728CC5FA17A2}"/>
              </a:ext>
            </a:extLst>
          </p:cNvPr>
          <p:cNvSpPr/>
          <p:nvPr/>
        </p:nvSpPr>
        <p:spPr>
          <a:xfrm>
            <a:off x="983055" y="2745850"/>
            <a:ext cx="531524" cy="470379"/>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Tree>
    <p:extLst>
      <p:ext uri="{BB962C8B-B14F-4D97-AF65-F5344CB8AC3E}">
        <p14:creationId xmlns:p14="http://schemas.microsoft.com/office/powerpoint/2010/main" val="2454002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28413-F8F4-4D5C-EEC4-E8A05D4BF946}"/>
            </a:ext>
          </a:extLst>
        </p:cNvPr>
        <p:cNvGrpSpPr/>
        <p:nvPr/>
      </p:nvGrpSpPr>
      <p:grpSpPr>
        <a:xfrm>
          <a:off x="0" y="0"/>
          <a:ext cx="0" cy="0"/>
          <a:chOff x="0" y="0"/>
          <a:chExt cx="0" cy="0"/>
        </a:xfrm>
      </p:grpSpPr>
      <p:pic>
        <p:nvPicPr>
          <p:cNvPr id="32" name="그림 31">
            <a:extLst>
              <a:ext uri="{FF2B5EF4-FFF2-40B4-BE49-F238E27FC236}">
                <a16:creationId xmlns:a16="http://schemas.microsoft.com/office/drawing/2014/main" id="{EE39DC3C-623F-5357-3240-2F17574FF505}"/>
              </a:ext>
            </a:extLst>
          </p:cNvPr>
          <p:cNvPicPr>
            <a:picLocks noChangeAspect="1"/>
          </p:cNvPicPr>
          <p:nvPr/>
        </p:nvPicPr>
        <p:blipFill>
          <a:blip r:embed="rId2"/>
          <a:stretch>
            <a:fillRect/>
          </a:stretch>
        </p:blipFill>
        <p:spPr>
          <a:xfrm>
            <a:off x="253225" y="1195861"/>
            <a:ext cx="2370025" cy="3993226"/>
          </a:xfrm>
          <a:prstGeom prst="rect">
            <a:avLst/>
          </a:prstGeom>
        </p:spPr>
      </p:pic>
      <p:pic>
        <p:nvPicPr>
          <p:cNvPr id="29" name="그림 28">
            <a:extLst>
              <a:ext uri="{FF2B5EF4-FFF2-40B4-BE49-F238E27FC236}">
                <a16:creationId xmlns:a16="http://schemas.microsoft.com/office/drawing/2014/main" id="{4CE3AC4D-F708-EBFF-8134-2C2D4F8B4D61}"/>
              </a:ext>
            </a:extLst>
          </p:cNvPr>
          <p:cNvPicPr>
            <a:picLocks noChangeAspect="1"/>
          </p:cNvPicPr>
          <p:nvPr/>
        </p:nvPicPr>
        <p:blipFill>
          <a:blip r:embed="rId3"/>
          <a:stretch>
            <a:fillRect/>
          </a:stretch>
        </p:blipFill>
        <p:spPr>
          <a:xfrm>
            <a:off x="2578644" y="1256643"/>
            <a:ext cx="4848065" cy="3730742"/>
          </a:xfrm>
          <a:prstGeom prst="rect">
            <a:avLst/>
          </a:prstGeom>
        </p:spPr>
      </p:pic>
      <p:grpSp>
        <p:nvGrpSpPr>
          <p:cNvPr id="2" name="Google Shape;347;p36">
            <a:extLst>
              <a:ext uri="{FF2B5EF4-FFF2-40B4-BE49-F238E27FC236}">
                <a16:creationId xmlns:a16="http://schemas.microsoft.com/office/drawing/2014/main" id="{9CB9EC1F-9347-6D15-7CA6-3FF0A8ABFE81}"/>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5D601CF1-B1A5-2F01-5EC9-B1A467EF58D8}"/>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0F315641-F0CE-1AB0-398E-6198540B7966}"/>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698822E9-BB21-5BCF-4E1A-86A36AD9FDAC}"/>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DC9EE31E-714B-EE54-900F-8C7DDA1E829F}"/>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691B7C44-811E-2ED6-28E6-C2BF77342DAD}"/>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194D7052-BE04-57B4-E9EE-B67F3C156449}"/>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A4BBE0C3-B04A-674F-55D3-FD5315AF97D9}"/>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B89C81F4-2AAA-6CAC-9BAD-827976727A55}"/>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580F19E9-3D69-6910-C749-B6893824AA7C}"/>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7D0246B9-EFBB-001C-7453-031DB3B4D82B}"/>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3126465E-DB0E-2439-8BFE-A497FD68A310}"/>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15004BC0-C412-7AC5-E74A-1B08E06CBD14}"/>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EB54EFA2-F777-67D2-68D8-41E17AE6FB53}"/>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02BD1A23-F6B6-ED2C-45A7-08F124B488E2}"/>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F8D59B60-E0F9-ABD1-D500-1A2F34848258}"/>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1004AFC6-26B6-906F-5AEE-CDB1A1EEF111}"/>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C0654F3E-2DBA-C589-0B4D-7436903B7CBD}"/>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8BC58B1E-215A-05C2-311B-30930C4919D5}"/>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6329131B-B9C6-EBCA-6FF6-651A1DF2A75C}"/>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E3C6A1DB-2C4E-D44B-8555-AE5239C158C5}"/>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0793C6CF-EE88-6031-372D-51801F6353E2}"/>
              </a:ext>
            </a:extLst>
          </p:cNvPr>
          <p:cNvPicPr>
            <a:picLocks noChangeAspect="1"/>
          </p:cNvPicPr>
          <p:nvPr/>
        </p:nvPicPr>
        <p:blipFill>
          <a:blip r:embed="rId4"/>
          <a:stretch>
            <a:fillRect/>
          </a:stretch>
        </p:blipFill>
        <p:spPr>
          <a:xfrm>
            <a:off x="7010400" y="3040104"/>
            <a:ext cx="2110831" cy="2110831"/>
          </a:xfrm>
          <a:prstGeom prst="rect">
            <a:avLst/>
          </a:prstGeom>
        </p:spPr>
      </p:pic>
      <p:sp>
        <p:nvSpPr>
          <p:cNvPr id="26" name="PlaceHolder 1">
            <a:extLst>
              <a:ext uri="{FF2B5EF4-FFF2-40B4-BE49-F238E27FC236}">
                <a16:creationId xmlns:a16="http://schemas.microsoft.com/office/drawing/2014/main" id="{48222832-0D92-6E7A-F045-71C9E58D17D1}"/>
              </a:ext>
            </a:extLst>
          </p:cNvPr>
          <p:cNvSpPr txBox="1">
            <a:spLocks/>
          </p:cNvSpPr>
          <p:nvPr/>
        </p:nvSpPr>
        <p:spPr>
          <a:xfrm>
            <a:off x="1576783" y="204578"/>
            <a:ext cx="7567217" cy="966994"/>
          </a:xfrm>
          <a:prstGeom prst="rect">
            <a:avLst/>
          </a:prstGeom>
          <a:noFill/>
          <a:ln w="0">
            <a:noFill/>
          </a:ln>
        </p:spPr>
        <p:txBody>
          <a:bodyPr lIns="91440" tIns="91440" rIns="91440" bIns="91440" anchor="b">
            <a:no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buSzPts val="1000"/>
              <a:tabLst>
                <a:tab pos="457200" algn="l"/>
              </a:tabLst>
            </a:pPr>
            <a:b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산업통계 분석시스템상 </a:t>
            </a:r>
            <a:endPar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endParaRPr>
          </a:p>
          <a:p>
            <a:pPr>
              <a:buSzPts val="1000"/>
              <a:tabLst>
                <a:tab pos="457200" algn="l"/>
              </a:tabLst>
            </a:pP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전문과학기술분야 생산자서비스 매출액영업이익률</a:t>
            </a:r>
            <a:endParaRPr lang="fr-FR" sz="2500" spc="-1" dirty="0">
              <a:solidFill>
                <a:schemeClr val="dk1"/>
              </a:solidFill>
              <a:latin typeface="궁서" panose="02030600000101010101" pitchFamily="18" charset="-127"/>
              <a:ea typeface="궁서" panose="02030600000101010101" pitchFamily="18" charset="-127"/>
            </a:endParaRPr>
          </a:p>
        </p:txBody>
      </p:sp>
      <p:sp>
        <p:nvSpPr>
          <p:cNvPr id="30" name="Google Shape;664;p50">
            <a:extLst>
              <a:ext uri="{FF2B5EF4-FFF2-40B4-BE49-F238E27FC236}">
                <a16:creationId xmlns:a16="http://schemas.microsoft.com/office/drawing/2014/main" id="{6C7AB367-6760-95DE-56C3-96CE1DF64435}"/>
              </a:ext>
            </a:extLst>
          </p:cNvPr>
          <p:cNvSpPr/>
          <p:nvPr/>
        </p:nvSpPr>
        <p:spPr>
          <a:xfrm>
            <a:off x="1001638" y="378085"/>
            <a:ext cx="531524" cy="470379"/>
          </a:xfrm>
          <a:prstGeom prst="ellipse">
            <a:avLst/>
          </a:prstGeom>
          <a:blipFill rotWithShape="0">
            <a:blip r:embed="rId5"/>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Tree>
    <p:extLst>
      <p:ext uri="{BB962C8B-B14F-4D97-AF65-F5344CB8AC3E}">
        <p14:creationId xmlns:p14="http://schemas.microsoft.com/office/powerpoint/2010/main" val="3008100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B3523-6365-24F9-E27D-E07777F9EA22}"/>
            </a:ext>
          </a:extLst>
        </p:cNvPr>
        <p:cNvGrpSpPr/>
        <p:nvPr/>
      </p:nvGrpSpPr>
      <p:grpSpPr>
        <a:xfrm>
          <a:off x="0" y="0"/>
          <a:ext cx="0" cy="0"/>
          <a:chOff x="0" y="0"/>
          <a:chExt cx="0" cy="0"/>
        </a:xfrm>
      </p:grpSpPr>
      <p:pic>
        <p:nvPicPr>
          <p:cNvPr id="25" name="그림 24">
            <a:extLst>
              <a:ext uri="{FF2B5EF4-FFF2-40B4-BE49-F238E27FC236}">
                <a16:creationId xmlns:a16="http://schemas.microsoft.com/office/drawing/2014/main" id="{6286568B-4E4A-00C2-20E0-A8FB97C3BC1E}"/>
              </a:ext>
            </a:extLst>
          </p:cNvPr>
          <p:cNvPicPr>
            <a:picLocks noChangeAspect="1"/>
          </p:cNvPicPr>
          <p:nvPr/>
        </p:nvPicPr>
        <p:blipFill>
          <a:blip r:embed="rId2"/>
          <a:stretch>
            <a:fillRect/>
          </a:stretch>
        </p:blipFill>
        <p:spPr>
          <a:xfrm>
            <a:off x="1224265" y="1108420"/>
            <a:ext cx="5974459" cy="3418778"/>
          </a:xfrm>
          <a:prstGeom prst="rect">
            <a:avLst/>
          </a:prstGeom>
        </p:spPr>
      </p:pic>
      <p:grpSp>
        <p:nvGrpSpPr>
          <p:cNvPr id="2" name="Google Shape;347;p36">
            <a:extLst>
              <a:ext uri="{FF2B5EF4-FFF2-40B4-BE49-F238E27FC236}">
                <a16:creationId xmlns:a16="http://schemas.microsoft.com/office/drawing/2014/main" id="{EE905B3A-F412-C2C4-599D-A97323315DE6}"/>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D4CDD208-5347-DD38-4090-DD72A8C21E54}"/>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368317F0-E85F-FFEF-1454-B14F1C77DF8F}"/>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33E49724-5D33-C614-5B67-6941583A11F1}"/>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B56D3D1B-1F29-E392-9DF6-819EDE343D67}"/>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CF487D1A-6F22-ED07-ED1C-75614A8F95A8}"/>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1444257B-FD55-1A56-8783-265D4908A3DD}"/>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B12606A9-FAF6-29E9-D2C3-BA6EA1D32084}"/>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45D4BA1D-79A2-3A01-65E2-FB0AE48B3546}"/>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E4E3FEB5-FA06-15F8-DF19-1766B3E75492}"/>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A1018951-7BC7-C2A7-EA63-EE0764855596}"/>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882A76B1-32B8-68E1-5F08-07BE4FD0C97F}"/>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8BFFE6DE-3DC5-551C-6D11-15882590153B}"/>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EE6DF874-EA0B-ED19-8D42-3A3DA96C1761}"/>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BEB9334F-5BDA-F6C0-F4FF-12493545D208}"/>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911A6D10-23B3-A183-D216-C60A7F9D9BC7}"/>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D36EEB73-754F-99B6-17AE-2359F638C238}"/>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244A8FF2-50AF-4428-F430-B7C7DF1DC12B}"/>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1BA59769-F570-4DFB-84FB-2C979025F447}"/>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9BBAC1AE-6AA8-A7EF-8303-7921A5CEA6A1}"/>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3B0178A4-7053-6A83-78F8-D59300F0F1A0}"/>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6659E33C-D744-287D-8DB7-8B692314F475}"/>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PlaceHolder 1">
            <a:extLst>
              <a:ext uri="{FF2B5EF4-FFF2-40B4-BE49-F238E27FC236}">
                <a16:creationId xmlns:a16="http://schemas.microsoft.com/office/drawing/2014/main" id="{A106E31B-9B0E-BE5E-6084-0643E42398E2}"/>
              </a:ext>
            </a:extLst>
          </p:cNvPr>
          <p:cNvSpPr txBox="1">
            <a:spLocks/>
          </p:cNvSpPr>
          <p:nvPr/>
        </p:nvSpPr>
        <p:spPr>
          <a:xfrm>
            <a:off x="1643690" y="281943"/>
            <a:ext cx="7746380" cy="583292"/>
          </a:xfrm>
          <a:prstGeom prst="rect">
            <a:avLst/>
          </a:prstGeom>
          <a:noFill/>
          <a:ln w="0">
            <a:noFill/>
          </a:ln>
        </p:spPr>
        <p:txBody>
          <a:bodyPr lIns="91440" tIns="91440" rIns="91440" bIns="91440" anchor="b">
            <a:no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buSzPts val="1000"/>
              <a:tabLst>
                <a:tab pos="457200" algn="l"/>
              </a:tabLst>
            </a:pPr>
            <a:b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나라장터 사이트의 맞춤형서비스 수수료율</a:t>
            </a:r>
            <a:endParaRPr lang="fr-FR" sz="2500" spc="-1" dirty="0">
              <a:solidFill>
                <a:schemeClr val="dk1"/>
              </a:solidFill>
              <a:latin typeface="궁서" panose="02030600000101010101" pitchFamily="18" charset="-127"/>
              <a:ea typeface="궁서" panose="02030600000101010101" pitchFamily="18" charset="-127"/>
            </a:endParaRPr>
          </a:p>
        </p:txBody>
      </p:sp>
      <p:sp>
        <p:nvSpPr>
          <p:cNvPr id="30" name="Google Shape;664;p50">
            <a:extLst>
              <a:ext uri="{FF2B5EF4-FFF2-40B4-BE49-F238E27FC236}">
                <a16:creationId xmlns:a16="http://schemas.microsoft.com/office/drawing/2014/main" id="{BC0C3355-0B0E-9351-5F8D-C14C602E9D7A}"/>
              </a:ext>
            </a:extLst>
          </p:cNvPr>
          <p:cNvSpPr/>
          <p:nvPr/>
        </p:nvSpPr>
        <p:spPr>
          <a:xfrm>
            <a:off x="1001638" y="378085"/>
            <a:ext cx="531524" cy="470379"/>
          </a:xfrm>
          <a:prstGeom prst="ellipse">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Tree>
    <p:extLst>
      <p:ext uri="{BB962C8B-B14F-4D97-AF65-F5344CB8AC3E}">
        <p14:creationId xmlns:p14="http://schemas.microsoft.com/office/powerpoint/2010/main" val="372410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2245E-972A-2B63-B2E5-E6D24DC3CDA4}"/>
            </a:ext>
          </a:extLst>
        </p:cNvPr>
        <p:cNvGrpSpPr/>
        <p:nvPr/>
      </p:nvGrpSpPr>
      <p:grpSpPr>
        <a:xfrm>
          <a:off x="0" y="0"/>
          <a:ext cx="0" cy="0"/>
          <a:chOff x="0" y="0"/>
          <a:chExt cx="0" cy="0"/>
        </a:xfrm>
      </p:grpSpPr>
      <p:pic>
        <p:nvPicPr>
          <p:cNvPr id="28" name="그림 27">
            <a:extLst>
              <a:ext uri="{FF2B5EF4-FFF2-40B4-BE49-F238E27FC236}">
                <a16:creationId xmlns:a16="http://schemas.microsoft.com/office/drawing/2014/main" id="{ACDBC1F6-A977-C5C5-5607-51C0B2A0481C}"/>
              </a:ext>
            </a:extLst>
          </p:cNvPr>
          <p:cNvPicPr>
            <a:picLocks noChangeAspect="1"/>
          </p:cNvPicPr>
          <p:nvPr/>
        </p:nvPicPr>
        <p:blipFill>
          <a:blip r:embed="rId2"/>
          <a:stretch>
            <a:fillRect/>
          </a:stretch>
        </p:blipFill>
        <p:spPr>
          <a:xfrm>
            <a:off x="1090150" y="1434792"/>
            <a:ext cx="7102276" cy="3634367"/>
          </a:xfrm>
          <a:prstGeom prst="rect">
            <a:avLst/>
          </a:prstGeom>
        </p:spPr>
      </p:pic>
      <p:grpSp>
        <p:nvGrpSpPr>
          <p:cNvPr id="2" name="Google Shape;347;p36">
            <a:extLst>
              <a:ext uri="{FF2B5EF4-FFF2-40B4-BE49-F238E27FC236}">
                <a16:creationId xmlns:a16="http://schemas.microsoft.com/office/drawing/2014/main" id="{46AACB38-5769-F33A-7718-10006A929697}"/>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F1679499-6D92-4EFE-AA26-2CE3FFE1C5C2}"/>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EFC88EF0-C3BD-33D3-906A-85AE4AE1EF3F}"/>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1F7EBDA1-E2ED-4BB6-64EF-3FFEE6C031C4}"/>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D2265B1E-290B-C8D7-4706-7CF3446ED64D}"/>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5BA537D0-061A-E787-D2BE-C0A9D439E197}"/>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A6355DF8-AE97-842C-EA8D-B957E294CDDA}"/>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56DB60EB-328A-6502-0BF9-1863378206C4}"/>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EBFFBC5C-0536-FF3E-0AC1-42576C890FDD}"/>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720E0669-4390-C66D-FFBE-6B7241EC5D98}"/>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D18BFD08-441C-7DAD-821B-1F3E11744D54}"/>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F16394AC-421C-6E12-B26B-5A9BC491162E}"/>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290A04BD-7DAB-5272-C5C0-ADF31F87B36D}"/>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56AF8BDE-D3A6-4C08-A003-F0BAA00CCA7A}"/>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FFD5BE9C-99AB-7578-A6D4-DFE122C667FD}"/>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75A6E498-7899-0040-46AD-ADBFC1596DBC}"/>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6D2C9DCF-D900-7D1C-EAF1-835E9C1CB76E}"/>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2386E0C0-61C8-6738-0DBA-3AD0B4953DF8}"/>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BAB1BA4F-E7C8-8F15-2CDF-C693528A8130}"/>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35257AB4-0469-1447-B438-7B41044E771F}"/>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1C66D477-DE9C-3D7E-09C7-62394890A9AF}"/>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DD9DA015-6A98-FDE6-7B8D-188D2BD62599}"/>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PlaceHolder 1">
            <a:extLst>
              <a:ext uri="{FF2B5EF4-FFF2-40B4-BE49-F238E27FC236}">
                <a16:creationId xmlns:a16="http://schemas.microsoft.com/office/drawing/2014/main" id="{7A933760-CD7E-AFD7-55F6-A2A748DA69EC}"/>
              </a:ext>
            </a:extLst>
          </p:cNvPr>
          <p:cNvSpPr txBox="1">
            <a:spLocks/>
          </p:cNvSpPr>
          <p:nvPr/>
        </p:nvSpPr>
        <p:spPr>
          <a:xfrm>
            <a:off x="1576783" y="204578"/>
            <a:ext cx="7567217" cy="966994"/>
          </a:xfrm>
          <a:prstGeom prst="rect">
            <a:avLst/>
          </a:prstGeom>
          <a:noFill/>
          <a:ln w="0">
            <a:noFill/>
          </a:ln>
        </p:spPr>
        <p:txBody>
          <a:bodyPr lIns="91440" tIns="91440" rIns="91440" bIns="91440" anchor="b">
            <a:no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buSzPts val="1000"/>
              <a:tabLst>
                <a:tab pos="457200" algn="l"/>
              </a:tabLst>
            </a:pPr>
            <a:b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kern="100" spc="-1" dirty="0" err="1">
                <a:solidFill>
                  <a:schemeClr val="dk1"/>
                </a:solidFill>
                <a:latin typeface="궁서" panose="02030600000101010101" pitchFamily="18" charset="-127"/>
                <a:ea typeface="궁서" panose="02030600000101010101" pitchFamily="18" charset="-127"/>
                <a:cs typeface="Times New Roman" panose="02020603050405020304" pitchFamily="18" charset="0"/>
              </a:rPr>
              <a:t>웹크롤링기반으로</a:t>
            </a: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 </a:t>
            </a:r>
            <a: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IT</a:t>
            </a: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아웃소싱 동향조사 수행 및 </a:t>
            </a:r>
            <a:endPar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endParaRPr>
          </a:p>
          <a:p>
            <a:pPr>
              <a:buSzPts val="1000"/>
              <a:tabLst>
                <a:tab pos="457200" algn="l"/>
              </a:tabLst>
            </a:pP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구매자 시장 흐름 파악</a:t>
            </a:r>
            <a:endParaRPr lang="fr-FR" sz="2500" spc="-1" dirty="0">
              <a:solidFill>
                <a:schemeClr val="dk1"/>
              </a:solidFill>
              <a:latin typeface="궁서" panose="02030600000101010101" pitchFamily="18" charset="-127"/>
              <a:ea typeface="궁서" panose="02030600000101010101" pitchFamily="18" charset="-127"/>
            </a:endParaRPr>
          </a:p>
        </p:txBody>
      </p:sp>
      <p:sp>
        <p:nvSpPr>
          <p:cNvPr id="30" name="Google Shape;664;p50">
            <a:extLst>
              <a:ext uri="{FF2B5EF4-FFF2-40B4-BE49-F238E27FC236}">
                <a16:creationId xmlns:a16="http://schemas.microsoft.com/office/drawing/2014/main" id="{3DAD672C-8B39-DAE7-F63C-1DB042653096}"/>
              </a:ext>
            </a:extLst>
          </p:cNvPr>
          <p:cNvSpPr/>
          <p:nvPr/>
        </p:nvSpPr>
        <p:spPr>
          <a:xfrm>
            <a:off x="1001638" y="378085"/>
            <a:ext cx="531524" cy="470379"/>
          </a:xfrm>
          <a:prstGeom prst="ellipse">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Tree>
    <p:extLst>
      <p:ext uri="{BB962C8B-B14F-4D97-AF65-F5344CB8AC3E}">
        <p14:creationId xmlns:p14="http://schemas.microsoft.com/office/powerpoint/2010/main" val="2142696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DB88C-3047-ACB2-5DF0-D048FD458F13}"/>
            </a:ext>
          </a:extLst>
        </p:cNvPr>
        <p:cNvGrpSpPr/>
        <p:nvPr/>
      </p:nvGrpSpPr>
      <p:grpSpPr>
        <a:xfrm>
          <a:off x="0" y="0"/>
          <a:ext cx="0" cy="0"/>
          <a:chOff x="0" y="0"/>
          <a:chExt cx="0" cy="0"/>
        </a:xfrm>
      </p:grpSpPr>
      <p:sp>
        <p:nvSpPr>
          <p:cNvPr id="292" name="PlaceHolder 1">
            <a:extLst>
              <a:ext uri="{FF2B5EF4-FFF2-40B4-BE49-F238E27FC236}">
                <a16:creationId xmlns:a16="http://schemas.microsoft.com/office/drawing/2014/main" id="{39DAA5D7-FA1D-01A5-6557-853D803FBB99}"/>
              </a:ext>
            </a:extLst>
          </p:cNvPr>
          <p:cNvSpPr>
            <a:spLocks noGrp="1"/>
          </p:cNvSpPr>
          <p:nvPr>
            <p:ph type="title"/>
          </p:nvPr>
        </p:nvSpPr>
        <p:spPr>
          <a:xfrm>
            <a:off x="714240" y="2381400"/>
            <a:ext cx="7701214" cy="91404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ko-KR" altLang="en-US" sz="5000" b="1" strike="noStrike" spc="-1" dirty="0">
                <a:solidFill>
                  <a:schemeClr val="dk1"/>
                </a:solidFill>
                <a:latin typeface="Outfit"/>
              </a:rPr>
              <a:t>최적의 수수료율 찾기</a:t>
            </a:r>
            <a:endParaRPr lang="fr-FR" sz="5000" b="0" strike="noStrike" spc="-1" dirty="0">
              <a:solidFill>
                <a:schemeClr val="dk1"/>
              </a:solidFill>
              <a:latin typeface="Arial"/>
            </a:endParaRPr>
          </a:p>
        </p:txBody>
      </p:sp>
      <p:sp>
        <p:nvSpPr>
          <p:cNvPr id="293" name="PlaceHolder 2">
            <a:extLst>
              <a:ext uri="{FF2B5EF4-FFF2-40B4-BE49-F238E27FC236}">
                <a16:creationId xmlns:a16="http://schemas.microsoft.com/office/drawing/2014/main" id="{A6EC5DB0-200B-9221-AC23-4E9E28C1B6DD}"/>
              </a:ext>
            </a:extLst>
          </p:cNvPr>
          <p:cNvSpPr>
            <a:spLocks noGrp="1"/>
          </p:cNvSpPr>
          <p:nvPr>
            <p:ph type="title"/>
          </p:nvPr>
        </p:nvSpPr>
        <p:spPr>
          <a:xfrm>
            <a:off x="714240" y="1467000"/>
            <a:ext cx="1266480" cy="91404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6000" b="1" strike="noStrike" spc="-1" dirty="0">
                <a:solidFill>
                  <a:schemeClr val="dk1"/>
                </a:solidFill>
                <a:latin typeface="Outfit"/>
                <a:ea typeface="Outfit"/>
              </a:rPr>
              <a:t>0</a:t>
            </a:r>
            <a:r>
              <a:rPr lang="en" sz="6000" b="1" spc="-1" dirty="0">
                <a:solidFill>
                  <a:schemeClr val="dk1"/>
                </a:solidFill>
                <a:latin typeface="Outfit"/>
                <a:ea typeface="Outfit"/>
              </a:rPr>
              <a:t>4</a:t>
            </a:r>
            <a:endParaRPr lang="fr-FR" sz="6000" b="0" strike="noStrike" spc="-1" dirty="0">
              <a:solidFill>
                <a:schemeClr val="dk1"/>
              </a:solidFill>
              <a:latin typeface="Arial"/>
            </a:endParaRPr>
          </a:p>
        </p:txBody>
      </p:sp>
      <p:cxnSp>
        <p:nvCxnSpPr>
          <p:cNvPr id="313" name="Google Shape;450;p40">
            <a:extLst>
              <a:ext uri="{FF2B5EF4-FFF2-40B4-BE49-F238E27FC236}">
                <a16:creationId xmlns:a16="http://schemas.microsoft.com/office/drawing/2014/main" id="{FC09C9C9-D48B-AACE-DC39-61C39EAFE271}"/>
              </a:ext>
            </a:extLst>
          </p:cNvPr>
          <p:cNvCxnSpPr/>
          <p:nvPr/>
        </p:nvCxnSpPr>
        <p:spPr>
          <a:xfrm>
            <a:off x="840960" y="1385640"/>
            <a:ext cx="374040" cy="360"/>
          </a:xfrm>
          <a:prstGeom prst="straightConnector1">
            <a:avLst/>
          </a:prstGeom>
          <a:ln w="19050">
            <a:solidFill>
              <a:srgbClr val="384655"/>
            </a:solidFill>
            <a:round/>
          </a:ln>
        </p:spPr>
      </p:cxn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FA48987E-EA31-5CB7-212F-15955DA324A2}"/>
              </a:ext>
            </a:extLst>
          </p:cNvPr>
          <p:cNvPicPr>
            <a:picLocks noChangeAspect="1"/>
          </p:cNvPicPr>
          <p:nvPr/>
        </p:nvPicPr>
        <p:blipFill>
          <a:blip r:embed="rId2"/>
          <a:stretch>
            <a:fillRect/>
          </a:stretch>
        </p:blipFill>
        <p:spPr>
          <a:xfrm>
            <a:off x="7010400" y="3040104"/>
            <a:ext cx="2110831" cy="2110831"/>
          </a:xfrm>
          <a:prstGeom prst="rect">
            <a:avLst/>
          </a:prstGeom>
        </p:spPr>
      </p:pic>
    </p:spTree>
    <p:extLst>
      <p:ext uri="{BB962C8B-B14F-4D97-AF65-F5344CB8AC3E}">
        <p14:creationId xmlns:p14="http://schemas.microsoft.com/office/powerpoint/2010/main" val="4093433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A1CB3-D3D4-5C21-228B-27B02BD0D772}"/>
            </a:ext>
          </a:extLst>
        </p:cNvPr>
        <p:cNvGrpSpPr/>
        <p:nvPr/>
      </p:nvGrpSpPr>
      <p:grpSpPr>
        <a:xfrm>
          <a:off x="0" y="0"/>
          <a:ext cx="0" cy="0"/>
          <a:chOff x="0" y="0"/>
          <a:chExt cx="0" cy="0"/>
        </a:xfrm>
      </p:grpSpPr>
      <p:pic>
        <p:nvPicPr>
          <p:cNvPr id="28" name="그림 27">
            <a:extLst>
              <a:ext uri="{FF2B5EF4-FFF2-40B4-BE49-F238E27FC236}">
                <a16:creationId xmlns:a16="http://schemas.microsoft.com/office/drawing/2014/main" id="{8793A0AB-FFDE-CB02-01BD-A34B1BA63BCF}"/>
              </a:ext>
            </a:extLst>
          </p:cNvPr>
          <p:cNvPicPr>
            <a:picLocks noChangeAspect="1"/>
          </p:cNvPicPr>
          <p:nvPr/>
        </p:nvPicPr>
        <p:blipFill>
          <a:blip r:embed="rId2"/>
          <a:stretch>
            <a:fillRect/>
          </a:stretch>
        </p:blipFill>
        <p:spPr>
          <a:xfrm>
            <a:off x="264627" y="3213348"/>
            <a:ext cx="7232007" cy="1333616"/>
          </a:xfrm>
          <a:prstGeom prst="rect">
            <a:avLst/>
          </a:prstGeom>
        </p:spPr>
      </p:pic>
      <p:grpSp>
        <p:nvGrpSpPr>
          <p:cNvPr id="2" name="Google Shape;347;p36">
            <a:extLst>
              <a:ext uri="{FF2B5EF4-FFF2-40B4-BE49-F238E27FC236}">
                <a16:creationId xmlns:a16="http://schemas.microsoft.com/office/drawing/2014/main" id="{AC2B34B0-9A05-0AFD-C334-86A862B8FC8D}"/>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85A5036E-F21D-0CFD-EB73-438BB8ED4A1E}"/>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817C870E-9E53-D87A-74CD-3F99C18E0A12}"/>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DAA9A651-CCA9-4D91-59C4-31B1F3F43991}"/>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470607B4-5AE9-5649-AEA9-62DF084ED970}"/>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59069B80-C630-EAFA-DDC0-4CFEB91F88C7}"/>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429CE10A-84A6-A756-05C3-AD25CE44764D}"/>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6EA64205-F345-F444-1036-4937601E1926}"/>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2637F7BD-79CE-E971-FDC6-BFBCFEC70341}"/>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CBDEEDB2-BBBF-DBD6-BD65-37EB2200B7A9}"/>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EBE5A6A0-3ADD-3E52-26C3-B717FAD8D5D9}"/>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B53E4094-ABC4-56EA-CDCC-C1EE829A568C}"/>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7C144EFD-35C4-6E53-6F0F-57BD07142885}"/>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1B8301AD-C1F7-D108-C5A0-DE627BCCE34B}"/>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4058D578-CB76-1245-273B-5FA3D8695D23}"/>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D6B7F5D0-B698-A48E-C228-F0AE9D9CED8D}"/>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4EBDF991-5408-4EDB-26F8-48F54D325157}"/>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BFDBE68B-4D00-6C77-867A-2FD968865A49}"/>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359DC5DF-9FE0-7FA4-94FD-013751312400}"/>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26D7DCBD-4FC9-8249-5977-0A72DCAF10D1}"/>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F7B7717E-B8E8-DD6C-9699-CA8F1EC7B626}"/>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29C21CC9-781D-A1B1-4C43-3525580E52C5}"/>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642C9B0C-9C83-A403-D3A9-6B5C5D6DA6D8}"/>
              </a:ext>
            </a:extLst>
          </p:cNvPr>
          <p:cNvSpPr txBox="1"/>
          <p:nvPr/>
        </p:nvSpPr>
        <p:spPr>
          <a:xfrm>
            <a:off x="2620238" y="892556"/>
            <a:ext cx="6010178" cy="2308324"/>
          </a:xfrm>
          <a:prstGeom prst="rect">
            <a:avLst/>
          </a:prstGeom>
          <a:noFill/>
        </p:spPr>
        <p:txBody>
          <a:bodyPr wrap="square" rtlCol="0">
            <a:spAutoFit/>
          </a:bodyPr>
          <a:lstStyle/>
          <a:p>
            <a:r>
              <a:rPr lang="ko-KR" altLang="en-US" dirty="0"/>
              <a:t>▣</a:t>
            </a:r>
            <a:r>
              <a:rPr lang="en-US" altLang="ko-KR" dirty="0"/>
              <a:t> </a:t>
            </a:r>
            <a:r>
              <a:rPr lang="ko-KR" altLang="en-US" dirty="0"/>
              <a:t>수수료율은 </a:t>
            </a:r>
            <a:r>
              <a:rPr lang="en-US" altLang="ko-KR" dirty="0"/>
              <a:t>6.5%</a:t>
            </a:r>
            <a:r>
              <a:rPr lang="ko-KR" altLang="en-US" dirty="0"/>
              <a:t>에서 </a:t>
            </a:r>
            <a:r>
              <a:rPr lang="en-US" altLang="ko-KR" dirty="0"/>
              <a:t>9% </a:t>
            </a:r>
            <a:r>
              <a:rPr lang="ko-KR" altLang="en-US" dirty="0"/>
              <a:t>사이이며</a:t>
            </a:r>
            <a:r>
              <a:rPr lang="en-US" altLang="ko-KR" dirty="0"/>
              <a:t>, </a:t>
            </a:r>
            <a:r>
              <a:rPr lang="ko-KR" altLang="en-US" dirty="0"/>
              <a:t>평균은 </a:t>
            </a:r>
            <a:r>
              <a:rPr lang="en-US" altLang="ko-KR" dirty="0"/>
              <a:t>6.95% </a:t>
            </a:r>
          </a:p>
          <a:p>
            <a:r>
              <a:rPr lang="ko-KR" altLang="en-US" dirty="0"/>
              <a:t>▣ </a:t>
            </a:r>
            <a:r>
              <a:rPr lang="en-US" altLang="ko-KR" dirty="0" err="1"/>
              <a:t>Catboost</a:t>
            </a:r>
            <a:r>
              <a:rPr lang="ko-KR" altLang="en-US" dirty="0"/>
              <a:t> 모델을 통해 </a:t>
            </a:r>
            <a:r>
              <a:rPr lang="ko-KR" altLang="en-US" dirty="0" err="1"/>
              <a:t>예측시</a:t>
            </a:r>
            <a:r>
              <a:rPr lang="ko-KR" altLang="en-US" dirty="0"/>
              <a:t> </a:t>
            </a:r>
            <a:r>
              <a:rPr lang="en-US" altLang="ko-KR" dirty="0"/>
              <a:t>RMSE</a:t>
            </a:r>
            <a:r>
              <a:rPr lang="ko-KR" altLang="en-US" dirty="0"/>
              <a:t>는 </a:t>
            </a:r>
            <a:r>
              <a:rPr lang="en-US" altLang="ko-KR" dirty="0"/>
              <a:t>0.79 </a:t>
            </a:r>
            <a:r>
              <a:rPr lang="ko-KR" altLang="en-US" dirty="0"/>
              <a:t>수준</a:t>
            </a:r>
            <a:endParaRPr lang="en-US" altLang="ko-KR" dirty="0"/>
          </a:p>
          <a:p>
            <a:r>
              <a:rPr lang="ko-KR" altLang="en-US" dirty="0"/>
              <a:t>이는 </a:t>
            </a:r>
            <a:r>
              <a:rPr lang="ko-KR" altLang="en-US" dirty="0" err="1"/>
              <a:t>예측값과</a:t>
            </a:r>
            <a:r>
              <a:rPr lang="ko-KR" altLang="en-US" dirty="0"/>
              <a:t> </a:t>
            </a:r>
            <a:r>
              <a:rPr lang="ko-KR" altLang="en-US" dirty="0" err="1"/>
              <a:t>실제값의</a:t>
            </a:r>
            <a:r>
              <a:rPr lang="ko-KR" altLang="en-US" dirty="0"/>
              <a:t> 평균적인 차이를 뜻하므로</a:t>
            </a:r>
            <a:r>
              <a:rPr lang="en-US" altLang="ko-KR" dirty="0"/>
              <a:t>, </a:t>
            </a:r>
            <a:r>
              <a:rPr lang="ko-KR" altLang="en-US" dirty="0"/>
              <a:t>수수료율이 </a:t>
            </a:r>
            <a:r>
              <a:rPr lang="en-US" altLang="ko-KR" dirty="0"/>
              <a:t>6.5</a:t>
            </a:r>
            <a:r>
              <a:rPr lang="ko-KR" altLang="en-US" dirty="0"/>
              <a:t>와 </a:t>
            </a:r>
            <a:r>
              <a:rPr lang="en-US" altLang="ko-KR" dirty="0"/>
              <a:t>9 </a:t>
            </a:r>
            <a:r>
              <a:rPr lang="ko-KR" altLang="en-US" dirty="0"/>
              <a:t>사이의 값으로</a:t>
            </a:r>
            <a:r>
              <a:rPr lang="en-US" altLang="ko-KR" dirty="0"/>
              <a:t> </a:t>
            </a:r>
            <a:r>
              <a:rPr lang="ko-KR" altLang="en-US" dirty="0"/>
              <a:t>범위가 </a:t>
            </a:r>
            <a:r>
              <a:rPr lang="en-US" altLang="ko-KR" dirty="0"/>
              <a:t>2.5</a:t>
            </a:r>
            <a:r>
              <a:rPr lang="ko-KR" altLang="en-US" dirty="0"/>
              <a:t>이나 </a:t>
            </a:r>
            <a:r>
              <a:rPr lang="en-US" altLang="ko-KR" dirty="0"/>
              <a:t>RMSE</a:t>
            </a:r>
            <a:r>
              <a:rPr lang="ko-KR" altLang="en-US" dirty="0"/>
              <a:t>가 </a:t>
            </a:r>
            <a:r>
              <a:rPr lang="en-US" altLang="ko-KR" dirty="0"/>
              <a:t>0.7915</a:t>
            </a:r>
            <a:r>
              <a:rPr lang="ko-KR" altLang="en-US" dirty="0"/>
              <a:t>이므로 이는 전체 범위의 </a:t>
            </a:r>
            <a:r>
              <a:rPr lang="en-US" altLang="ko-KR" dirty="0"/>
              <a:t>31.7%</a:t>
            </a:r>
            <a:r>
              <a:rPr lang="ko-KR" altLang="en-US" dirty="0"/>
              <a:t>로서 큰 오차에 해당되어 모델 개선필요</a:t>
            </a:r>
            <a:endParaRPr lang="en-US" altLang="ko-KR" dirty="0"/>
          </a:p>
          <a:p>
            <a:r>
              <a:rPr lang="ko-KR" altLang="en-US" dirty="0"/>
              <a:t>▣</a:t>
            </a:r>
            <a:r>
              <a:rPr lang="en-US" altLang="ko-KR" dirty="0"/>
              <a:t> </a:t>
            </a:r>
            <a:r>
              <a:rPr lang="ko-KR" altLang="en-US" dirty="0"/>
              <a:t>개선이 필요한 모델이므로 데이터 </a:t>
            </a:r>
            <a:r>
              <a:rPr lang="ko-KR" altLang="en-US" dirty="0" err="1"/>
              <a:t>전처리</a:t>
            </a:r>
            <a:r>
              <a:rPr lang="en-US" altLang="ko-KR" dirty="0"/>
              <a:t>, </a:t>
            </a:r>
            <a:r>
              <a:rPr lang="ko-KR" altLang="en-US" dirty="0"/>
              <a:t>피처엔지니어링</a:t>
            </a:r>
            <a:r>
              <a:rPr lang="en-US" altLang="ko-KR" dirty="0"/>
              <a:t>, </a:t>
            </a:r>
            <a:r>
              <a:rPr lang="ko-KR" altLang="en-US" dirty="0" err="1"/>
              <a:t>하이퍼파라미터</a:t>
            </a:r>
            <a:r>
              <a:rPr lang="ko-KR" altLang="en-US" dirty="0"/>
              <a:t> 튜닝 실시</a:t>
            </a:r>
            <a:endParaRPr lang="en-US" altLang="ko-KR" dirty="0"/>
          </a:p>
        </p:txBody>
      </p:sp>
      <p:pic>
        <p:nvPicPr>
          <p:cNvPr id="27" name="그림 26">
            <a:extLst>
              <a:ext uri="{FF2B5EF4-FFF2-40B4-BE49-F238E27FC236}">
                <a16:creationId xmlns:a16="http://schemas.microsoft.com/office/drawing/2014/main" id="{BB180CC0-B2BA-8222-35BD-D9083A68988B}"/>
              </a:ext>
            </a:extLst>
          </p:cNvPr>
          <p:cNvPicPr>
            <a:picLocks noChangeAspect="1"/>
          </p:cNvPicPr>
          <p:nvPr/>
        </p:nvPicPr>
        <p:blipFill>
          <a:blip r:embed="rId4"/>
          <a:stretch>
            <a:fillRect/>
          </a:stretch>
        </p:blipFill>
        <p:spPr>
          <a:xfrm>
            <a:off x="441751" y="963059"/>
            <a:ext cx="2133785" cy="1516511"/>
          </a:xfrm>
          <a:prstGeom prst="rect">
            <a:avLst/>
          </a:prstGeom>
        </p:spPr>
      </p:pic>
    </p:spTree>
    <p:extLst>
      <p:ext uri="{BB962C8B-B14F-4D97-AF65-F5344CB8AC3E}">
        <p14:creationId xmlns:p14="http://schemas.microsoft.com/office/powerpoint/2010/main" val="1225355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64C75-CFDF-B14E-9584-B718E7E4A416}"/>
            </a:ext>
          </a:extLst>
        </p:cNvPr>
        <p:cNvGrpSpPr/>
        <p:nvPr/>
      </p:nvGrpSpPr>
      <p:grpSpPr>
        <a:xfrm>
          <a:off x="0" y="0"/>
          <a:ext cx="0" cy="0"/>
          <a:chOff x="0" y="0"/>
          <a:chExt cx="0" cy="0"/>
        </a:xfrm>
      </p:grpSpPr>
      <p:pic>
        <p:nvPicPr>
          <p:cNvPr id="25" name="그림 24">
            <a:extLst>
              <a:ext uri="{FF2B5EF4-FFF2-40B4-BE49-F238E27FC236}">
                <a16:creationId xmlns:a16="http://schemas.microsoft.com/office/drawing/2014/main" id="{C19F99D8-C8F9-8595-519E-D9A1826EDF19}"/>
              </a:ext>
            </a:extLst>
          </p:cNvPr>
          <p:cNvPicPr>
            <a:picLocks noChangeAspect="1"/>
          </p:cNvPicPr>
          <p:nvPr/>
        </p:nvPicPr>
        <p:blipFill>
          <a:blip r:embed="rId2"/>
          <a:stretch>
            <a:fillRect/>
          </a:stretch>
        </p:blipFill>
        <p:spPr>
          <a:xfrm>
            <a:off x="22769" y="894476"/>
            <a:ext cx="3352333" cy="2918713"/>
          </a:xfrm>
          <a:prstGeom prst="rect">
            <a:avLst/>
          </a:prstGeom>
        </p:spPr>
      </p:pic>
      <p:grpSp>
        <p:nvGrpSpPr>
          <p:cNvPr id="2" name="Google Shape;347;p36">
            <a:extLst>
              <a:ext uri="{FF2B5EF4-FFF2-40B4-BE49-F238E27FC236}">
                <a16:creationId xmlns:a16="http://schemas.microsoft.com/office/drawing/2014/main" id="{3A1B35C5-33B4-2B7B-4B91-524E2B545B7C}"/>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3A5485FB-0742-D829-4AFB-653ACF5F47AF}"/>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389A1FA1-045B-D989-96CE-2ECC9E66A117}"/>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84805E58-DC69-2315-D3D6-2E319302D589}"/>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EACF3C45-2EDF-1076-1243-DAE2C34E0E43}"/>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76C54BCA-9259-8E13-1B9B-ED2CC8F710AF}"/>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6E6C3C4C-1BCF-6021-671B-47A7640CAF4F}"/>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C27373E0-0E73-0102-D70B-9E7320A5CCFB}"/>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A1CB8F78-F567-50C2-A023-5540D0BFCAAD}"/>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B78A5D0C-A5F5-C4CC-B148-7A76BDB84E74}"/>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95E0F890-DD03-1FE8-8FD0-D0B2E85C0E92}"/>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94A94D05-EC47-DB15-B31F-FFD60EF2AB39}"/>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009886CF-847E-3546-E399-30667978ACD8}"/>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A2D0115D-4A44-0837-E329-B347AED1E2F3}"/>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D75412BD-2F1D-1B60-32B7-C2C50D70E85B}"/>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83D53E04-652F-DD51-D441-B17658F76488}"/>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5743DD2C-72D9-630A-64B1-64ACAAB56DFA}"/>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D9C23BC8-112B-0CA2-4325-32E5EE553554}"/>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B2ABC03F-BB85-AE36-CAF4-29233DF8927C}"/>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348A9976-7CA4-9980-A092-CEAEB8C62E00}"/>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FBABFA4F-D178-68B0-5DA1-CB2DFA54A53B}"/>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A4FD14F6-9484-0F87-B02E-86F36E544515}"/>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CB6EF5A2-B6C4-7196-9D7C-26CD9E43B477}"/>
              </a:ext>
            </a:extLst>
          </p:cNvPr>
          <p:cNvSpPr txBox="1"/>
          <p:nvPr/>
        </p:nvSpPr>
        <p:spPr>
          <a:xfrm>
            <a:off x="3769112" y="736440"/>
            <a:ext cx="5120813" cy="3139321"/>
          </a:xfrm>
          <a:prstGeom prst="rect">
            <a:avLst/>
          </a:prstGeom>
          <a:noFill/>
        </p:spPr>
        <p:txBody>
          <a:bodyPr wrap="square" rtlCol="0">
            <a:spAutoFit/>
          </a:bodyPr>
          <a:lstStyle/>
          <a:p>
            <a:r>
              <a:rPr lang="ko-KR" altLang="en-US" dirty="0"/>
              <a:t>▣</a:t>
            </a:r>
            <a:r>
              <a:rPr lang="en-US" altLang="ko-KR" dirty="0"/>
              <a:t> </a:t>
            </a:r>
            <a:r>
              <a:rPr lang="ko-KR" altLang="en-US" dirty="0"/>
              <a:t>현재 적용된 수수료율은 </a:t>
            </a:r>
            <a:r>
              <a:rPr lang="ko-KR" altLang="en-US" dirty="0" err="1"/>
              <a:t>총금액</a:t>
            </a:r>
            <a:r>
              <a:rPr lang="en-US" altLang="ko-KR" dirty="0"/>
              <a:t>, </a:t>
            </a:r>
            <a:r>
              <a:rPr lang="ko-KR" altLang="en-US" dirty="0"/>
              <a:t>대분류</a:t>
            </a:r>
            <a:r>
              <a:rPr lang="en-US" altLang="ko-KR" dirty="0"/>
              <a:t>, </a:t>
            </a:r>
            <a:r>
              <a:rPr lang="ko-KR" altLang="en-US" dirty="0"/>
              <a:t>평점 기준으로 적용되고 이용자수는 반영되지 않는 것으로 판단됨</a:t>
            </a:r>
            <a:endParaRPr lang="en-US" altLang="ko-KR" dirty="0"/>
          </a:p>
          <a:p>
            <a:r>
              <a:rPr lang="ko-KR" altLang="en-US" dirty="0"/>
              <a:t>▣ 총결제금액의 대소</a:t>
            </a:r>
            <a:r>
              <a:rPr lang="en-US" altLang="ko-KR" dirty="0"/>
              <a:t>, </a:t>
            </a:r>
            <a:r>
              <a:rPr lang="ko-KR" altLang="en-US" dirty="0"/>
              <a:t>이용자들의 관심을 갖는 분야 여부</a:t>
            </a:r>
            <a:r>
              <a:rPr lang="en-US" altLang="ko-KR" dirty="0"/>
              <a:t>, </a:t>
            </a:r>
            <a:r>
              <a:rPr lang="ko-KR" altLang="en-US" dirty="0"/>
              <a:t>평점의 높고 낮음에 기반하여 수수료가 책정되고 있으나</a:t>
            </a:r>
            <a:r>
              <a:rPr lang="en-US" altLang="ko-KR" dirty="0"/>
              <a:t>, </a:t>
            </a:r>
            <a:r>
              <a:rPr lang="ko-KR" altLang="en-US" dirty="0"/>
              <a:t>이용자수의 대소에 따른 수수료율 정책은 펼치지 않고 있음</a:t>
            </a:r>
            <a:endParaRPr lang="en-US" altLang="ko-KR" dirty="0"/>
          </a:p>
          <a:p>
            <a:r>
              <a:rPr lang="ko-KR" altLang="en-US" dirty="0"/>
              <a:t>▣ 다만 최종 </a:t>
            </a:r>
            <a:r>
              <a:rPr lang="ko-KR" altLang="en-US" dirty="0" err="1"/>
              <a:t>예측값에</a:t>
            </a:r>
            <a:r>
              <a:rPr lang="ko-KR" altLang="en-US" dirty="0"/>
              <a:t> 기인한 정도에 따라 중요도를 판별한 것이므로</a:t>
            </a:r>
            <a:r>
              <a:rPr lang="en-US" altLang="ko-KR" dirty="0"/>
              <a:t>, </a:t>
            </a:r>
            <a:r>
              <a:rPr lang="ko-KR" altLang="en-US" dirty="0"/>
              <a:t>기인한 정도가 높지 않은 상태에서 중요도를 판별하는 것은 의미가 없으므로 변수별로 미친 영향도를 파악할 필요가 있음</a:t>
            </a:r>
            <a:endParaRPr lang="en-US" altLang="ko-KR" dirty="0"/>
          </a:p>
        </p:txBody>
      </p:sp>
    </p:spTree>
    <p:extLst>
      <p:ext uri="{BB962C8B-B14F-4D97-AF65-F5344CB8AC3E}">
        <p14:creationId xmlns:p14="http://schemas.microsoft.com/office/powerpoint/2010/main" val="15950530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B1631-3F68-030A-523D-1264D91F249B}"/>
            </a:ext>
          </a:extLst>
        </p:cNvPr>
        <p:cNvGrpSpPr/>
        <p:nvPr/>
      </p:nvGrpSpPr>
      <p:grpSpPr>
        <a:xfrm>
          <a:off x="0" y="0"/>
          <a:ext cx="0" cy="0"/>
          <a:chOff x="0" y="0"/>
          <a:chExt cx="0" cy="0"/>
        </a:xfrm>
      </p:grpSpPr>
      <p:pic>
        <p:nvPicPr>
          <p:cNvPr id="25" name="그림 24">
            <a:extLst>
              <a:ext uri="{FF2B5EF4-FFF2-40B4-BE49-F238E27FC236}">
                <a16:creationId xmlns:a16="http://schemas.microsoft.com/office/drawing/2014/main" id="{8F5BC074-9EEE-6280-B7AB-7254299B6D24}"/>
              </a:ext>
            </a:extLst>
          </p:cNvPr>
          <p:cNvPicPr>
            <a:picLocks noChangeAspect="1"/>
          </p:cNvPicPr>
          <p:nvPr/>
        </p:nvPicPr>
        <p:blipFill>
          <a:blip r:embed="rId2"/>
          <a:stretch>
            <a:fillRect/>
          </a:stretch>
        </p:blipFill>
        <p:spPr>
          <a:xfrm>
            <a:off x="0" y="1361537"/>
            <a:ext cx="3648588" cy="1894459"/>
          </a:xfrm>
          <a:prstGeom prst="rect">
            <a:avLst/>
          </a:prstGeom>
        </p:spPr>
      </p:pic>
      <p:grpSp>
        <p:nvGrpSpPr>
          <p:cNvPr id="2" name="Google Shape;347;p36">
            <a:extLst>
              <a:ext uri="{FF2B5EF4-FFF2-40B4-BE49-F238E27FC236}">
                <a16:creationId xmlns:a16="http://schemas.microsoft.com/office/drawing/2014/main" id="{A7CA8387-0035-1327-DBE8-FD4E58223494}"/>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495E2C80-1409-6369-CCE0-372498F6DEF6}"/>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2C51AF68-3A36-DE15-37B2-3A8EDD765BFA}"/>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D6C1AB72-D496-F1EE-705D-5E7F19C148EA}"/>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76AC49A9-F3DE-C309-D531-66D69D461A1E}"/>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998C0FD1-6E91-A51E-9D56-F9B170EF651F}"/>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5E74166F-6B6D-66DE-3C85-0BAC12CA6F44}"/>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A879F4FA-8DDF-4A46-FCFD-31E8C1CE7C7E}"/>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EE860AAC-FFFA-0920-8912-D0E2E901AEC8}"/>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6241F0CA-1B5D-D6EE-7E20-6F1C5FE49D7E}"/>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24D6AD0D-2A0E-A515-B43C-A60245F85623}"/>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FA23537B-962C-1DC7-D6F7-756B3D229D8F}"/>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495127FC-40BB-57F0-79A0-13DC833772FC}"/>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63E3C20C-01F6-C51F-C2CF-5B226F3DD4CA}"/>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4CFF146B-D7E5-E87C-0DE4-9DB75F85A200}"/>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585AA255-7D8B-3093-68C5-D8F814C17928}"/>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A85236DD-BFBB-13F1-DD5C-F461CD1F64FF}"/>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B2672E72-8508-2A6D-5353-8EB30B1A6BB8}"/>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7813232C-7B46-9697-EB97-CDA6470AA6B9}"/>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756F714D-E8FE-7A6C-69DD-ED3F236DAE46}"/>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84651161-07FA-9096-F4A0-C6E29DAD2E3A}"/>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10B168C9-5235-5993-254A-38E8469B3DD8}"/>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B40ECE08-6720-8C6A-308B-04469107D3DF}"/>
              </a:ext>
            </a:extLst>
          </p:cNvPr>
          <p:cNvSpPr txBox="1"/>
          <p:nvPr/>
        </p:nvSpPr>
        <p:spPr>
          <a:xfrm>
            <a:off x="3782249" y="248325"/>
            <a:ext cx="5107675" cy="3970318"/>
          </a:xfrm>
          <a:prstGeom prst="rect">
            <a:avLst/>
          </a:prstGeom>
          <a:noFill/>
        </p:spPr>
        <p:txBody>
          <a:bodyPr wrap="square" rtlCol="0">
            <a:spAutoFit/>
          </a:bodyPr>
          <a:lstStyle/>
          <a:p>
            <a:r>
              <a:rPr lang="ko-KR" altLang="en-US" dirty="0"/>
              <a:t>▣ </a:t>
            </a:r>
            <a:r>
              <a:rPr lang="ko-KR" altLang="en-US" dirty="0" err="1"/>
              <a:t>총금액</a:t>
            </a:r>
            <a:r>
              <a:rPr lang="en-US" altLang="ko-KR" dirty="0"/>
              <a:t>, </a:t>
            </a:r>
            <a:r>
              <a:rPr lang="ko-KR" altLang="en-US" dirty="0"/>
              <a:t>평점</a:t>
            </a:r>
            <a:r>
              <a:rPr lang="en-US" altLang="ko-KR" dirty="0"/>
              <a:t>, </a:t>
            </a:r>
            <a:r>
              <a:rPr lang="ko-KR" altLang="en-US" dirty="0"/>
              <a:t>대분류 순으로 중요한 피처</a:t>
            </a:r>
            <a:r>
              <a:rPr lang="en-US" altLang="ko-KR" dirty="0"/>
              <a:t>.     </a:t>
            </a:r>
            <a:r>
              <a:rPr lang="ko-KR" altLang="en-US" dirty="0"/>
              <a:t>다만 </a:t>
            </a:r>
            <a:r>
              <a:rPr lang="en-US" altLang="ko-KR" dirty="0"/>
              <a:t>0</a:t>
            </a:r>
            <a:r>
              <a:rPr lang="ko-KR" altLang="en-US" dirty="0"/>
              <a:t>에 가까이 </a:t>
            </a:r>
            <a:r>
              <a:rPr lang="ko-KR" altLang="en-US" dirty="0" err="1"/>
              <a:t>몰려있어</a:t>
            </a:r>
            <a:r>
              <a:rPr lang="ko-KR" altLang="en-US" dirty="0"/>
              <a:t> 모든 피처가 수수료율이 미친 영향력 크지 않음</a:t>
            </a:r>
            <a:r>
              <a:rPr lang="en-US" altLang="ko-KR" dirty="0"/>
              <a:t>.</a:t>
            </a:r>
          </a:p>
          <a:p>
            <a:r>
              <a:rPr lang="ko-KR" altLang="en-US" dirty="0"/>
              <a:t>▣</a:t>
            </a:r>
            <a:r>
              <a:rPr lang="en-US" altLang="ko-KR" dirty="0"/>
              <a:t> </a:t>
            </a:r>
            <a:r>
              <a:rPr lang="ko-KR" altLang="en-US" dirty="0"/>
              <a:t>총 금액이 크더라도 수수료율을 낮추는 방향으로 작용한 경우도 존재</a:t>
            </a:r>
            <a:r>
              <a:rPr lang="en-US" altLang="ko-KR" dirty="0"/>
              <a:t>. </a:t>
            </a:r>
            <a:r>
              <a:rPr lang="ko-KR" altLang="en-US" dirty="0"/>
              <a:t>즉</a:t>
            </a:r>
            <a:r>
              <a:rPr lang="en-US" altLang="ko-KR" dirty="0"/>
              <a:t>, </a:t>
            </a:r>
            <a:r>
              <a:rPr lang="ko-KR" altLang="en-US" dirty="0"/>
              <a:t>총금액은 모델이 중요하게 보는 피처 중 하나지만</a:t>
            </a:r>
            <a:r>
              <a:rPr lang="en-US" altLang="ko-KR" dirty="0"/>
              <a:t>, </a:t>
            </a:r>
            <a:r>
              <a:rPr lang="ko-KR" altLang="en-US" dirty="0"/>
              <a:t>그 값이 클 때 수수료율을 높이기도 하고</a:t>
            </a:r>
            <a:r>
              <a:rPr lang="en-US" altLang="ko-KR" dirty="0"/>
              <a:t>, </a:t>
            </a:r>
            <a:r>
              <a:rPr lang="ko-KR" altLang="en-US" dirty="0"/>
              <a:t>낮추기도 하는 이중적인 역할</a:t>
            </a:r>
            <a:endParaRPr lang="en-US" altLang="ko-KR" dirty="0"/>
          </a:p>
          <a:p>
            <a:r>
              <a:rPr lang="ko-KR" altLang="en-US" dirty="0"/>
              <a:t>▣ </a:t>
            </a:r>
            <a:r>
              <a:rPr lang="ko-KR" altLang="en-US" dirty="0" err="1"/>
              <a:t>빨간점</a:t>
            </a:r>
            <a:r>
              <a:rPr lang="en-US" altLang="ko-KR" dirty="0"/>
              <a:t>(</a:t>
            </a:r>
            <a:r>
              <a:rPr lang="ko-KR" altLang="en-US" dirty="0"/>
              <a:t>높은 평점</a:t>
            </a:r>
            <a:r>
              <a:rPr lang="en-US" altLang="ko-KR" dirty="0"/>
              <a:t>)</a:t>
            </a:r>
            <a:r>
              <a:rPr lang="ko-KR" altLang="en-US" dirty="0"/>
              <a:t>이 대체로 양의 </a:t>
            </a:r>
            <a:r>
              <a:rPr lang="en-US" altLang="ko-KR" dirty="0"/>
              <a:t>SHAP</a:t>
            </a:r>
            <a:r>
              <a:rPr lang="ko-KR" altLang="en-US" dirty="0"/>
              <a:t>에 분포하여 수수료율을 높이는 방향으로 작용</a:t>
            </a:r>
            <a:r>
              <a:rPr lang="en-US" altLang="ko-KR" dirty="0"/>
              <a:t>. </a:t>
            </a:r>
            <a:r>
              <a:rPr lang="ko-KR" altLang="en-US" dirty="0"/>
              <a:t>높은 평점을 받은 </a:t>
            </a:r>
            <a:r>
              <a:rPr lang="ko-KR" altLang="en-US" dirty="0" err="1"/>
              <a:t>서비는</a:t>
            </a:r>
            <a:r>
              <a:rPr lang="ko-KR" altLang="en-US" dirty="0"/>
              <a:t> 품질이 높고 사용자 만족도가 높아 가격 프리미엄이 붙을 수 있으며</a:t>
            </a:r>
            <a:r>
              <a:rPr lang="en-US" altLang="ko-KR" dirty="0"/>
              <a:t>, L</a:t>
            </a:r>
            <a:r>
              <a:rPr lang="ko-KR" altLang="en-US" dirty="0"/>
              <a:t>사가 그러한 서비스에 대해 높은 수수료율을 부과한 것으로 파악된다</a:t>
            </a:r>
            <a:r>
              <a:rPr lang="en-US" altLang="ko-KR" dirty="0"/>
              <a:t>.</a:t>
            </a:r>
          </a:p>
        </p:txBody>
      </p:sp>
    </p:spTree>
    <p:extLst>
      <p:ext uri="{BB962C8B-B14F-4D97-AF65-F5344CB8AC3E}">
        <p14:creationId xmlns:p14="http://schemas.microsoft.com/office/powerpoint/2010/main" val="3615121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A8D40-EADB-F624-5A95-CF0484F3C97C}"/>
            </a:ext>
          </a:extLst>
        </p:cNvPr>
        <p:cNvGrpSpPr/>
        <p:nvPr/>
      </p:nvGrpSpPr>
      <p:grpSpPr>
        <a:xfrm>
          <a:off x="0" y="0"/>
          <a:ext cx="0" cy="0"/>
          <a:chOff x="0" y="0"/>
          <a:chExt cx="0" cy="0"/>
        </a:xfrm>
      </p:grpSpPr>
      <p:pic>
        <p:nvPicPr>
          <p:cNvPr id="27" name="그림 26">
            <a:extLst>
              <a:ext uri="{FF2B5EF4-FFF2-40B4-BE49-F238E27FC236}">
                <a16:creationId xmlns:a16="http://schemas.microsoft.com/office/drawing/2014/main" id="{4977BF75-39A1-C24F-DDB4-183A7F978BBE}"/>
              </a:ext>
            </a:extLst>
          </p:cNvPr>
          <p:cNvPicPr>
            <a:picLocks noChangeAspect="1"/>
          </p:cNvPicPr>
          <p:nvPr/>
        </p:nvPicPr>
        <p:blipFill>
          <a:blip r:embed="rId2"/>
          <a:stretch>
            <a:fillRect/>
          </a:stretch>
        </p:blipFill>
        <p:spPr>
          <a:xfrm>
            <a:off x="0" y="1204233"/>
            <a:ext cx="3648588" cy="2288992"/>
          </a:xfrm>
          <a:prstGeom prst="rect">
            <a:avLst/>
          </a:prstGeom>
        </p:spPr>
      </p:pic>
      <p:grpSp>
        <p:nvGrpSpPr>
          <p:cNvPr id="2" name="Google Shape;347;p36">
            <a:extLst>
              <a:ext uri="{FF2B5EF4-FFF2-40B4-BE49-F238E27FC236}">
                <a16:creationId xmlns:a16="http://schemas.microsoft.com/office/drawing/2014/main" id="{A3CBD3C9-D0C3-25BA-246A-A84889E45087}"/>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04B3D382-18E7-7192-692D-D140071D3764}"/>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E87FE86F-6787-EE59-D349-4B949AA2DE83}"/>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1FD839E2-170D-F983-5AD2-1396857658E1}"/>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44D89835-687A-0E1C-4EED-120B1E80E988}"/>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E8E01B21-394C-C606-7114-5AABCC771EC6}"/>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730D5689-C022-1A43-3250-4ECE9388B292}"/>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C425AB08-0631-0CC0-D072-9FA44F60100F}"/>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CC5CEBB2-A65A-8F96-304B-47F41CA61C22}"/>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5D8DD8D0-B5A5-B03F-DA2F-262C940BD311}"/>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4BBA4C04-7653-FE28-B92C-0C40CF34D7C3}"/>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3028DFE6-47A4-9F60-252B-445D4676B347}"/>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592919D0-4348-54B4-460B-7050D1FC2063}"/>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E1A3128C-66F1-C84A-C3A0-4042F1479A6B}"/>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D90B2830-86CD-EEAD-BDE5-70203ED75B97}"/>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442CCD9F-CE69-48E2-ECF9-F5251C2A4009}"/>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4E6D1E73-A4FF-12A7-C6FE-BA9D82B69EC2}"/>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0EB71FA7-AA44-8988-45B4-5A5B18AD71A1}"/>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21CA8AC1-4452-FB16-ABF9-D43D3D9D9282}"/>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1B1B3518-D5EE-7C52-3977-632EF2409918}"/>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6D41ADD1-0111-AE31-D1F2-28AC7C0B9E3A}"/>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CF5F5DB5-F386-0A65-64EB-E3A161C115A2}"/>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89ABBB7A-E131-01A1-01DB-D7E6AD836A56}"/>
              </a:ext>
            </a:extLst>
          </p:cNvPr>
          <p:cNvSpPr txBox="1"/>
          <p:nvPr/>
        </p:nvSpPr>
        <p:spPr>
          <a:xfrm>
            <a:off x="3782249" y="248325"/>
            <a:ext cx="5107675" cy="3693319"/>
          </a:xfrm>
          <a:prstGeom prst="rect">
            <a:avLst/>
          </a:prstGeom>
          <a:noFill/>
        </p:spPr>
        <p:txBody>
          <a:bodyPr wrap="square" rtlCol="0">
            <a:spAutoFit/>
          </a:bodyPr>
          <a:lstStyle/>
          <a:p>
            <a:r>
              <a:rPr lang="ko-KR" altLang="en-US" dirty="0"/>
              <a:t>▣</a:t>
            </a:r>
            <a:r>
              <a:rPr lang="en-US" altLang="ko-KR" dirty="0"/>
              <a:t> </a:t>
            </a:r>
            <a:r>
              <a:rPr lang="ko-KR" altLang="en-US" dirty="0"/>
              <a:t>평점이 높아질 수록 </a:t>
            </a:r>
            <a:r>
              <a:rPr lang="en-US" altLang="ko-KR" dirty="0"/>
              <a:t>SHAP</a:t>
            </a:r>
            <a:r>
              <a:rPr lang="ko-KR" altLang="en-US" dirty="0"/>
              <a:t>값은 올라가는 </a:t>
            </a:r>
            <a:r>
              <a:rPr lang="ko-KR" altLang="en-US" dirty="0" err="1"/>
              <a:t>경항도</a:t>
            </a:r>
            <a:r>
              <a:rPr lang="en-US" altLang="ko-KR" dirty="0"/>
              <a:t>, </a:t>
            </a:r>
            <a:r>
              <a:rPr lang="ko-KR" altLang="en-US" dirty="0"/>
              <a:t>내려가는 경향도 보인다</a:t>
            </a:r>
            <a:r>
              <a:rPr lang="en-US" altLang="ko-KR" dirty="0"/>
              <a:t>.</a:t>
            </a:r>
          </a:p>
          <a:p>
            <a:r>
              <a:rPr lang="ko-KR" altLang="en-US" dirty="0"/>
              <a:t>▣</a:t>
            </a:r>
            <a:r>
              <a:rPr lang="en-US" altLang="ko-KR" dirty="0"/>
              <a:t> </a:t>
            </a:r>
            <a:r>
              <a:rPr lang="ko-KR" altLang="en-US" dirty="0"/>
              <a:t>이 모델이 성능이 낮은 이유는 변수들이 수수료율에 미치는 영향이 양면적이기 때문이다</a:t>
            </a:r>
            <a:r>
              <a:rPr lang="en-US" altLang="ko-KR" dirty="0"/>
              <a:t>. </a:t>
            </a:r>
            <a:r>
              <a:rPr lang="ko-KR" altLang="en-US" dirty="0"/>
              <a:t>따라서 비선형모델이 바람직하다</a:t>
            </a:r>
            <a:r>
              <a:rPr lang="en-US" altLang="ko-KR" dirty="0"/>
              <a:t>.</a:t>
            </a:r>
          </a:p>
          <a:p>
            <a:r>
              <a:rPr lang="ko-KR" altLang="en-US" dirty="0"/>
              <a:t>▣</a:t>
            </a:r>
            <a:r>
              <a:rPr lang="en-US" altLang="ko-KR" dirty="0"/>
              <a:t> 4-5</a:t>
            </a:r>
            <a:r>
              <a:rPr lang="ko-KR" altLang="en-US" dirty="0"/>
              <a:t>의 높은 평점의 </a:t>
            </a:r>
            <a:r>
              <a:rPr lang="en-US" altLang="ko-KR" dirty="0" err="1"/>
              <a:t>shap</a:t>
            </a:r>
            <a:r>
              <a:rPr lang="ko-KR" altLang="en-US" dirty="0"/>
              <a:t>값이 대부분 </a:t>
            </a:r>
            <a:r>
              <a:rPr lang="en-US" altLang="ko-KR" dirty="0"/>
              <a:t>0</a:t>
            </a:r>
            <a:r>
              <a:rPr lang="ko-KR" altLang="en-US" dirty="0"/>
              <a:t>이어서 높은 평점은 수수료율에 큰 영향을 주지 않는다</a:t>
            </a:r>
            <a:r>
              <a:rPr lang="en-US" altLang="ko-KR" dirty="0"/>
              <a:t>. </a:t>
            </a:r>
            <a:r>
              <a:rPr lang="ko-KR" altLang="en-US" dirty="0"/>
              <a:t>▣ </a:t>
            </a:r>
            <a:r>
              <a:rPr lang="en-US" altLang="ko-KR" dirty="0"/>
              <a:t>0-2</a:t>
            </a:r>
            <a:r>
              <a:rPr lang="ko-KR" altLang="en-US" dirty="0"/>
              <a:t>의 낮은 평점은 음수로 떨어지는 점들이 있어 수수료율을 낮추는 방향으로 존재하나</a:t>
            </a:r>
            <a:r>
              <a:rPr lang="en-US" altLang="ko-KR" dirty="0"/>
              <a:t>, </a:t>
            </a:r>
            <a:r>
              <a:rPr lang="ko-KR" altLang="en-US" dirty="0"/>
              <a:t>평점도 낮고</a:t>
            </a:r>
            <a:r>
              <a:rPr lang="en-US" altLang="ko-KR" dirty="0"/>
              <a:t>, </a:t>
            </a:r>
            <a:r>
              <a:rPr lang="ko-KR" altLang="en-US" dirty="0"/>
              <a:t>총금액도 낮으면 수수료율을 낮추는 경향이 심화된다는 것을 알 수 있다</a:t>
            </a:r>
            <a:r>
              <a:rPr lang="en-US" altLang="ko-KR" dirty="0"/>
              <a:t>.</a:t>
            </a:r>
          </a:p>
          <a:p>
            <a:r>
              <a:rPr lang="ko-KR" altLang="en-US" dirty="0"/>
              <a:t>▣ 판매자 기준에서 보다 명확하게 공정하게 수수료율 책정이 필요한 상황</a:t>
            </a:r>
            <a:endParaRPr lang="en-US" altLang="ko-KR" dirty="0"/>
          </a:p>
        </p:txBody>
      </p:sp>
    </p:spTree>
    <p:extLst>
      <p:ext uri="{BB962C8B-B14F-4D97-AF65-F5344CB8AC3E}">
        <p14:creationId xmlns:p14="http://schemas.microsoft.com/office/powerpoint/2010/main" val="565602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7DFD8-4A16-B5B7-4724-99F78BE7C6DF}"/>
            </a:ext>
          </a:extLst>
        </p:cNvPr>
        <p:cNvGrpSpPr/>
        <p:nvPr/>
      </p:nvGrpSpPr>
      <p:grpSpPr>
        <a:xfrm>
          <a:off x="0" y="0"/>
          <a:ext cx="0" cy="0"/>
          <a:chOff x="0" y="0"/>
          <a:chExt cx="0" cy="0"/>
        </a:xfrm>
      </p:grpSpPr>
      <p:pic>
        <p:nvPicPr>
          <p:cNvPr id="25" name="그림 24">
            <a:extLst>
              <a:ext uri="{FF2B5EF4-FFF2-40B4-BE49-F238E27FC236}">
                <a16:creationId xmlns:a16="http://schemas.microsoft.com/office/drawing/2014/main" id="{44C98D0A-9862-926F-48D9-AED0885BDDE4}"/>
              </a:ext>
            </a:extLst>
          </p:cNvPr>
          <p:cNvPicPr>
            <a:picLocks noChangeAspect="1"/>
          </p:cNvPicPr>
          <p:nvPr/>
        </p:nvPicPr>
        <p:blipFill>
          <a:blip r:embed="rId2"/>
          <a:stretch>
            <a:fillRect/>
          </a:stretch>
        </p:blipFill>
        <p:spPr>
          <a:xfrm>
            <a:off x="0" y="3108370"/>
            <a:ext cx="7924800" cy="1687207"/>
          </a:xfrm>
          <a:prstGeom prst="rect">
            <a:avLst/>
          </a:prstGeom>
        </p:spPr>
      </p:pic>
      <p:grpSp>
        <p:nvGrpSpPr>
          <p:cNvPr id="2" name="Google Shape;347;p36">
            <a:extLst>
              <a:ext uri="{FF2B5EF4-FFF2-40B4-BE49-F238E27FC236}">
                <a16:creationId xmlns:a16="http://schemas.microsoft.com/office/drawing/2014/main" id="{F8EC25D5-D974-D123-B81F-9434690668C9}"/>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8CA9459B-EF74-BDE3-8762-1C80A1962B25}"/>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2B1F688B-161F-F7FA-CAA2-EAB5AC2C9549}"/>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1D119A3A-AA74-F78F-847E-4E7BF729A02A}"/>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E21C554C-1F20-D4E6-0AF6-87C7749FD763}"/>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42B77F08-6462-9073-FC40-56237B71B05B}"/>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6477E2C7-1928-E71E-55D1-6416751404A1}"/>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6A8117B4-961A-A683-0800-38B5BB97795B}"/>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3D74725E-C160-2C45-6FB3-FD73C1516770}"/>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364BBA03-2E23-89D1-B0CD-95AA69DB1BB1}"/>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A242BAEB-9C86-9FF4-08A0-85BB2F198569}"/>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94C7AD8A-B8E5-750A-D4F9-184AAF8250AD}"/>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3D8682E8-43A5-795C-4977-8BC4D5F49936}"/>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6E910B7E-14BE-F02E-CE93-7A99910B18B9}"/>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95B9EBDF-A762-B34A-EAD8-EC30D01504A0}"/>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BA4A9EC4-37EF-7300-BA1C-1E8D377D8F07}"/>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9A355BE7-8DB7-C75F-E501-8594AFB8605E}"/>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191707AD-848F-4F9D-A783-0A66F3D14CC1}"/>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8A070EC8-06A5-1499-06B8-927084D0BB9B}"/>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0A164105-4781-61CD-30A8-CDCED5596882}"/>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C566FB63-D3C1-3C7E-EA07-81585E180B33}"/>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21FA7E90-CAAE-6EDF-4BAA-605522FE5C96}"/>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22D0E0D3-08CD-8FB8-F75D-0B0BE250B280}"/>
              </a:ext>
            </a:extLst>
          </p:cNvPr>
          <p:cNvSpPr txBox="1"/>
          <p:nvPr/>
        </p:nvSpPr>
        <p:spPr>
          <a:xfrm>
            <a:off x="1137329" y="121825"/>
            <a:ext cx="7665334" cy="2862322"/>
          </a:xfrm>
          <a:prstGeom prst="rect">
            <a:avLst/>
          </a:prstGeom>
          <a:noFill/>
        </p:spPr>
        <p:txBody>
          <a:bodyPr wrap="square" rtlCol="0">
            <a:spAutoFit/>
          </a:bodyPr>
          <a:lstStyle/>
          <a:p>
            <a:r>
              <a:rPr lang="ko-KR" altLang="en-US" dirty="0"/>
              <a:t>▣ 개별 데이터별로 수수료에 미치는 영향도를 파악하기 위해 임의로 생성한 데이터에 대한 수수료율 예측하는 모델 생성</a:t>
            </a:r>
            <a:endParaRPr lang="en-US" altLang="ko-KR" dirty="0"/>
          </a:p>
          <a:p>
            <a:r>
              <a:rPr lang="ko-KR" altLang="en-US" dirty="0"/>
              <a:t>▣ 해당 데이터는 평점이 </a:t>
            </a:r>
            <a:r>
              <a:rPr lang="en-US" altLang="ko-KR" dirty="0"/>
              <a:t>5,</a:t>
            </a:r>
            <a:r>
              <a:rPr lang="ko-KR" altLang="en-US" dirty="0"/>
              <a:t> 총금액이 </a:t>
            </a:r>
            <a:r>
              <a:rPr lang="en-US" altLang="ko-KR" dirty="0"/>
              <a:t>41,400</a:t>
            </a:r>
            <a:r>
              <a:rPr lang="ko-KR" altLang="en-US" dirty="0"/>
              <a:t>원</a:t>
            </a:r>
            <a:r>
              <a:rPr lang="en-US" altLang="ko-KR" dirty="0"/>
              <a:t>, </a:t>
            </a:r>
            <a:r>
              <a:rPr lang="ko-KR" altLang="en-US" dirty="0"/>
              <a:t>대분류는 홈페이지</a:t>
            </a:r>
            <a:endParaRPr lang="en-US" altLang="ko-KR" dirty="0"/>
          </a:p>
          <a:p>
            <a:r>
              <a:rPr lang="ko-KR" altLang="en-US" dirty="0"/>
              <a:t>▣ 모델이 이 샘플에 대해 예측한 최종 수수료율은 </a:t>
            </a:r>
            <a:r>
              <a:rPr lang="en-US" altLang="ko-KR" dirty="0"/>
              <a:t>6.95</a:t>
            </a:r>
            <a:r>
              <a:rPr lang="ko-KR" altLang="en-US" dirty="0"/>
              <a:t>이며</a:t>
            </a:r>
            <a:r>
              <a:rPr lang="en-US" altLang="ko-KR" dirty="0"/>
              <a:t>, </a:t>
            </a:r>
            <a:r>
              <a:rPr lang="ko-KR" altLang="en-US" dirty="0"/>
              <a:t>전체 데이터의 평균 </a:t>
            </a:r>
            <a:r>
              <a:rPr lang="ko-KR" altLang="en-US" dirty="0" err="1"/>
              <a:t>예측값</a:t>
            </a:r>
            <a:r>
              <a:rPr lang="en-US" altLang="ko-KR" dirty="0"/>
              <a:t>(</a:t>
            </a:r>
            <a:r>
              <a:rPr lang="ko-KR" altLang="en-US" dirty="0"/>
              <a:t>모든 피처를 무시했을 때 평균 수수료율</a:t>
            </a:r>
            <a:r>
              <a:rPr lang="en-US" altLang="ko-KR" dirty="0"/>
              <a:t>)</a:t>
            </a:r>
            <a:r>
              <a:rPr lang="ko-KR" altLang="en-US" dirty="0"/>
              <a:t>도 </a:t>
            </a:r>
            <a:r>
              <a:rPr lang="en-US" altLang="ko-KR" dirty="0"/>
              <a:t>6.95</a:t>
            </a:r>
            <a:r>
              <a:rPr lang="ko-KR" altLang="en-US" dirty="0"/>
              <a:t>이므로</a:t>
            </a:r>
            <a:r>
              <a:rPr lang="en-US" altLang="ko-KR" dirty="0"/>
              <a:t>, SHAP </a:t>
            </a:r>
            <a:r>
              <a:rPr lang="ko-KR" altLang="en-US" dirty="0"/>
              <a:t>기여도의 값이 </a:t>
            </a:r>
            <a:r>
              <a:rPr lang="en-US" altLang="ko-KR" dirty="0"/>
              <a:t>0</a:t>
            </a:r>
            <a:r>
              <a:rPr lang="ko-KR" altLang="en-US" dirty="0"/>
              <a:t>으로 수렴한 상태</a:t>
            </a:r>
            <a:endParaRPr lang="en-US" altLang="ko-KR" dirty="0"/>
          </a:p>
          <a:p>
            <a:r>
              <a:rPr lang="ko-KR" altLang="en-US" dirty="0"/>
              <a:t>▣ 샘플과 같이 평점이 </a:t>
            </a:r>
            <a:r>
              <a:rPr lang="en-US" altLang="ko-KR" dirty="0"/>
              <a:t>5</a:t>
            </a:r>
            <a:r>
              <a:rPr lang="ko-KR" altLang="en-US" dirty="0"/>
              <a:t>라면 이 </a:t>
            </a:r>
            <a:r>
              <a:rPr lang="ko-KR" altLang="en-US" dirty="0" err="1"/>
              <a:t>샘풀의</a:t>
            </a:r>
            <a:r>
              <a:rPr lang="ko-KR" altLang="en-US" dirty="0"/>
              <a:t> 평점이 높은 수준이므로 예측 수수료율을 높였으며</a:t>
            </a:r>
            <a:r>
              <a:rPr lang="en-US" altLang="ko-KR" dirty="0"/>
              <a:t>, </a:t>
            </a:r>
            <a:r>
              <a:rPr lang="ko-KR" altLang="en-US" dirty="0"/>
              <a:t>총금액도 높은 편에 속하여 </a:t>
            </a:r>
            <a:r>
              <a:rPr lang="ko-KR" altLang="en-US" dirty="0" err="1"/>
              <a:t>예측값을</a:t>
            </a:r>
            <a:r>
              <a:rPr lang="ko-KR" altLang="en-US" dirty="0"/>
              <a:t> 높이도록 기여했다</a:t>
            </a:r>
            <a:r>
              <a:rPr lang="en-US" altLang="ko-KR" dirty="0"/>
              <a:t>.</a:t>
            </a:r>
            <a:r>
              <a:rPr lang="ko-KR" altLang="en-US" dirty="0"/>
              <a:t>다만 홈페이지라는 대분류는 수수료율을 낮추는 경향을 보여주어</a:t>
            </a:r>
            <a:r>
              <a:rPr lang="en-US" altLang="ko-KR" dirty="0"/>
              <a:t>, </a:t>
            </a:r>
            <a:r>
              <a:rPr lang="ko-KR" altLang="en-US" dirty="0"/>
              <a:t>홈페이지로 분류된 서비스는 수수료율이 낮게 책정되는 경향이 있다</a:t>
            </a:r>
            <a:r>
              <a:rPr lang="en-US" altLang="ko-KR" dirty="0"/>
              <a:t>.</a:t>
            </a:r>
          </a:p>
        </p:txBody>
      </p:sp>
    </p:spTree>
    <p:extLst>
      <p:ext uri="{BB962C8B-B14F-4D97-AF65-F5344CB8AC3E}">
        <p14:creationId xmlns:p14="http://schemas.microsoft.com/office/powerpoint/2010/main" val="1928475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F5344-63D0-3F92-CF98-AF0621F1B8BB}"/>
            </a:ext>
          </a:extLst>
        </p:cNvPr>
        <p:cNvGrpSpPr/>
        <p:nvPr/>
      </p:nvGrpSpPr>
      <p:grpSpPr>
        <a:xfrm>
          <a:off x="0" y="0"/>
          <a:ext cx="0" cy="0"/>
          <a:chOff x="0" y="0"/>
          <a:chExt cx="0" cy="0"/>
        </a:xfrm>
      </p:grpSpPr>
      <p:pic>
        <p:nvPicPr>
          <p:cNvPr id="37" name="그림 36">
            <a:extLst>
              <a:ext uri="{FF2B5EF4-FFF2-40B4-BE49-F238E27FC236}">
                <a16:creationId xmlns:a16="http://schemas.microsoft.com/office/drawing/2014/main" id="{938A15B9-9E5D-1B40-BE52-E60ACC2E711D}"/>
              </a:ext>
            </a:extLst>
          </p:cNvPr>
          <p:cNvPicPr>
            <a:picLocks noChangeAspect="1"/>
          </p:cNvPicPr>
          <p:nvPr/>
        </p:nvPicPr>
        <p:blipFill>
          <a:blip r:embed="rId2"/>
          <a:stretch>
            <a:fillRect/>
          </a:stretch>
        </p:blipFill>
        <p:spPr>
          <a:xfrm>
            <a:off x="3666108" y="3200400"/>
            <a:ext cx="3445892" cy="1814760"/>
          </a:xfrm>
          <a:prstGeom prst="rect">
            <a:avLst/>
          </a:prstGeom>
        </p:spPr>
      </p:pic>
      <p:grpSp>
        <p:nvGrpSpPr>
          <p:cNvPr id="2" name="Google Shape;347;p36">
            <a:extLst>
              <a:ext uri="{FF2B5EF4-FFF2-40B4-BE49-F238E27FC236}">
                <a16:creationId xmlns:a16="http://schemas.microsoft.com/office/drawing/2014/main" id="{BB9275EF-93B8-9DC4-8324-8F2FF391D975}"/>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E7C0FC88-8508-5857-D1C8-ED5C16623A1F}"/>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D7364A19-BB59-8EA1-9679-DC5D43060A46}"/>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5D2F37A9-76CE-4815-48D6-53EF128ECF72}"/>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C12014C3-96A0-2D0C-DAC2-8746216EE4CC}"/>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8F57E324-CA57-35DC-5EFE-3AF831BE35AB}"/>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3144270C-6B98-CCC8-E881-70D41010CEE7}"/>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DE7E8525-4D69-2658-E57E-AB323BAA29AB}"/>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691D8936-3A88-DD45-001B-61BBBE16ED38}"/>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E0278369-F6A4-D9D8-3016-E70E35D7E53C}"/>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09DCA90F-CBDC-9A6F-3C09-DDF78093C2DB}"/>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24015C42-7CD1-DFC3-C42F-A1C3B08403C4}"/>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775CFC78-922D-C957-9463-6800483FA6B8}"/>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FF1F31BB-73B6-05AD-FE7B-419C7B886B10}"/>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674DF25D-A690-A859-0DF6-6982630B6F94}"/>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DC69FA25-EFB3-3CE3-73ED-CE400834B3FE}"/>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CAF378C2-0BBE-3FF6-127F-AA158B718621}"/>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88300576-6EC3-02B2-2800-BEA01EC04410}"/>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16810AF6-C5B8-4C07-CA86-A8861244E8D2}"/>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628441F1-09E9-0A11-B5BF-12392B0D08C7}"/>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F8479918-659C-7E14-C296-0DB956E636CF}"/>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946BFF68-74A4-AC3F-0DF5-9DC0F7DC36E9}"/>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C69F415E-F390-4994-9FFA-D77A1FAD744B}"/>
              </a:ext>
            </a:extLst>
          </p:cNvPr>
          <p:cNvSpPr txBox="1"/>
          <p:nvPr/>
        </p:nvSpPr>
        <p:spPr>
          <a:xfrm>
            <a:off x="428567" y="1031647"/>
            <a:ext cx="8590737" cy="2308324"/>
          </a:xfrm>
          <a:prstGeom prst="rect">
            <a:avLst/>
          </a:prstGeom>
          <a:noFill/>
        </p:spPr>
        <p:txBody>
          <a:bodyPr wrap="square" rtlCol="0">
            <a:spAutoFit/>
          </a:bodyPr>
          <a:lstStyle/>
          <a:p>
            <a:r>
              <a:rPr lang="ko-KR" altLang="en-US" dirty="0"/>
              <a:t>▣ </a:t>
            </a:r>
            <a:r>
              <a:rPr lang="en-US" altLang="ko-KR" dirty="0"/>
              <a:t>L</a:t>
            </a:r>
            <a:r>
              <a:rPr lang="ko-KR" altLang="en-US" dirty="0"/>
              <a:t>사 </a:t>
            </a:r>
            <a:r>
              <a:rPr lang="en-US" altLang="ko-KR" dirty="0"/>
              <a:t>20</a:t>
            </a:r>
            <a:r>
              <a:rPr lang="ko-KR" altLang="en-US" dirty="0"/>
              <a:t>년도 매출액 </a:t>
            </a:r>
            <a:r>
              <a:rPr lang="en-US" altLang="ko-KR" dirty="0"/>
              <a:t>800</a:t>
            </a:r>
            <a:r>
              <a:rPr lang="ko-KR" altLang="en-US" dirty="0"/>
              <a:t>백만원</a:t>
            </a:r>
            <a:r>
              <a:rPr lang="en-US" altLang="ko-KR" dirty="0"/>
              <a:t>(</a:t>
            </a:r>
            <a:r>
              <a:rPr lang="ko-KR" altLang="en-US" dirty="0"/>
              <a:t>데이터와 불일치</a:t>
            </a:r>
            <a:r>
              <a:rPr lang="en-US" altLang="ko-KR" dirty="0"/>
              <a:t>)</a:t>
            </a:r>
          </a:p>
          <a:p>
            <a:r>
              <a:rPr lang="ko-KR" altLang="en-US" dirty="0"/>
              <a:t>▣ 산업통계분석시스템상 </a:t>
            </a:r>
            <a:r>
              <a:rPr lang="en-US" altLang="ko-KR" dirty="0"/>
              <a:t>20</a:t>
            </a:r>
            <a:r>
              <a:rPr lang="ko-KR" altLang="en-US" dirty="0"/>
              <a:t>년도 생산자서비스 매출액영업이익률 </a:t>
            </a:r>
            <a:r>
              <a:rPr lang="en-US" altLang="ko-KR" dirty="0"/>
              <a:t>12.59%</a:t>
            </a:r>
          </a:p>
          <a:p>
            <a:pPr>
              <a:buSzPts val="1000"/>
              <a:tabLst>
                <a:tab pos="457200" algn="l"/>
              </a:tabLst>
            </a:pPr>
            <a:r>
              <a:rPr lang="ko-KR" altLang="en-US" dirty="0"/>
              <a:t>▣ 나라장터상 맞춤형서비스 수수료율은 금액별로 상이하나 </a:t>
            </a:r>
            <a:r>
              <a:rPr lang="en-US" altLang="ko-KR" dirty="0"/>
              <a:t>100</a:t>
            </a:r>
            <a:r>
              <a:rPr lang="ko-KR" altLang="en-US" dirty="0"/>
              <a:t>억 미만 최소 </a:t>
            </a:r>
            <a:r>
              <a:rPr lang="en-US" altLang="ko-KR" dirty="0"/>
              <a:t>9.3%</a:t>
            </a:r>
          </a:p>
          <a:p>
            <a:r>
              <a:rPr lang="ko-KR" altLang="en-US" dirty="0"/>
              <a:t>▣ </a:t>
            </a:r>
            <a:r>
              <a:rPr lang="ko-KR" altLang="en-US" dirty="0" err="1"/>
              <a:t>데이터기반하여</a:t>
            </a:r>
            <a:r>
              <a:rPr lang="ko-KR" altLang="en-US" dirty="0"/>
              <a:t> </a:t>
            </a:r>
            <a:r>
              <a:rPr lang="ko-KR" altLang="en-US" dirty="0" err="1"/>
              <a:t>최적수수료율</a:t>
            </a:r>
            <a:r>
              <a:rPr lang="ko-KR" altLang="en-US" dirty="0"/>
              <a:t> </a:t>
            </a:r>
            <a:r>
              <a:rPr lang="ko-KR" altLang="en-US" dirty="0" err="1"/>
              <a:t>산정시</a:t>
            </a:r>
            <a:r>
              <a:rPr lang="ko-KR" altLang="en-US" dirty="0"/>
              <a:t> 프로그램수정횟수</a:t>
            </a:r>
            <a:r>
              <a:rPr lang="en-US" altLang="ko-KR" dirty="0"/>
              <a:t>, </a:t>
            </a:r>
            <a:r>
              <a:rPr lang="ko-KR" altLang="en-US" dirty="0"/>
              <a:t>거래취소여부</a:t>
            </a:r>
            <a:r>
              <a:rPr lang="en-US" altLang="ko-KR" dirty="0"/>
              <a:t>, </a:t>
            </a:r>
            <a:r>
              <a:rPr lang="ko-KR" altLang="en-US" dirty="0"/>
              <a:t>대분류 등의 </a:t>
            </a:r>
            <a:r>
              <a:rPr lang="ko-KR" altLang="en-US" dirty="0" err="1"/>
              <a:t>피쳐는</a:t>
            </a:r>
            <a:r>
              <a:rPr lang="ko-KR" altLang="en-US" dirty="0"/>
              <a:t> </a:t>
            </a:r>
            <a:r>
              <a:rPr lang="ko-KR" altLang="en-US" dirty="0" err="1"/>
              <a:t>반영시</a:t>
            </a:r>
            <a:r>
              <a:rPr lang="ko-KR" altLang="en-US" dirty="0"/>
              <a:t> 악용가능성 높아 배제하고</a:t>
            </a:r>
            <a:r>
              <a:rPr lang="en-US" altLang="ko-KR" dirty="0"/>
              <a:t>, </a:t>
            </a:r>
            <a:r>
              <a:rPr lang="ko-KR" altLang="en-US" dirty="0"/>
              <a:t>평점과 총금액만을 반영</a:t>
            </a:r>
            <a:endParaRPr lang="en-US" altLang="ko-KR" dirty="0"/>
          </a:p>
          <a:p>
            <a:r>
              <a:rPr lang="ko-KR" altLang="en-US" dirty="0"/>
              <a:t>▣ 다만 평점과 총금액을 통해 </a:t>
            </a:r>
            <a:r>
              <a:rPr lang="ko-KR" altLang="en-US" dirty="0" err="1"/>
              <a:t>예상수수료율</a:t>
            </a:r>
            <a:r>
              <a:rPr lang="ko-KR" altLang="en-US" dirty="0"/>
              <a:t> 산정하는 선형회귀모델의 경우 </a:t>
            </a:r>
            <a:r>
              <a:rPr lang="en-US" altLang="ko-KR" dirty="0"/>
              <a:t>R^2 </a:t>
            </a:r>
            <a:r>
              <a:rPr lang="ko-KR" altLang="en-US" dirty="0"/>
              <a:t>스코어가 음수로 나와 신뢰할 수 없는 모델로 평가되어 두 피처만으로 수수료율을 설명하는 지표로는 부적합하였음</a:t>
            </a:r>
            <a:endParaRPr lang="en-US" altLang="ko-KR" dirty="0"/>
          </a:p>
        </p:txBody>
      </p:sp>
      <p:sp>
        <p:nvSpPr>
          <p:cNvPr id="24" name="PlaceHolder 1">
            <a:extLst>
              <a:ext uri="{FF2B5EF4-FFF2-40B4-BE49-F238E27FC236}">
                <a16:creationId xmlns:a16="http://schemas.microsoft.com/office/drawing/2014/main" id="{01AD298D-47C6-5A98-BF9F-C795467BD01F}"/>
              </a:ext>
            </a:extLst>
          </p:cNvPr>
          <p:cNvSpPr txBox="1">
            <a:spLocks/>
          </p:cNvSpPr>
          <p:nvPr/>
        </p:nvSpPr>
        <p:spPr>
          <a:xfrm>
            <a:off x="1576783" y="204578"/>
            <a:ext cx="7567217" cy="660657"/>
          </a:xfrm>
          <a:prstGeom prst="rect">
            <a:avLst/>
          </a:prstGeom>
          <a:noFill/>
          <a:ln w="0">
            <a:noFill/>
          </a:ln>
        </p:spPr>
        <p:txBody>
          <a:bodyPr lIns="91440" tIns="91440" rIns="91440" bIns="91440" anchor="b">
            <a:no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buSzPts val="1000"/>
              <a:tabLst>
                <a:tab pos="457200" algn="l"/>
              </a:tabLst>
            </a:pPr>
            <a:r>
              <a:rPr lang="ko-KR" altLang="en-US" sz="2500" spc="-1" dirty="0">
                <a:solidFill>
                  <a:schemeClr val="dk1"/>
                </a:solidFill>
                <a:latin typeface="궁서" panose="02030600000101010101" pitchFamily="18" charset="-127"/>
                <a:ea typeface="궁서" panose="02030600000101010101" pitchFamily="18" charset="-127"/>
              </a:rPr>
              <a:t>최적의 수수료율을 </a:t>
            </a:r>
            <a:r>
              <a:rPr lang="ko-KR" altLang="en-US" sz="2500" spc="-1" dirty="0" err="1">
                <a:solidFill>
                  <a:schemeClr val="dk1"/>
                </a:solidFill>
                <a:latin typeface="궁서" panose="02030600000101010101" pitchFamily="18" charset="-127"/>
                <a:ea typeface="궁서" panose="02030600000101010101" pitchFamily="18" charset="-127"/>
              </a:rPr>
              <a:t>찾기위한</a:t>
            </a:r>
            <a:r>
              <a:rPr lang="ko-KR" altLang="en-US" sz="2500" spc="-1" dirty="0">
                <a:solidFill>
                  <a:schemeClr val="dk1"/>
                </a:solidFill>
                <a:latin typeface="궁서" panose="02030600000101010101" pitchFamily="18" charset="-127"/>
                <a:ea typeface="궁서" panose="02030600000101010101" pitchFamily="18" charset="-127"/>
              </a:rPr>
              <a:t> 기본정보</a:t>
            </a:r>
            <a:endParaRPr lang="fr-FR" sz="2500" spc="-1" dirty="0">
              <a:solidFill>
                <a:schemeClr val="dk1"/>
              </a:solidFill>
              <a:latin typeface="궁서" panose="02030600000101010101" pitchFamily="18" charset="-127"/>
              <a:ea typeface="궁서" panose="02030600000101010101" pitchFamily="18" charset="-127"/>
            </a:endParaRPr>
          </a:p>
        </p:txBody>
      </p:sp>
      <p:sp>
        <p:nvSpPr>
          <p:cNvPr id="27" name="Google Shape;664;p50">
            <a:extLst>
              <a:ext uri="{FF2B5EF4-FFF2-40B4-BE49-F238E27FC236}">
                <a16:creationId xmlns:a16="http://schemas.microsoft.com/office/drawing/2014/main" id="{E108C5D2-6EC0-5717-D048-768068A6B3E7}"/>
              </a:ext>
            </a:extLst>
          </p:cNvPr>
          <p:cNvSpPr/>
          <p:nvPr/>
        </p:nvSpPr>
        <p:spPr>
          <a:xfrm>
            <a:off x="1001638" y="378085"/>
            <a:ext cx="531524" cy="470379"/>
          </a:xfrm>
          <a:prstGeom prst="ellipse">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pic>
        <p:nvPicPr>
          <p:cNvPr id="35" name="그림 34">
            <a:extLst>
              <a:ext uri="{FF2B5EF4-FFF2-40B4-BE49-F238E27FC236}">
                <a16:creationId xmlns:a16="http://schemas.microsoft.com/office/drawing/2014/main" id="{5B94BB4B-D7BF-2637-64FB-E3F277DC3B57}"/>
              </a:ext>
            </a:extLst>
          </p:cNvPr>
          <p:cNvPicPr>
            <a:picLocks noChangeAspect="1"/>
          </p:cNvPicPr>
          <p:nvPr/>
        </p:nvPicPr>
        <p:blipFill>
          <a:blip r:embed="rId5"/>
          <a:stretch>
            <a:fillRect/>
          </a:stretch>
        </p:blipFill>
        <p:spPr>
          <a:xfrm>
            <a:off x="567551" y="3632162"/>
            <a:ext cx="3208298" cy="876376"/>
          </a:xfrm>
          <a:prstGeom prst="rect">
            <a:avLst/>
          </a:prstGeom>
        </p:spPr>
      </p:pic>
    </p:spTree>
    <p:extLst>
      <p:ext uri="{BB962C8B-B14F-4D97-AF65-F5344CB8AC3E}">
        <p14:creationId xmlns:p14="http://schemas.microsoft.com/office/powerpoint/2010/main" val="41729650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5BC48-27D6-9641-2E74-B406EA95AB94}"/>
            </a:ext>
          </a:extLst>
        </p:cNvPr>
        <p:cNvGrpSpPr/>
        <p:nvPr/>
      </p:nvGrpSpPr>
      <p:grpSpPr>
        <a:xfrm>
          <a:off x="0" y="0"/>
          <a:ext cx="0" cy="0"/>
          <a:chOff x="0" y="0"/>
          <a:chExt cx="0" cy="0"/>
        </a:xfrm>
      </p:grpSpPr>
      <p:pic>
        <p:nvPicPr>
          <p:cNvPr id="28" name="그림 27">
            <a:extLst>
              <a:ext uri="{FF2B5EF4-FFF2-40B4-BE49-F238E27FC236}">
                <a16:creationId xmlns:a16="http://schemas.microsoft.com/office/drawing/2014/main" id="{BFA004B7-3A74-FCB9-96C4-DC378A7C335B}"/>
              </a:ext>
            </a:extLst>
          </p:cNvPr>
          <p:cNvPicPr>
            <a:picLocks noChangeAspect="1"/>
          </p:cNvPicPr>
          <p:nvPr/>
        </p:nvPicPr>
        <p:blipFill>
          <a:blip r:embed="rId2"/>
          <a:stretch>
            <a:fillRect/>
          </a:stretch>
        </p:blipFill>
        <p:spPr>
          <a:xfrm>
            <a:off x="327710" y="2914286"/>
            <a:ext cx="3407341" cy="2208156"/>
          </a:xfrm>
          <a:prstGeom prst="rect">
            <a:avLst/>
          </a:prstGeom>
        </p:spPr>
      </p:pic>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6D32AEA1-EF92-AD0E-E53F-E7CC430EDE0E}"/>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2E057885-40DD-EE81-6AE9-1A74F1BDF8A9}"/>
              </a:ext>
            </a:extLst>
          </p:cNvPr>
          <p:cNvSpPr txBox="1"/>
          <p:nvPr/>
        </p:nvSpPr>
        <p:spPr>
          <a:xfrm>
            <a:off x="341274" y="376244"/>
            <a:ext cx="8590737" cy="2585323"/>
          </a:xfrm>
          <a:prstGeom prst="rect">
            <a:avLst/>
          </a:prstGeom>
          <a:noFill/>
        </p:spPr>
        <p:txBody>
          <a:bodyPr wrap="square" rtlCol="0">
            <a:spAutoFit/>
          </a:bodyPr>
          <a:lstStyle/>
          <a:p>
            <a:r>
              <a:rPr lang="ko-KR" altLang="en-US" dirty="0"/>
              <a:t>▣ </a:t>
            </a:r>
            <a:r>
              <a:rPr lang="en-US" altLang="ko-KR" dirty="0"/>
              <a:t>L</a:t>
            </a:r>
            <a:r>
              <a:rPr lang="ko-KR" altLang="en-US" dirty="0"/>
              <a:t>사의 목적은 매출신장을 통한 이익의 극대화</a:t>
            </a:r>
            <a:endParaRPr lang="en-US" altLang="ko-KR" dirty="0"/>
          </a:p>
          <a:p>
            <a:r>
              <a:rPr lang="ko-KR" altLang="en-US" dirty="0"/>
              <a:t>▣ 판매자의 목적은 수수료율 최소화하여 이익의 극대화</a:t>
            </a:r>
            <a:endParaRPr lang="en-US" altLang="ko-KR" dirty="0"/>
          </a:p>
          <a:p>
            <a:r>
              <a:rPr lang="ko-KR" altLang="en-US" dirty="0"/>
              <a:t>▣ </a:t>
            </a:r>
            <a:r>
              <a:rPr lang="ko-KR" altLang="en-US" dirty="0" err="1"/>
              <a:t>상호수혜적인</a:t>
            </a:r>
            <a:r>
              <a:rPr lang="ko-KR" altLang="en-US" dirty="0"/>
              <a:t> 관점에서 양측의 이익을 최적화하는 솔루션</a:t>
            </a:r>
            <a:endParaRPr lang="en-US" altLang="ko-KR" dirty="0"/>
          </a:p>
          <a:p>
            <a:r>
              <a:rPr lang="ko-KR" altLang="en-US" dirty="0"/>
              <a:t>▣ </a:t>
            </a:r>
            <a:r>
              <a:rPr lang="en-US" altLang="ko-KR" dirty="0"/>
              <a:t>L</a:t>
            </a:r>
            <a:r>
              <a:rPr lang="ko-KR" altLang="en-US" dirty="0"/>
              <a:t>사에서 활성화된 서비스의 </a:t>
            </a:r>
            <a:r>
              <a:rPr lang="ko-KR" altLang="en-US" dirty="0" err="1"/>
              <a:t>평균수수료율은</a:t>
            </a:r>
            <a:r>
              <a:rPr lang="ko-KR" altLang="en-US" dirty="0"/>
              <a:t> </a:t>
            </a:r>
            <a:r>
              <a:rPr lang="en-US" altLang="ko-KR" dirty="0"/>
              <a:t>6.95% </a:t>
            </a:r>
            <a:r>
              <a:rPr lang="ko-KR" altLang="en-US" dirty="0"/>
              <a:t>이며</a:t>
            </a:r>
            <a:r>
              <a:rPr lang="en-US" altLang="ko-KR" dirty="0"/>
              <a:t>, </a:t>
            </a:r>
            <a:r>
              <a:rPr lang="ko-KR" altLang="en-US" dirty="0"/>
              <a:t>해당 산업별 평균 매출액영업이익률이 </a:t>
            </a:r>
            <a:r>
              <a:rPr lang="en-US" altLang="ko-KR" dirty="0"/>
              <a:t>12.59%</a:t>
            </a:r>
            <a:r>
              <a:rPr lang="ko-KR" altLang="en-US" dirty="0"/>
              <a:t>라는 측면에서 개선이 시급하나</a:t>
            </a:r>
            <a:r>
              <a:rPr lang="en-US" altLang="ko-KR" dirty="0"/>
              <a:t>, </a:t>
            </a:r>
            <a:r>
              <a:rPr lang="ko-KR" altLang="en-US" dirty="0"/>
              <a:t>판매자의 반발을 고려하여 </a:t>
            </a:r>
            <a:r>
              <a:rPr lang="ko-KR" altLang="en-US" dirty="0" err="1"/>
              <a:t>최저수수료율</a:t>
            </a:r>
            <a:r>
              <a:rPr lang="ko-KR" altLang="en-US" dirty="0"/>
              <a:t> </a:t>
            </a:r>
            <a:r>
              <a:rPr lang="en-US" altLang="ko-KR" dirty="0"/>
              <a:t>6%</a:t>
            </a:r>
            <a:r>
              <a:rPr lang="ko-KR" altLang="en-US" dirty="0"/>
              <a:t>에서 매출액영업이익률 </a:t>
            </a:r>
            <a:r>
              <a:rPr lang="en-US" altLang="ko-KR" dirty="0"/>
              <a:t>12.59% </a:t>
            </a:r>
            <a:r>
              <a:rPr lang="ko-KR" altLang="en-US" dirty="0"/>
              <a:t>사이에서 최적화 진행</a:t>
            </a:r>
            <a:endParaRPr lang="en-US" altLang="ko-KR" dirty="0"/>
          </a:p>
          <a:p>
            <a:r>
              <a:rPr lang="ko-KR" altLang="en-US" dirty="0"/>
              <a:t>▣ 데이터기준으로 매출액 </a:t>
            </a:r>
            <a:r>
              <a:rPr lang="en-US" altLang="ko-KR" dirty="0"/>
              <a:t>198</a:t>
            </a:r>
            <a:r>
              <a:rPr lang="ko-KR" altLang="en-US" dirty="0"/>
              <a:t>억이고 수수료는 </a:t>
            </a:r>
            <a:r>
              <a:rPr lang="en-US" altLang="ko-KR" dirty="0"/>
              <a:t>13.6</a:t>
            </a:r>
            <a:r>
              <a:rPr lang="ko-KR" altLang="en-US" dirty="0"/>
              <a:t>억이므로 업무원가는 </a:t>
            </a:r>
            <a:r>
              <a:rPr lang="en-US" altLang="ko-KR" dirty="0"/>
              <a:t>184.4</a:t>
            </a:r>
            <a:r>
              <a:rPr lang="ko-KR" altLang="en-US" dirty="0"/>
              <a:t>억원이며</a:t>
            </a:r>
            <a:r>
              <a:rPr lang="en-US" altLang="ko-KR" dirty="0"/>
              <a:t>, </a:t>
            </a:r>
            <a:r>
              <a:rPr lang="ko-KR" altLang="en-US" dirty="0"/>
              <a:t>필요경비율은 </a:t>
            </a:r>
            <a:r>
              <a:rPr lang="en-US" altLang="ko-KR" dirty="0"/>
              <a:t>93.1%</a:t>
            </a:r>
            <a:r>
              <a:rPr lang="ko-KR" altLang="en-US" dirty="0"/>
              <a:t>이고 영업이익율은 </a:t>
            </a:r>
            <a:r>
              <a:rPr lang="en-US" altLang="ko-KR" dirty="0"/>
              <a:t>6.9%</a:t>
            </a:r>
            <a:r>
              <a:rPr lang="ko-KR" altLang="en-US" dirty="0"/>
              <a:t>이므로 직전대비 영업이익률을 </a:t>
            </a:r>
            <a:r>
              <a:rPr lang="ko-KR" altLang="en-US" dirty="0" err="1"/>
              <a:t>상향시키는</a:t>
            </a:r>
            <a:r>
              <a:rPr lang="ko-KR" altLang="en-US" dirty="0"/>
              <a:t> 방향으로 수수료율 구간을 산정</a:t>
            </a:r>
            <a:endParaRPr lang="en-US" altLang="ko-KR" dirty="0"/>
          </a:p>
        </p:txBody>
      </p:sp>
      <p:pic>
        <p:nvPicPr>
          <p:cNvPr id="30" name="그림 29">
            <a:extLst>
              <a:ext uri="{FF2B5EF4-FFF2-40B4-BE49-F238E27FC236}">
                <a16:creationId xmlns:a16="http://schemas.microsoft.com/office/drawing/2014/main" id="{B7FD4810-D8D3-C58D-F8DE-4CE22BD0F4D6}"/>
              </a:ext>
            </a:extLst>
          </p:cNvPr>
          <p:cNvPicPr>
            <a:picLocks noChangeAspect="1"/>
          </p:cNvPicPr>
          <p:nvPr/>
        </p:nvPicPr>
        <p:blipFill>
          <a:blip r:embed="rId4"/>
          <a:stretch>
            <a:fillRect/>
          </a:stretch>
        </p:blipFill>
        <p:spPr>
          <a:xfrm>
            <a:off x="3777545" y="2914286"/>
            <a:ext cx="2913838" cy="2169293"/>
          </a:xfrm>
          <a:prstGeom prst="rect">
            <a:avLst/>
          </a:prstGeom>
        </p:spPr>
      </p:pic>
    </p:spTree>
    <p:extLst>
      <p:ext uri="{BB962C8B-B14F-4D97-AF65-F5344CB8AC3E}">
        <p14:creationId xmlns:p14="http://schemas.microsoft.com/office/powerpoint/2010/main" val="2999540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FF9F3-6739-21FB-8634-2A2737996AFE}"/>
            </a:ext>
          </a:extLst>
        </p:cNvPr>
        <p:cNvGrpSpPr/>
        <p:nvPr/>
      </p:nvGrpSpPr>
      <p:grpSpPr>
        <a:xfrm>
          <a:off x="0" y="0"/>
          <a:ext cx="0" cy="0"/>
          <a:chOff x="0" y="0"/>
          <a:chExt cx="0" cy="0"/>
        </a:xfrm>
      </p:grpSpPr>
      <p:pic>
        <p:nvPicPr>
          <p:cNvPr id="25" name="그림 24">
            <a:extLst>
              <a:ext uri="{FF2B5EF4-FFF2-40B4-BE49-F238E27FC236}">
                <a16:creationId xmlns:a16="http://schemas.microsoft.com/office/drawing/2014/main" id="{87FFC292-A995-413B-5855-3BBA5B0AC1E7}"/>
              </a:ext>
            </a:extLst>
          </p:cNvPr>
          <p:cNvPicPr>
            <a:picLocks noChangeAspect="1"/>
          </p:cNvPicPr>
          <p:nvPr/>
        </p:nvPicPr>
        <p:blipFill>
          <a:blip r:embed="rId2"/>
          <a:stretch>
            <a:fillRect/>
          </a:stretch>
        </p:blipFill>
        <p:spPr>
          <a:xfrm>
            <a:off x="401345" y="2927088"/>
            <a:ext cx="2770937" cy="1784028"/>
          </a:xfrm>
          <a:prstGeom prst="rect">
            <a:avLst/>
          </a:prstGeom>
        </p:spPr>
      </p:pic>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F0039D63-35DA-10EA-CD8B-8D8D628F1590}"/>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D018D05A-C3C5-1B72-8E34-E9DA75155DEF}"/>
              </a:ext>
            </a:extLst>
          </p:cNvPr>
          <p:cNvSpPr txBox="1"/>
          <p:nvPr/>
        </p:nvSpPr>
        <p:spPr>
          <a:xfrm>
            <a:off x="341274" y="376244"/>
            <a:ext cx="8590737" cy="2308324"/>
          </a:xfrm>
          <a:prstGeom prst="rect">
            <a:avLst/>
          </a:prstGeom>
          <a:noFill/>
        </p:spPr>
        <p:txBody>
          <a:bodyPr wrap="square" rtlCol="0">
            <a:spAutoFit/>
          </a:bodyPr>
          <a:lstStyle/>
          <a:p>
            <a:r>
              <a:rPr lang="ko-KR" altLang="en-US" dirty="0"/>
              <a:t>▣ 수수료율을 조정하여 </a:t>
            </a:r>
            <a:r>
              <a:rPr lang="en-US" altLang="ko-KR" dirty="0"/>
              <a:t>L</a:t>
            </a:r>
            <a:r>
              <a:rPr lang="ko-KR" altLang="en-US" dirty="0"/>
              <a:t>사의 영업이익을 극대화하고 동시에 서비스판매자들의 반발을 최소화하는 것이 목적</a:t>
            </a:r>
            <a:endParaRPr lang="en-US" altLang="ko-KR" dirty="0"/>
          </a:p>
          <a:p>
            <a:r>
              <a:rPr lang="ko-KR" altLang="en-US" dirty="0"/>
              <a:t>▣ 최적화</a:t>
            </a:r>
            <a:r>
              <a:rPr lang="en-US" altLang="ko-KR" dirty="0"/>
              <a:t>, </a:t>
            </a:r>
            <a:r>
              <a:rPr lang="ko-KR" altLang="en-US" dirty="0"/>
              <a:t>게임이론</a:t>
            </a:r>
            <a:r>
              <a:rPr lang="en-US" altLang="ko-KR" dirty="0"/>
              <a:t>, </a:t>
            </a:r>
            <a:r>
              <a:rPr lang="ko-KR" altLang="en-US" dirty="0"/>
              <a:t>수학적모델링 활용</a:t>
            </a:r>
            <a:endParaRPr lang="en-US" altLang="ko-KR" dirty="0"/>
          </a:p>
          <a:p>
            <a:r>
              <a:rPr lang="ko-KR" altLang="en-US" dirty="0"/>
              <a:t>▣ 수익모델 정의</a:t>
            </a:r>
            <a:r>
              <a:rPr lang="en-US" altLang="ko-KR" dirty="0"/>
              <a:t>:</a:t>
            </a:r>
            <a:r>
              <a:rPr lang="ko-KR" altLang="en-US" dirty="0"/>
              <a:t> 영업이익</a:t>
            </a:r>
            <a:r>
              <a:rPr lang="en-US" altLang="ko-KR" dirty="0"/>
              <a:t>(P) = </a:t>
            </a:r>
            <a:r>
              <a:rPr lang="ko-KR" altLang="en-US" dirty="0" err="1"/>
              <a:t>총금액</a:t>
            </a:r>
            <a:r>
              <a:rPr lang="en-US" altLang="ko-KR" dirty="0"/>
              <a:t>(T) * </a:t>
            </a:r>
            <a:r>
              <a:rPr lang="ko-KR" altLang="en-US" dirty="0"/>
              <a:t>수수료율</a:t>
            </a:r>
            <a:r>
              <a:rPr lang="en-US" altLang="ko-KR" dirty="0"/>
              <a:t>(r)</a:t>
            </a:r>
            <a:r>
              <a:rPr lang="ko-KR" altLang="en-US" dirty="0"/>
              <a:t> </a:t>
            </a:r>
            <a:endParaRPr lang="en-US" altLang="ko-KR" dirty="0"/>
          </a:p>
          <a:p>
            <a:r>
              <a:rPr lang="ko-KR" altLang="en-US" dirty="0"/>
              <a:t>▣ 판매자의 만족도함수 정의</a:t>
            </a:r>
            <a:r>
              <a:rPr lang="en-US" altLang="ko-KR" dirty="0"/>
              <a:t>: S(r) = e^(-</a:t>
            </a:r>
            <a:r>
              <a:rPr lang="en-US" altLang="ko-KR" dirty="0" err="1"/>
              <a:t>kr</a:t>
            </a:r>
            <a:r>
              <a:rPr lang="en-US" altLang="ko-KR" dirty="0"/>
              <a:t>)  k</a:t>
            </a:r>
            <a:r>
              <a:rPr lang="ko-KR" altLang="en-US" dirty="0"/>
              <a:t>는 민감도를 조절하는 상수</a:t>
            </a:r>
            <a:endParaRPr lang="en-US" altLang="ko-KR" dirty="0"/>
          </a:p>
          <a:p>
            <a:r>
              <a:rPr lang="en-US" altLang="ko-KR" dirty="0"/>
              <a:t>    </a:t>
            </a:r>
            <a:r>
              <a:rPr lang="ko-KR" altLang="en-US" dirty="0"/>
              <a:t>▶ 판매자 반발을 수치화 할 수 있는 피드백 데이터 수집하여 </a:t>
            </a:r>
            <a:r>
              <a:rPr lang="en-US" altLang="ko-KR" dirty="0"/>
              <a:t>k</a:t>
            </a:r>
            <a:r>
              <a:rPr lang="ko-KR" altLang="en-US" dirty="0"/>
              <a:t>값 보정필요</a:t>
            </a:r>
            <a:endParaRPr lang="en-US" altLang="ko-KR" dirty="0"/>
          </a:p>
          <a:p>
            <a:r>
              <a:rPr lang="ko-KR" altLang="en-US" dirty="0"/>
              <a:t>▣ 목적함수 정의</a:t>
            </a:r>
            <a:r>
              <a:rPr lang="en-US" altLang="ko-KR" dirty="0"/>
              <a:t>: U(r) = lambda*P + (1-lambda)*S(r)</a:t>
            </a:r>
          </a:p>
          <a:p>
            <a:r>
              <a:rPr lang="ko-KR" altLang="en-US" dirty="0"/>
              <a:t>▣ 수수료율이 </a:t>
            </a:r>
            <a:r>
              <a:rPr lang="ko-KR" altLang="en-US" dirty="0" err="1"/>
              <a:t>특정화된</a:t>
            </a:r>
            <a:r>
              <a:rPr lang="ko-KR" altLang="en-US" dirty="0"/>
              <a:t> </a:t>
            </a:r>
            <a:r>
              <a:rPr lang="ko-KR" altLang="en-US" dirty="0" err="1"/>
              <a:t>경우예시이며</a:t>
            </a:r>
            <a:r>
              <a:rPr lang="en-US" altLang="ko-KR" dirty="0"/>
              <a:t>, </a:t>
            </a:r>
            <a:r>
              <a:rPr lang="ko-KR" altLang="en-US" dirty="0"/>
              <a:t>이를 </a:t>
            </a:r>
            <a:r>
              <a:rPr lang="ko-KR" altLang="en-US" dirty="0" err="1"/>
              <a:t>차등화하여</a:t>
            </a:r>
            <a:r>
              <a:rPr lang="ko-KR" altLang="en-US" dirty="0"/>
              <a:t> 정책구현 필요</a:t>
            </a:r>
            <a:endParaRPr lang="en-US" altLang="ko-KR" dirty="0"/>
          </a:p>
        </p:txBody>
      </p:sp>
      <p:pic>
        <p:nvPicPr>
          <p:cNvPr id="29" name="그림 28">
            <a:extLst>
              <a:ext uri="{FF2B5EF4-FFF2-40B4-BE49-F238E27FC236}">
                <a16:creationId xmlns:a16="http://schemas.microsoft.com/office/drawing/2014/main" id="{52069308-97C1-1A25-B34A-4D2CBBC3CEF8}"/>
              </a:ext>
            </a:extLst>
          </p:cNvPr>
          <p:cNvPicPr>
            <a:picLocks noChangeAspect="1"/>
          </p:cNvPicPr>
          <p:nvPr/>
        </p:nvPicPr>
        <p:blipFill>
          <a:blip r:embed="rId4"/>
          <a:stretch>
            <a:fillRect/>
          </a:stretch>
        </p:blipFill>
        <p:spPr>
          <a:xfrm>
            <a:off x="3296551" y="2890528"/>
            <a:ext cx="2928404" cy="1876728"/>
          </a:xfrm>
          <a:prstGeom prst="rect">
            <a:avLst/>
          </a:prstGeom>
        </p:spPr>
      </p:pic>
    </p:spTree>
    <p:extLst>
      <p:ext uri="{BB962C8B-B14F-4D97-AF65-F5344CB8AC3E}">
        <p14:creationId xmlns:p14="http://schemas.microsoft.com/office/powerpoint/2010/main" val="4294393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36920-29EE-EBAC-DEE1-E9390F7890EB}"/>
            </a:ext>
          </a:extLst>
        </p:cNvPr>
        <p:cNvGrpSpPr/>
        <p:nvPr/>
      </p:nvGrpSpPr>
      <p:grpSpPr>
        <a:xfrm>
          <a:off x="0" y="0"/>
          <a:ext cx="0" cy="0"/>
          <a:chOff x="0" y="0"/>
          <a:chExt cx="0" cy="0"/>
        </a:xfrm>
      </p:grpSpPr>
      <p:pic>
        <p:nvPicPr>
          <p:cNvPr id="27" name="그림 26">
            <a:extLst>
              <a:ext uri="{FF2B5EF4-FFF2-40B4-BE49-F238E27FC236}">
                <a16:creationId xmlns:a16="http://schemas.microsoft.com/office/drawing/2014/main" id="{E501D0F2-B065-C516-453F-EF2EE76A4135}"/>
              </a:ext>
            </a:extLst>
          </p:cNvPr>
          <p:cNvPicPr>
            <a:picLocks noChangeAspect="1"/>
          </p:cNvPicPr>
          <p:nvPr/>
        </p:nvPicPr>
        <p:blipFill>
          <a:blip r:embed="rId2"/>
          <a:stretch>
            <a:fillRect/>
          </a:stretch>
        </p:blipFill>
        <p:spPr>
          <a:xfrm>
            <a:off x="502201" y="1745647"/>
            <a:ext cx="7305367" cy="3314570"/>
          </a:xfrm>
          <a:prstGeom prst="rect">
            <a:avLst/>
          </a:prstGeom>
        </p:spPr>
      </p:pic>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2E5BAA0D-C564-4734-402A-FC1B2AF04C71}"/>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08F1F3CB-C4F9-0224-CDB8-6328975984C7}"/>
              </a:ext>
            </a:extLst>
          </p:cNvPr>
          <p:cNvSpPr txBox="1"/>
          <p:nvPr/>
        </p:nvSpPr>
        <p:spPr>
          <a:xfrm>
            <a:off x="341274" y="376244"/>
            <a:ext cx="8590737" cy="1200329"/>
          </a:xfrm>
          <a:prstGeom prst="rect">
            <a:avLst/>
          </a:prstGeom>
          <a:noFill/>
        </p:spPr>
        <p:txBody>
          <a:bodyPr wrap="square" rtlCol="0">
            <a:spAutoFit/>
          </a:bodyPr>
          <a:lstStyle/>
          <a:p>
            <a:r>
              <a:rPr lang="ko-KR" altLang="en-US" dirty="0"/>
              <a:t>▣ 총금액이 높을수록 낮은 수수료율을 적용하는 </a:t>
            </a:r>
            <a:r>
              <a:rPr lang="ko-KR" altLang="en-US" dirty="0" err="1"/>
              <a:t>차등수수료율</a:t>
            </a:r>
            <a:r>
              <a:rPr lang="ko-KR" altLang="en-US" dirty="0"/>
              <a:t> 정책 구현</a:t>
            </a:r>
            <a:endParaRPr lang="en-US" altLang="ko-KR" dirty="0"/>
          </a:p>
          <a:p>
            <a:r>
              <a:rPr lang="ko-KR" altLang="en-US" dirty="0"/>
              <a:t>▣ 수수료율 함수</a:t>
            </a:r>
            <a:r>
              <a:rPr lang="en-US" altLang="ko-KR" dirty="0"/>
              <a:t>: </a:t>
            </a:r>
            <a:r>
              <a:rPr lang="ko-KR" altLang="en-US" dirty="0"/>
              <a:t>수수료율</a:t>
            </a:r>
            <a:r>
              <a:rPr lang="en-US" altLang="ko-KR" dirty="0"/>
              <a:t>(r) = </a:t>
            </a:r>
            <a:r>
              <a:rPr lang="ko-KR" altLang="en-US" dirty="0" err="1"/>
              <a:t>최대수수료율</a:t>
            </a:r>
            <a:r>
              <a:rPr lang="en-US" altLang="ko-KR" dirty="0"/>
              <a:t>(a)*e^(-</a:t>
            </a:r>
            <a:r>
              <a:rPr lang="ko-KR" altLang="en-US" dirty="0" err="1"/>
              <a:t>총금액정도조절</a:t>
            </a:r>
            <a:r>
              <a:rPr lang="en-US" altLang="ko-KR" dirty="0"/>
              <a:t>(b)*</a:t>
            </a:r>
            <a:r>
              <a:rPr lang="ko-KR" altLang="en-US" dirty="0" err="1"/>
              <a:t>총금액</a:t>
            </a:r>
            <a:r>
              <a:rPr lang="en-US" altLang="ko-KR" dirty="0"/>
              <a:t>(T))</a:t>
            </a:r>
            <a:r>
              <a:rPr lang="ko-KR" altLang="en-US" dirty="0"/>
              <a:t> </a:t>
            </a:r>
            <a:endParaRPr lang="en-US" altLang="ko-KR" dirty="0"/>
          </a:p>
          <a:p>
            <a:r>
              <a:rPr lang="ko-KR" altLang="en-US" dirty="0"/>
              <a:t>▣ 총금액이 클수록 수수료율 작아지는 형태</a:t>
            </a:r>
            <a:endParaRPr lang="en-US" altLang="ko-KR" dirty="0"/>
          </a:p>
          <a:p>
            <a:r>
              <a:rPr lang="ko-KR" altLang="en-US" dirty="0"/>
              <a:t>▣ </a:t>
            </a:r>
            <a:r>
              <a:rPr lang="ko-KR" altLang="en-US" dirty="0" err="1"/>
              <a:t>최대수수료율</a:t>
            </a:r>
            <a:r>
              <a:rPr lang="ko-KR" altLang="en-US" dirty="0"/>
              <a:t> </a:t>
            </a:r>
            <a:r>
              <a:rPr lang="en-US" altLang="ko-KR" dirty="0"/>
              <a:t>12% </a:t>
            </a:r>
            <a:r>
              <a:rPr lang="ko-KR" altLang="en-US" dirty="0" err="1"/>
              <a:t>가정시</a:t>
            </a:r>
            <a:r>
              <a:rPr lang="en-US" altLang="ko-KR" dirty="0"/>
              <a:t> </a:t>
            </a:r>
            <a:r>
              <a:rPr lang="ko-KR" altLang="en-US" dirty="0"/>
              <a:t>총금액에 대한 </a:t>
            </a:r>
            <a:r>
              <a:rPr lang="ko-KR" altLang="en-US" dirty="0" err="1"/>
              <a:t>차등수수료율과</a:t>
            </a:r>
            <a:r>
              <a:rPr lang="ko-KR" altLang="en-US" dirty="0"/>
              <a:t> 예상영업이익</a:t>
            </a:r>
            <a:endParaRPr lang="en-US" altLang="ko-KR" dirty="0"/>
          </a:p>
        </p:txBody>
      </p:sp>
    </p:spTree>
    <p:extLst>
      <p:ext uri="{BB962C8B-B14F-4D97-AF65-F5344CB8AC3E}">
        <p14:creationId xmlns:p14="http://schemas.microsoft.com/office/powerpoint/2010/main" val="7805185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6E2D4-D73C-EE00-C350-287125170A66}"/>
            </a:ext>
          </a:extLst>
        </p:cNvPr>
        <p:cNvGrpSpPr/>
        <p:nvPr/>
      </p:nvGrpSpPr>
      <p:grpSpPr>
        <a:xfrm>
          <a:off x="0" y="0"/>
          <a:ext cx="0" cy="0"/>
          <a:chOff x="0" y="0"/>
          <a:chExt cx="0" cy="0"/>
        </a:xfrm>
      </p:grpSpPr>
      <p:pic>
        <p:nvPicPr>
          <p:cNvPr id="29" name="그림 28">
            <a:extLst>
              <a:ext uri="{FF2B5EF4-FFF2-40B4-BE49-F238E27FC236}">
                <a16:creationId xmlns:a16="http://schemas.microsoft.com/office/drawing/2014/main" id="{8A2AB86A-C7AE-6DD6-7D70-CBEAA480ED7F}"/>
              </a:ext>
            </a:extLst>
          </p:cNvPr>
          <p:cNvPicPr>
            <a:picLocks noChangeAspect="1"/>
          </p:cNvPicPr>
          <p:nvPr/>
        </p:nvPicPr>
        <p:blipFill>
          <a:blip r:embed="rId2"/>
          <a:stretch>
            <a:fillRect/>
          </a:stretch>
        </p:blipFill>
        <p:spPr>
          <a:xfrm>
            <a:off x="305515" y="2598586"/>
            <a:ext cx="7654454" cy="2312661"/>
          </a:xfrm>
          <a:prstGeom prst="rect">
            <a:avLst/>
          </a:prstGeom>
        </p:spPr>
      </p:pic>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1082DBF1-9BA3-56E4-2FAB-A6F2364419A5}"/>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31ECDEA8-F754-F139-87D5-7158908704AD}"/>
              </a:ext>
            </a:extLst>
          </p:cNvPr>
          <p:cNvSpPr txBox="1"/>
          <p:nvPr/>
        </p:nvSpPr>
        <p:spPr>
          <a:xfrm>
            <a:off x="341274" y="376244"/>
            <a:ext cx="8590737" cy="1754326"/>
          </a:xfrm>
          <a:prstGeom prst="rect">
            <a:avLst/>
          </a:prstGeom>
          <a:noFill/>
        </p:spPr>
        <p:txBody>
          <a:bodyPr wrap="square" rtlCol="0">
            <a:spAutoFit/>
          </a:bodyPr>
          <a:lstStyle/>
          <a:p>
            <a:r>
              <a:rPr lang="ko-KR" altLang="en-US" dirty="0"/>
              <a:t>▣ </a:t>
            </a:r>
            <a:r>
              <a:rPr lang="ko-KR" altLang="en-US" dirty="0" err="1"/>
              <a:t>예상수수료율이</a:t>
            </a:r>
            <a:r>
              <a:rPr lang="ko-KR" altLang="en-US" dirty="0"/>
              <a:t> </a:t>
            </a:r>
            <a:r>
              <a:rPr lang="en-US" altLang="ko-KR" dirty="0"/>
              <a:t>0</a:t>
            </a:r>
            <a:r>
              <a:rPr lang="ko-KR" altLang="en-US" dirty="0"/>
              <a:t>에 수렴하는 값이 존재하여</a:t>
            </a:r>
            <a:r>
              <a:rPr lang="en-US" altLang="ko-KR" dirty="0"/>
              <a:t>, </a:t>
            </a:r>
            <a:r>
              <a:rPr lang="ko-KR" altLang="en-US" dirty="0"/>
              <a:t>결과적으로 예상영업이익이 </a:t>
            </a:r>
            <a:r>
              <a:rPr lang="en-US" altLang="ko-KR" dirty="0"/>
              <a:t>432</a:t>
            </a:r>
            <a:r>
              <a:rPr lang="ko-KR" altLang="en-US" dirty="0"/>
              <a:t>백만원 수준으로 나와 기존 영업이익 </a:t>
            </a:r>
            <a:r>
              <a:rPr lang="en-US" altLang="ko-KR" dirty="0"/>
              <a:t>1,360</a:t>
            </a:r>
            <a:r>
              <a:rPr lang="ko-KR" altLang="en-US" dirty="0"/>
              <a:t>백만원에 비해 악화되어</a:t>
            </a:r>
            <a:r>
              <a:rPr lang="en-US" altLang="ko-KR" dirty="0"/>
              <a:t> </a:t>
            </a:r>
            <a:r>
              <a:rPr lang="ko-KR" altLang="en-US" dirty="0" err="1"/>
              <a:t>최저수수료율을</a:t>
            </a:r>
            <a:r>
              <a:rPr lang="ko-KR" altLang="en-US" dirty="0"/>
              <a:t> </a:t>
            </a:r>
            <a:r>
              <a:rPr lang="en-US" altLang="ko-KR" dirty="0"/>
              <a:t>6%</a:t>
            </a:r>
            <a:r>
              <a:rPr lang="ko-KR" altLang="en-US" dirty="0"/>
              <a:t>로 제한하고</a:t>
            </a:r>
            <a:r>
              <a:rPr lang="en-US" altLang="ko-KR" dirty="0"/>
              <a:t>, </a:t>
            </a:r>
            <a:r>
              <a:rPr lang="ko-KR" altLang="en-US" dirty="0" err="1"/>
              <a:t>최대수수료율</a:t>
            </a:r>
            <a:r>
              <a:rPr lang="ko-KR" altLang="en-US" dirty="0"/>
              <a:t> </a:t>
            </a:r>
            <a:r>
              <a:rPr lang="en-US" altLang="ko-KR" dirty="0"/>
              <a:t>20%</a:t>
            </a:r>
            <a:r>
              <a:rPr lang="ko-KR" altLang="en-US" dirty="0"/>
              <a:t>로 상향하여 다시 모델링 실시</a:t>
            </a:r>
            <a:endParaRPr lang="en-US" altLang="ko-KR" dirty="0"/>
          </a:p>
          <a:p>
            <a:r>
              <a:rPr lang="ko-KR" altLang="en-US" dirty="0"/>
              <a:t>▣ 실시결과 </a:t>
            </a:r>
            <a:r>
              <a:rPr lang="en-US" altLang="ko-KR" dirty="0"/>
              <a:t>1,420</a:t>
            </a:r>
            <a:r>
              <a:rPr lang="ko-KR" altLang="en-US" dirty="0"/>
              <a:t>백만원으로 영업이익 상향</a:t>
            </a:r>
            <a:endParaRPr lang="en-US" altLang="ko-KR" dirty="0"/>
          </a:p>
          <a:p>
            <a:endParaRPr lang="en-US" altLang="ko-KR" dirty="0"/>
          </a:p>
          <a:p>
            <a:endParaRPr lang="en-US" altLang="ko-KR" dirty="0"/>
          </a:p>
        </p:txBody>
      </p:sp>
      <p:pic>
        <p:nvPicPr>
          <p:cNvPr id="25" name="그림 24">
            <a:extLst>
              <a:ext uri="{FF2B5EF4-FFF2-40B4-BE49-F238E27FC236}">
                <a16:creationId xmlns:a16="http://schemas.microsoft.com/office/drawing/2014/main" id="{4EA25467-FB04-A8B9-E7DD-BD0E1434F4F6}"/>
              </a:ext>
            </a:extLst>
          </p:cNvPr>
          <p:cNvPicPr>
            <a:picLocks noChangeAspect="1"/>
          </p:cNvPicPr>
          <p:nvPr/>
        </p:nvPicPr>
        <p:blipFill>
          <a:blip r:embed="rId4"/>
          <a:stretch>
            <a:fillRect/>
          </a:stretch>
        </p:blipFill>
        <p:spPr>
          <a:xfrm>
            <a:off x="341274" y="1676064"/>
            <a:ext cx="6370872" cy="823031"/>
          </a:xfrm>
          <a:prstGeom prst="rect">
            <a:avLst/>
          </a:prstGeom>
        </p:spPr>
      </p:pic>
    </p:spTree>
    <p:extLst>
      <p:ext uri="{BB962C8B-B14F-4D97-AF65-F5344CB8AC3E}">
        <p14:creationId xmlns:p14="http://schemas.microsoft.com/office/powerpoint/2010/main" val="5070085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97442-BED8-FB93-F25B-5FD27793E826}"/>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E4F7BDFB-FC8E-FD29-358A-564D0BEF6C06}"/>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6C35774D-D0B0-421C-49B9-61E5F2C0778F}"/>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73A45AF3-5207-9288-4B69-FE51B5914C9E}"/>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D8F035AC-F55B-C33F-0D00-FDBE16D459CF}"/>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911A5FDA-DC59-0263-9A8A-7891AF47AE15}"/>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54E1B3A3-C1B7-CF57-8792-CF1CD549A6E6}"/>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1F8A87C6-F18F-154E-22BF-CE41AA93C887}"/>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5D9C9D47-F836-76FB-56D6-39859F0F9390}"/>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4DC2F90B-9949-3B52-68FC-03EE209C04FD}"/>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11FB69CE-2019-14B2-61F7-E856152A8063}"/>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8C3F90BC-B036-C9E2-66C1-ADBEF21486D9}"/>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6FAD2201-DC13-63F9-7321-2B0D3F5914A0}"/>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53DB76B3-B344-DE6B-6A5B-803C97877E09}"/>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86289B49-9F6B-0D80-120C-C9D01A715DBF}"/>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A945EC6B-2A3A-60E5-2A0F-DC3F15CD49DE}"/>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16AEF0CC-C6DC-B4E3-F9BA-8B1A52EE5F07}"/>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742FF845-3DC3-F679-C065-8B5061481801}"/>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192747E4-8F08-1A1A-3A08-9385C19A09AD}"/>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F8FAADDB-4F02-21D6-78F5-C97E645A273F}"/>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D419413D-750C-9261-02E3-3A5E3B94AA15}"/>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B3575F8D-5ED5-8F2B-4C9F-782AA2276999}"/>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ABB9B715-CBA4-27DE-36A1-A53850BD2F08}"/>
              </a:ext>
            </a:extLst>
          </p:cNvPr>
          <p:cNvPicPr>
            <a:picLocks noChangeAspect="1"/>
          </p:cNvPicPr>
          <p:nvPr/>
        </p:nvPicPr>
        <p:blipFill>
          <a:blip r:embed="rId2"/>
          <a:stretch>
            <a:fillRect/>
          </a:stretch>
        </p:blipFill>
        <p:spPr>
          <a:xfrm>
            <a:off x="7010400" y="3040104"/>
            <a:ext cx="2110831" cy="2110831"/>
          </a:xfrm>
          <a:prstGeom prst="rect">
            <a:avLst/>
          </a:prstGeom>
        </p:spPr>
      </p:pic>
      <p:pic>
        <p:nvPicPr>
          <p:cNvPr id="27" name="그림 26">
            <a:extLst>
              <a:ext uri="{FF2B5EF4-FFF2-40B4-BE49-F238E27FC236}">
                <a16:creationId xmlns:a16="http://schemas.microsoft.com/office/drawing/2014/main" id="{5F46DC62-6C7E-A82D-E289-A20561272245}"/>
              </a:ext>
            </a:extLst>
          </p:cNvPr>
          <p:cNvPicPr>
            <a:picLocks noChangeAspect="1"/>
          </p:cNvPicPr>
          <p:nvPr/>
        </p:nvPicPr>
        <p:blipFill>
          <a:blip r:embed="rId3"/>
          <a:stretch>
            <a:fillRect/>
          </a:stretch>
        </p:blipFill>
        <p:spPr>
          <a:xfrm>
            <a:off x="513584" y="2860431"/>
            <a:ext cx="7000908" cy="1916489"/>
          </a:xfrm>
          <a:prstGeom prst="rect">
            <a:avLst/>
          </a:prstGeom>
        </p:spPr>
      </p:pic>
      <p:pic>
        <p:nvPicPr>
          <p:cNvPr id="30" name="그림 29">
            <a:extLst>
              <a:ext uri="{FF2B5EF4-FFF2-40B4-BE49-F238E27FC236}">
                <a16:creationId xmlns:a16="http://schemas.microsoft.com/office/drawing/2014/main" id="{8451858F-D633-AF4A-58AB-EB4BD21CFDB7}"/>
              </a:ext>
            </a:extLst>
          </p:cNvPr>
          <p:cNvPicPr>
            <a:picLocks noChangeAspect="1"/>
          </p:cNvPicPr>
          <p:nvPr/>
        </p:nvPicPr>
        <p:blipFill>
          <a:blip r:embed="rId4"/>
          <a:stretch>
            <a:fillRect/>
          </a:stretch>
        </p:blipFill>
        <p:spPr>
          <a:xfrm>
            <a:off x="634866" y="615620"/>
            <a:ext cx="6879626" cy="2115400"/>
          </a:xfrm>
          <a:prstGeom prst="rect">
            <a:avLst/>
          </a:prstGeom>
        </p:spPr>
      </p:pic>
    </p:spTree>
    <p:extLst>
      <p:ext uri="{BB962C8B-B14F-4D97-AF65-F5344CB8AC3E}">
        <p14:creationId xmlns:p14="http://schemas.microsoft.com/office/powerpoint/2010/main" val="18468415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47858-BE2C-E71D-B5A3-F297D923A792}"/>
            </a:ext>
          </a:extLst>
        </p:cNvPr>
        <p:cNvGrpSpPr/>
        <p:nvPr/>
      </p:nvGrpSpPr>
      <p:grpSpPr>
        <a:xfrm>
          <a:off x="0" y="0"/>
          <a:ext cx="0" cy="0"/>
          <a:chOff x="0" y="0"/>
          <a:chExt cx="0" cy="0"/>
        </a:xfrm>
      </p:grpSpPr>
      <p:sp>
        <p:nvSpPr>
          <p:cNvPr id="292" name="PlaceHolder 1">
            <a:extLst>
              <a:ext uri="{FF2B5EF4-FFF2-40B4-BE49-F238E27FC236}">
                <a16:creationId xmlns:a16="http://schemas.microsoft.com/office/drawing/2014/main" id="{22EFC2F9-20FE-8181-0B3D-00690CBAAEEF}"/>
              </a:ext>
            </a:extLst>
          </p:cNvPr>
          <p:cNvSpPr>
            <a:spLocks noGrp="1"/>
          </p:cNvSpPr>
          <p:nvPr>
            <p:ph type="title"/>
          </p:nvPr>
        </p:nvSpPr>
        <p:spPr>
          <a:xfrm>
            <a:off x="714240" y="2381400"/>
            <a:ext cx="4343040" cy="91404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ko-KR" altLang="en-US" sz="5000" b="1" spc="-1" dirty="0">
                <a:solidFill>
                  <a:schemeClr val="dk1"/>
                </a:solidFill>
                <a:latin typeface="Outfit"/>
              </a:rPr>
              <a:t>기대효과</a:t>
            </a:r>
            <a:endParaRPr lang="fr-FR" sz="5000" b="0" strike="noStrike" spc="-1" dirty="0">
              <a:solidFill>
                <a:schemeClr val="dk1"/>
              </a:solidFill>
              <a:latin typeface="Arial"/>
            </a:endParaRPr>
          </a:p>
        </p:txBody>
      </p:sp>
      <p:sp>
        <p:nvSpPr>
          <p:cNvPr id="293" name="PlaceHolder 2">
            <a:extLst>
              <a:ext uri="{FF2B5EF4-FFF2-40B4-BE49-F238E27FC236}">
                <a16:creationId xmlns:a16="http://schemas.microsoft.com/office/drawing/2014/main" id="{03ACF58C-1DD1-ECC0-2745-D21422CDFDD7}"/>
              </a:ext>
            </a:extLst>
          </p:cNvPr>
          <p:cNvSpPr>
            <a:spLocks noGrp="1"/>
          </p:cNvSpPr>
          <p:nvPr>
            <p:ph type="title"/>
          </p:nvPr>
        </p:nvSpPr>
        <p:spPr>
          <a:xfrm>
            <a:off x="714240" y="1467000"/>
            <a:ext cx="1266480" cy="91404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6000" b="1" strike="noStrike" spc="-1" dirty="0">
                <a:solidFill>
                  <a:schemeClr val="dk1"/>
                </a:solidFill>
                <a:latin typeface="Outfit"/>
                <a:ea typeface="Outfit"/>
              </a:rPr>
              <a:t>04</a:t>
            </a:r>
            <a:endParaRPr lang="fr-FR" sz="6000" b="0" strike="noStrike" spc="-1" dirty="0">
              <a:solidFill>
                <a:schemeClr val="dk1"/>
              </a:solidFill>
              <a:latin typeface="Arial"/>
            </a:endParaRPr>
          </a:p>
        </p:txBody>
      </p:sp>
      <p:cxnSp>
        <p:nvCxnSpPr>
          <p:cNvPr id="313" name="Google Shape;450;p40">
            <a:extLst>
              <a:ext uri="{FF2B5EF4-FFF2-40B4-BE49-F238E27FC236}">
                <a16:creationId xmlns:a16="http://schemas.microsoft.com/office/drawing/2014/main" id="{86B51413-BD8F-FD62-E3B1-961905C05B68}"/>
              </a:ext>
            </a:extLst>
          </p:cNvPr>
          <p:cNvCxnSpPr/>
          <p:nvPr/>
        </p:nvCxnSpPr>
        <p:spPr>
          <a:xfrm>
            <a:off x="840960" y="1385640"/>
            <a:ext cx="374040" cy="360"/>
          </a:xfrm>
          <a:prstGeom prst="straightConnector1">
            <a:avLst/>
          </a:prstGeom>
          <a:ln w="19050">
            <a:solidFill>
              <a:srgbClr val="384655"/>
            </a:solidFill>
            <a:round/>
          </a:ln>
        </p:spPr>
      </p:cxn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0C22121C-9783-3A70-1B32-CAE0757098F5}"/>
              </a:ext>
            </a:extLst>
          </p:cNvPr>
          <p:cNvPicPr>
            <a:picLocks noChangeAspect="1"/>
          </p:cNvPicPr>
          <p:nvPr/>
        </p:nvPicPr>
        <p:blipFill>
          <a:blip r:embed="rId2"/>
          <a:stretch>
            <a:fillRect/>
          </a:stretch>
        </p:blipFill>
        <p:spPr>
          <a:xfrm>
            <a:off x="7010400" y="3040104"/>
            <a:ext cx="2110831" cy="2110831"/>
          </a:xfrm>
          <a:prstGeom prst="rect">
            <a:avLst/>
          </a:prstGeom>
        </p:spPr>
      </p:pic>
    </p:spTree>
    <p:extLst>
      <p:ext uri="{BB962C8B-B14F-4D97-AF65-F5344CB8AC3E}">
        <p14:creationId xmlns:p14="http://schemas.microsoft.com/office/powerpoint/2010/main" val="3882332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C8AEF-3CEA-CB21-8F13-193A665AF9E2}"/>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F561347C-1451-F9D9-789E-42B1157B2589}"/>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905C923B-D341-758A-EE03-99B611992A49}"/>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A46DF074-065B-E04E-5556-6447E9F189AC}"/>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1E8950A2-9BA0-A444-E0DF-ED824AB71317}"/>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757C37B7-0DE9-CA14-F088-F06185116B0E}"/>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86506FBA-F5E1-6EF7-9B43-CF88FA3E20A0}"/>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B4F11358-2B13-A893-7391-CDBB5249081D}"/>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2A7CF5D4-874E-D898-FC07-B521D17BAE37}"/>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33076359-9AD8-D7D7-F892-469463E2EE30}"/>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F6BAEFFD-E1EB-81DF-9C17-12B33A9B4548}"/>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68953581-59D1-3775-B437-2A44B9F99E0E}"/>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FE22604C-D462-3311-454A-6368BE704531}"/>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45801C8A-92B4-CDA6-CDD7-0DAAFC3E9462}"/>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076D59C1-E69C-6B18-480A-C1D80950B633}"/>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1F126F9C-70A2-38F4-8C0F-9FC1B938BFB4}"/>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7A162744-CB95-6740-2DF1-C6F2CADA2E37}"/>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04A3E00B-8EB5-F1DB-AD78-C0AA49BBC05B}"/>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19960618-AEE2-1C4F-5E20-A31EEC666CDE}"/>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4A5F6EAD-2358-3ABA-6AED-D2CC9DEA2E40}"/>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88B6A88E-17FB-9449-F4F6-9F46401D6DD4}"/>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15E01D8C-977C-9FF9-F3A1-8E677CAA1C36}"/>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92" name="PlaceHolder 1">
            <a:extLst>
              <a:ext uri="{FF2B5EF4-FFF2-40B4-BE49-F238E27FC236}">
                <a16:creationId xmlns:a16="http://schemas.microsoft.com/office/drawing/2014/main" id="{A54A62EC-0F57-E97B-1E66-59EEAA87F5CA}"/>
              </a:ext>
            </a:extLst>
          </p:cNvPr>
          <p:cNvSpPr>
            <a:spLocks noGrp="1"/>
          </p:cNvSpPr>
          <p:nvPr>
            <p:ph type="title"/>
          </p:nvPr>
        </p:nvSpPr>
        <p:spPr>
          <a:xfrm>
            <a:off x="1249680" y="891542"/>
            <a:ext cx="7746380" cy="3207462"/>
          </a:xfrm>
          <a:prstGeom prst="rect">
            <a:avLst/>
          </a:prstGeom>
          <a:noFill/>
          <a:ln w="0">
            <a:noFill/>
          </a:ln>
        </p:spPr>
        <p:txBody>
          <a:bodyPr lIns="91440" tIns="91440" rIns="91440" bIns="91440" anchor="b">
            <a:normAutofit/>
          </a:bodyPr>
          <a:lstStyle/>
          <a:p>
            <a:pPr lvl="0" latinLnBrk="1">
              <a:buSzPts val="1000"/>
              <a:tabLst>
                <a:tab pos="457200" algn="l"/>
              </a:tabLst>
            </a:pPr>
            <a:r>
              <a:rPr lang="ko-KR" altLang="en-US"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거래성사율 증가로 인한 매출 및 영업이익 증가</a:t>
            </a:r>
            <a:br>
              <a:rPr lang="en-US" altLang="ko-KR"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br>
              <a:rPr lang="en-US" altLang="ko-KR"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kern="100" spc="-1" dirty="0" err="1">
                <a:solidFill>
                  <a:schemeClr val="dk1"/>
                </a:solidFill>
                <a:latin typeface="궁서" panose="02030600000101010101" pitchFamily="18" charset="-127"/>
                <a:ea typeface="궁서" panose="02030600000101010101" pitchFamily="18" charset="-127"/>
                <a:cs typeface="Times New Roman" panose="02020603050405020304" pitchFamily="18" charset="0"/>
              </a:rPr>
              <a:t>락인효과를</a:t>
            </a: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 통해 개인거래 전환 방지</a:t>
            </a:r>
            <a:b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b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전문가 이탈을 방지하여 플랫폼 안정성 강화</a:t>
            </a:r>
            <a:br>
              <a:rPr lang="en-US" altLang="ko-KR"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br>
              <a:rPr lang="en-US" altLang="ko-KR"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시장점유율 확대</a:t>
            </a:r>
            <a:endParaRPr lang="fr-FR" sz="2500" b="0" strike="noStrike" spc="-1" dirty="0">
              <a:solidFill>
                <a:schemeClr val="dk1"/>
              </a:solidFill>
              <a:latin typeface="궁서" panose="02030600000101010101" pitchFamily="18" charset="-127"/>
              <a:ea typeface="궁서" panose="02030600000101010101" pitchFamily="18" charset="-127"/>
            </a:endParaRPr>
          </a:p>
        </p:txBody>
      </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B86588BE-85C8-6E43-6CD7-8E41BC3CC597}"/>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Google Shape;664;p50">
            <a:extLst>
              <a:ext uri="{FF2B5EF4-FFF2-40B4-BE49-F238E27FC236}">
                <a16:creationId xmlns:a16="http://schemas.microsoft.com/office/drawing/2014/main" id="{901297DE-3B30-64FA-C87C-15380841F3C3}"/>
              </a:ext>
            </a:extLst>
          </p:cNvPr>
          <p:cNvSpPr/>
          <p:nvPr/>
        </p:nvSpPr>
        <p:spPr>
          <a:xfrm>
            <a:off x="343337" y="1535800"/>
            <a:ext cx="531524" cy="470379"/>
          </a:xfrm>
          <a:prstGeom prst="ellipse">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27" name="Google Shape;664;p50">
            <a:extLst>
              <a:ext uri="{FF2B5EF4-FFF2-40B4-BE49-F238E27FC236}">
                <a16:creationId xmlns:a16="http://schemas.microsoft.com/office/drawing/2014/main" id="{9CD9AABF-6612-DC68-0606-B1972E48122B}"/>
              </a:ext>
            </a:extLst>
          </p:cNvPr>
          <p:cNvSpPr/>
          <p:nvPr/>
        </p:nvSpPr>
        <p:spPr>
          <a:xfrm>
            <a:off x="343337" y="2271777"/>
            <a:ext cx="531524" cy="470379"/>
          </a:xfrm>
          <a:prstGeom prst="ellipse">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28" name="Google Shape;664;p50">
            <a:extLst>
              <a:ext uri="{FF2B5EF4-FFF2-40B4-BE49-F238E27FC236}">
                <a16:creationId xmlns:a16="http://schemas.microsoft.com/office/drawing/2014/main" id="{38AA0F63-B15B-C755-C915-351B453D05B2}"/>
              </a:ext>
            </a:extLst>
          </p:cNvPr>
          <p:cNvSpPr/>
          <p:nvPr/>
        </p:nvSpPr>
        <p:spPr>
          <a:xfrm>
            <a:off x="343337" y="2955721"/>
            <a:ext cx="531524" cy="470379"/>
          </a:xfrm>
          <a:prstGeom prst="ellipse">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29" name="Google Shape;664;p50">
            <a:extLst>
              <a:ext uri="{FF2B5EF4-FFF2-40B4-BE49-F238E27FC236}">
                <a16:creationId xmlns:a16="http://schemas.microsoft.com/office/drawing/2014/main" id="{A11351F1-CD76-C1A1-2436-D533E65FD5B9}"/>
              </a:ext>
            </a:extLst>
          </p:cNvPr>
          <p:cNvSpPr/>
          <p:nvPr/>
        </p:nvSpPr>
        <p:spPr>
          <a:xfrm>
            <a:off x="343337" y="3661958"/>
            <a:ext cx="531524" cy="470379"/>
          </a:xfrm>
          <a:prstGeom prst="ellipse">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Tree>
    <p:extLst>
      <p:ext uri="{BB962C8B-B14F-4D97-AF65-F5344CB8AC3E}">
        <p14:creationId xmlns:p14="http://schemas.microsoft.com/office/powerpoint/2010/main" val="4220788358"/>
      </p:ext>
    </p:extLst>
  </p:cSld>
  <p:clrMapOvr>
    <a:masterClrMapping/>
  </p:clrMapOvr>
</p:sld>
</file>

<file path=ppt/theme/theme1.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6.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7.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8.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9.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0.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2620</TotalTime>
  <Words>1700</Words>
  <Application>Microsoft Office PowerPoint</Application>
  <PresentationFormat>화면 슬라이드 쇼(16:9)</PresentationFormat>
  <Paragraphs>114</Paragraphs>
  <Slides>36</Slides>
  <Notes>1</Notes>
  <HiddenSlides>0</HiddenSlides>
  <MMClips>0</MMClips>
  <ScaleCrop>false</ScaleCrop>
  <HeadingPairs>
    <vt:vector size="6" baseType="variant">
      <vt:variant>
        <vt:lpstr>사용한 글꼴</vt:lpstr>
      </vt:variant>
      <vt:variant>
        <vt:i4>7</vt:i4>
      </vt:variant>
      <vt:variant>
        <vt:lpstr>테마</vt:lpstr>
      </vt:variant>
      <vt:variant>
        <vt:i4>30</vt:i4>
      </vt:variant>
      <vt:variant>
        <vt:lpstr>슬라이드 제목</vt:lpstr>
      </vt:variant>
      <vt:variant>
        <vt:i4>36</vt:i4>
      </vt:variant>
    </vt:vector>
  </HeadingPairs>
  <TitlesOfParts>
    <vt:vector size="73" baseType="lpstr">
      <vt:lpstr>OpenSymbol</vt:lpstr>
      <vt:lpstr>Outfit</vt:lpstr>
      <vt:lpstr>궁서</vt:lpstr>
      <vt:lpstr>맑은 고딕</vt:lpstr>
      <vt:lpstr>Arial</vt:lpstr>
      <vt:lpstr>Symbol</vt:lpstr>
      <vt:lpstr>Wingdings</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Slidesgo Final Pages</vt:lpstr>
      <vt:lpstr>Slidesgo Final Pages</vt:lpstr>
      <vt:lpstr>L사 데이터가 들려주는 이야기 by</vt:lpstr>
      <vt:lpstr>추진 배경</vt:lpstr>
      <vt:lpstr>L사는 수수료 기반 비즈니스 모델 운영 중이며,  최근 경쟁 심화로 전문가 이탈, 고객 거래성사율  저하되어 수익구조 약화로 플랫폼 경쟁력 약화 상태  거래 성사율을 높이고, 수수료 정책을 최적화하여  지속 가능한 구조 개선 필요</vt:lpstr>
      <vt:lpstr>L사 고객니즈분석</vt:lpstr>
      <vt:lpstr>고객은 신뢰할 수 있는 플랫폼에서 전문가 매칭과 합리적인 가격을 원함   전문가는 적정수수료율을 기반으로 이용자 증대 희망</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아웃소싱 외부환경 리서치</vt:lpstr>
      <vt:lpstr>PowerPoint 프레젠테이션</vt:lpstr>
      <vt:lpstr>PowerPoint 프레젠테이션</vt:lpstr>
      <vt:lpstr>PowerPoint 프레젠테이션</vt:lpstr>
      <vt:lpstr>PowerPoint 프레젠테이션</vt:lpstr>
      <vt:lpstr>최적의 수수료율 찾기</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기대효과</vt:lpstr>
      <vt:lpstr>거래성사율 증가로 인한 매출 및 영업이익 증가  락인효과를 통해 개인거래 전환 방지  전문가 이탈을 방지하여 플랫폼 안정성 강화  시장점유율 확대</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campus2 H027</cp:lastModifiedBy>
  <cp:revision>38</cp:revision>
  <dcterms:modified xsi:type="dcterms:W3CDTF">2025-05-16T23:06:40Z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2025-05-11T01:25:23Z</dcterms:created>
  <dc:creator>Unknown Creator</dc:creator>
  <dc:description/>
  <dc:language>en-US</dc:language>
  <cp:lastModifiedBy>Unknown Creator</cp:lastModifiedBy>
  <dcterms:modified xsi:type="dcterms:W3CDTF">2025-05-11T01:25:23Z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